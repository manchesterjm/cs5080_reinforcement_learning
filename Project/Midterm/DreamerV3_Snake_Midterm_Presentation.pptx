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200" b="1">
                <a:solidFill>
                  <a:srgbClr val="FFFFFF"/>
                </a:solidFill>
              </a:defRPr>
            </a:pPr>
            <a:r>
              <a:t>How Accurate Are Learned World Models?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0">
                <a:solidFill>
                  <a:srgbClr val="4A90D9"/>
                </a:solidFill>
              </a:defRPr>
            </a:pPr>
            <a:r>
              <a:t>Midterm Progress Report</a:t>
            </a:r>
          </a:p>
          <a:p>
            <a:pPr algn="ctr">
              <a:spcAft>
                <a:spcPts val="400"/>
              </a:spcAft>
              <a:defRPr sz="2400" b="0">
                <a:solidFill>
                  <a:srgbClr val="4A90D9"/>
                </a:solidFill>
              </a:defRPr>
            </a:pPr>
            <a:r>
              <a:t>Measuring DreamerV3's Imagination Fidelity on Snake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999999"/>
                </a:solidFill>
              </a:defRPr>
            </a:pPr>
            <a:r>
              <a:t>Josh Manchester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999999"/>
                </a:solidFill>
              </a:defRPr>
            </a:pPr>
            <a:r>
              <a:t>CS 5080 — Reinforcement Learning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999999"/>
                </a:solidFill>
              </a:defRPr>
            </a:pPr>
            <a:r>
              <a:t>University of Colorado Colorado Springs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999999"/>
                </a:solidFill>
              </a:defRPr>
            </a:pPr>
            <a:r>
              <a:t>March 31,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Recap: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39C12"/>
                </a:solidFill>
              </a:defRPr>
            </a:pPr>
            <a:r>
              <a:t>Central Question: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0">
                <a:solidFill>
                  <a:srgbClr val="FFFFFF"/>
                </a:solidFill>
              </a:defRPr>
            </a:pPr>
            <a:r>
              <a:t>Does DreamerV3 need accurate imagination to learn effective policies,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FFFFFF"/>
                </a:solidFill>
              </a:defRPr>
            </a:pPr>
            <a:r>
              <a:t>or can it succeed even when its world model is wrong?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39C12"/>
                </a:solidFill>
              </a:defRPr>
            </a:pPr>
            <a:r>
              <a:t>Three Hypotheses: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4A90D9"/>
                </a:solidFill>
              </a:rPr>
              <a:t>• H1:</a:t>
            </a:r>
            <a:r>
              <a:rPr sz="2000">
                <a:solidFill>
                  <a:srgbClr val="CCCCCC"/>
                </a:solidFill>
              </a:rPr>
              <a:t> Imagination accuracy improves as training progresses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4A90D9"/>
                </a:solidFill>
              </a:rPr>
              <a:t>• H2:</a:t>
            </a:r>
            <a:r>
              <a:rPr sz="2000">
                <a:solidFill>
                  <a:srgbClr val="CCCCCC"/>
                </a:solidFill>
              </a:rPr>
              <a:t> Better imagination leads to better play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4A90D9"/>
                </a:solidFill>
              </a:rPr>
              <a:t>• H3:</a:t>
            </a:r>
            <a:r>
              <a:rPr sz="2000">
                <a:solidFill>
                  <a:srgbClr val="CCCCCC"/>
                </a:solidFill>
              </a:rPr>
              <a:t> Semantic accuracy matters more than pixel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999999"/>
                </a:solidFill>
              </a:defRPr>
            </a:pPr>
            <a:r>
              <a:t>DreamerV3 trains its policy entirely inside imagined trajectories — it never practices in the real environment.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999999"/>
                </a:solidFill>
              </a:defRPr>
            </a:pPr>
            <a:r>
              <a:t>If those trajectories are wrong, the agent optimizes for scenarios that do not exist.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Recap: Why Snake?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4A90D9"/>
                </a:solidFill>
              </a:defRPr>
            </a:pPr>
            <a:r>
              <a:t>Snake as Testbed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10×10 grid, 64×64 RGB observations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4 discrete actions, deterministic transitions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Reward: +1 food, −1 collision, −0.002/step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Distinct colors → automated state extraction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When the model gets something wrong, we know exactly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4A90D9"/>
                </a:solidFill>
              </a:defRPr>
            </a:pPr>
            <a:r>
              <a:t>Two Levels of 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27AE60"/>
                </a:solidFill>
              </a:defRPr>
            </a:pPr>
            <a:r>
              <a:t>Pixel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• MSE, SSIM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• "Do the images look alike?"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27AE60"/>
                </a:solidFill>
              </a:defRPr>
            </a:pPr>
            <a:r>
              <a:t>Semantic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• Head error, body accuracy, food correct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• "Does the model know the game state?"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39C12"/>
                </a:solidFill>
              </a:defRPr>
            </a:pPr>
            <a:r>
              <a:t>A blurry dream that gets the positions right is fundamentally different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39C12"/>
                </a:solidFill>
              </a:defRPr>
            </a:pPr>
            <a:r>
              <a:t>from a sharp dream that puts the snake in the wrong place.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Has Been Completed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97840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188720"/>
                <a:gridCol w="1188720"/>
                <a:gridCol w="45720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Obs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Steps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Key Change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64×64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1.1M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1e-4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Extended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64×64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2M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1e-4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Fine-tuned, longer episodes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Slow LR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64×64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2M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3e-5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⅓× learning rate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Res-32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32×32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557K †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1e-4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Lower resolution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Res-16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16×16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514K †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1e-4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Lowest resolution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† Resolution configs were mistakenly set to a 500K step target instead of 2M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Also trained 3× LR model — world model learned game, but policy never stabilized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Model 6 (doubled train ratio) currently at 864K / 2M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Game Performance Across Configurations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786384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011680"/>
                <a:gridCol w="201168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Mean Return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Peak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Final 5 Avg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Extended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31.17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54.26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36.50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Slow LR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16.57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24.60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19.16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9.82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25.71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22.28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Res-32 †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1.06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13.60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9.83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Res-16 †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9.13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7.44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Resolution dramatically affects gameplay — same game, but agent needs spatial detail to plan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Fine-tuning + longer episodes (2000 vs 500 max steps) gives biggest boost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† Res models only trained to ~500K (config error) — performance would likely improve with full 2M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Preliminary H1: Imagination Improves Over Training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54864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Improving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Significant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Res-16 †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Res-32 †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4/5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Slow LR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2/5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Extended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3/5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CCCCCC"/>
                          </a:solidFill>
                        </a:defRPr>
                      </a:pPr>
                      <a:r>
                        <a:t>0/5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4A90D9"/>
                </a:solidFill>
              </a:defRPr>
            </a:pPr>
            <a:r>
              <a:t>Emerging Pattern: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H1 strongest in actively-learning models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Extended model inherited good world model → flat trends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World model learns visuals quickly, then plateaus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Policy learning is the slow 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27AE60"/>
                </a:solidFill>
              </a:defRPr>
            </a:pPr>
            <a:r>
              <a:t>Baseline head error: 0.268 → 0.023 grid cells (ρ = −0.85, p &lt; 0.001)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39C12"/>
                </a:solidFill>
              </a:defRPr>
            </a:pPr>
            <a:r>
              <a:t>Assessment: H1 is well-supported. Expect this to hold in remaining runs.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Preliminary H2: Imagination Correlates with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98755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Extended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Slow LR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Res-32 †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Res-16 †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.570*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.099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.023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.603*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.564*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SSIM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.630**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.120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.066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.660**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.641*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Head error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.843***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.163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.514*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.513*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.678**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Body acc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.352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.511*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.740***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.292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.532*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Food correct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.597**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.090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.310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.654**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</a:defRPr>
                      </a:pPr>
                      <a:r>
                        <a:t>.636**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39C12"/>
                </a:solidFill>
              </a:defRPr>
            </a:pPr>
            <a:r>
              <a:t>Look at the Slow LR column: Pixel metrics (MSE, SSIM) ≈ 0.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39C12"/>
                </a:solidFill>
              </a:defRPr>
            </a:pPr>
            <a:r>
              <a:t>Semantic metrics (body accuracy, head error) are strong predictors.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39C12"/>
                </a:solidFill>
              </a:defRPr>
            </a:pPr>
            <a:r>
              <a:t>Assessment: H2 well-supported. Head error and body accuracy are the most reliable predictors.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Preliminary H3: Semantic vs. Pixel — The Key Finding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89611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011680"/>
                <a:gridCol w="1645920"/>
                <a:gridCol w="164592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Pixel Avg |ρ|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Semantic Avg |ρ|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Fisher z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Slow LR ★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0.045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0.522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2.65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0.008 **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Extended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0.110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0.255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n.s.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0.600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0.597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1.42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0.154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Res-32 †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0.631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0.486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n.s.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Res-16 †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0.603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0.615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</a:defRPr>
                      </a:pPr>
                      <a:r>
                        <a:t>n.s.</a:t>
                      </a:r>
                    </a:p>
                  </a:txBody>
                  <a:tcPr>
                    <a:solidFill>
                      <a:srgbClr val="1E1E3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27AE60"/>
                </a:solidFill>
              </a:defRPr>
            </a:pPr>
            <a:r>
              <a:t>Slow LR: Semantic metrics predict performance &gt;10× better than pixel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CCCCCC"/>
                </a:solidFill>
              </a:defRPr>
            </a:pPr>
            <a:r>
              <a:t>Why only Slow LR?  The reduced learning rate decouples visual reconstruction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CCCCCC"/>
                </a:solidFill>
              </a:defRPr>
            </a:pPr>
            <a:r>
              <a:t>from semantic learning. Under normal LR, both improve together, masking the distinction.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39C12"/>
                </a:solidFill>
              </a:defRPr>
            </a:pPr>
            <a:r>
              <a:t>Assessment: One significant result. Need remaining runs to test if this generalizes.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Resolution Experiment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4A90D9"/>
                </a:solidFill>
              </a:defRPr>
            </a:pPr>
            <a:r>
              <a:t>Lower Resolution Produces: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Worse gameplay (peak 9 vs 54)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But cleaner statistical signals (5/5 significant H1)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World model achieves high accuracy quickly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Simpler visual task = easier world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E74C3C"/>
                </a:solidFill>
              </a:defRPr>
            </a:pPr>
            <a:r>
              <a:t>Caveat: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Resolution models only trained to ~500K steps (config error)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Standard target is 2M — results may not represent full potential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Still useful as a directional comparison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If time permits, will extend to 2M for final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39C12"/>
                </a:solidFill>
              </a:defRPr>
            </a:pPr>
            <a:r>
              <a:t>Good dreams about a blurry world are not enough — agent needs spatial detail for planning.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Remaining Work and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27AE60"/>
                </a:solidFill>
              </a:defRPr>
            </a:pPr>
            <a:r>
              <a:t>In Progress: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Model 6 (doubled train ratio): 864K / 2M steps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Estimated complete: ~April 3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Tests whether more imagination per real step helps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27AE60"/>
                </a:solidFill>
              </a:defRPr>
            </a:pPr>
            <a:r>
              <a:t>Planned for Final Paper: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Model 7: 20×20 grid, 128×128 observations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Extend resolution models to 2M (if time permits)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Collision prediction accuracy (new metric)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Longer imagination horizons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• Cross-configuration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39C12"/>
                </a:solidFill>
              </a:defRPr>
            </a:pPr>
            <a:r>
              <a:t>Key Question for Final Paper: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</a:defRPr>
            </a:pPr>
            <a:r>
              <a:t>Does the H3 result (p = 0.008)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</a:defRPr>
            </a:pPr>
            <a:r>
              <a:t>replicate under other training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</a:defRPr>
            </a:pPr>
            <a:r>
              <a:t>conditions, or is it specific to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</a:defRPr>
            </a:pPr>
            <a:r>
              <a:t>the slow LR regime?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14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999999"/>
                </a:solidFill>
              </a:defRPr>
            </a:pPr>
            <a:r>
              <a:t>Hardware: NVIDIA RTX 5070 Ti (16 GB)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999999"/>
                </a:solidFill>
              </a:defRPr>
            </a:pPr>
            <a:r>
              <a:t>PyTorch 2.7.0, CUDA 12.8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Summary — Where Things 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4A90D9"/>
                </a:solidFill>
              </a:rPr>
              <a:t>• H1: Well-supported.</a:t>
            </a:r>
            <a:r>
              <a:rPr sz="2000">
                <a:solidFill>
                  <a:srgbClr val="CCCCCC"/>
                </a:solidFill>
              </a:rPr>
              <a:t> Imagination improves over training, strongest in actively-learning models.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4A90D9"/>
                </a:solidFill>
              </a:rPr>
              <a:t>• H2: Well-supported.</a:t>
            </a:r>
            <a:r>
              <a:rPr sz="2000">
                <a:solidFill>
                  <a:srgbClr val="CCCCCC"/>
                </a:solidFill>
              </a:rPr>
              <a:t> Head error and body accuracy are the most reliable predictors (ρ up to −0.84).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4A90D9"/>
                </a:solidFill>
              </a:rPr>
              <a:t>• H3: Significant in one config</a:t>
            </a:r>
            <a:r>
              <a:rPr sz="2000">
                <a:solidFill>
                  <a:srgbClr val="CCCCCC"/>
                </a:solidFill>
              </a:rPr>
              <a:t> (p = 0.008). Semantic &gt; pixel by &gt;10× under slow LR. Remaining runs will test generalizability.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F39C12"/>
                </a:solidFill>
              </a:defRPr>
            </a:pPr>
            <a:r>
              <a:t>Emerging Big Picture: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0">
                <a:solidFill>
                  <a:srgbClr val="FFFFFF"/>
                </a:solidFill>
              </a:defRPr>
            </a:pPr>
            <a:r>
              <a:t>DreamerV3 does not need visually accurate dreams.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FFFFFF"/>
                </a:solidFill>
              </a:defRPr>
            </a:pPr>
            <a:r>
              <a:t>It needs dreams that capture the right structure.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FFFFFF"/>
                </a:solidFill>
              </a:defRPr>
            </a:pPr>
            <a:r>
              <a:t>The world model's grasp of game semantics — not pixel quality — drives policy learning.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27AE60"/>
                </a:solidFill>
              </a:defRPr>
            </a:pPr>
            <a:r>
              <a:t>On track for final paper — analysis pipeline operational, 5/7 planned runs complete.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999999"/>
                </a:solidFill>
              </a:defRPr>
            </a:pPr>
            <a:r>
              <a:t>Josh Manchester  •  jmanches@uccs.edu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