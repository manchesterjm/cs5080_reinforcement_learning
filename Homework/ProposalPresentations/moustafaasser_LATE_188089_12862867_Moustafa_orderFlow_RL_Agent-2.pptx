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9" r:id="rId5"/>
    <p:sldId id="268" r:id="rId6"/>
    <p:sldId id="260" r:id="rId7"/>
    <p:sldId id="261" r:id="rId8"/>
    <p:sldId id="262" r:id="rId9"/>
    <p:sldId id="263" r:id="rId10"/>
    <p:sldId id="264" r:id="rId11"/>
    <p:sldId id="265" r:id="rId12"/>
    <p:sldId id="266"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81938"/>
  </p:normalViewPr>
  <p:slideViewPr>
    <p:cSldViewPr snapToGrid="0">
      <p:cViewPr varScale="1">
        <p:scale>
          <a:sx n="90" d="100"/>
          <a:sy n="90" d="100"/>
        </p:scale>
        <p:origin x="1224" y="176"/>
      </p:cViewPr>
      <p:guideLst/>
    </p:cSldViewPr>
  </p:slideViewPr>
  <p:outlineViewPr>
    <p:cViewPr>
      <p:scale>
        <a:sx n="33" d="100"/>
        <a:sy n="33" d="100"/>
      </p:scale>
      <p:origin x="0" y="-7608"/>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396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C0C8A2-6161-451C-9ADB-CBF4627A045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A12B6EB-B6BF-4307-8D44-4345F6C83845}">
      <dgm:prSet/>
      <dgm:spPr/>
      <dgm:t>
        <a:bodyPr/>
        <a:lstStyle/>
        <a:p>
          <a:r>
            <a:rPr lang="en-US" b="1" i="0" baseline="0"/>
            <a:t>Summary:</a:t>
          </a:r>
          <a:r>
            <a:rPr lang="en-US" b="0" i="0" baseline="0"/>
            <a:t> ViperQ removes emotion from the "Casino."</a:t>
          </a:r>
          <a:endParaRPr lang="en-US"/>
        </a:p>
      </dgm:t>
    </dgm:pt>
    <dgm:pt modelId="{FB10A10E-E8F7-44AF-97BC-784360BB58D0}" type="parTrans" cxnId="{7B9400B5-EEE0-46E4-8C73-D1AF017B192C}">
      <dgm:prSet/>
      <dgm:spPr/>
      <dgm:t>
        <a:bodyPr/>
        <a:lstStyle/>
        <a:p>
          <a:endParaRPr lang="en-US"/>
        </a:p>
      </dgm:t>
    </dgm:pt>
    <dgm:pt modelId="{829DFF81-BE68-4952-A4E4-56004E7D0FAD}" type="sibTrans" cxnId="{7B9400B5-EEE0-46E4-8C73-D1AF017B192C}">
      <dgm:prSet/>
      <dgm:spPr/>
      <dgm:t>
        <a:bodyPr/>
        <a:lstStyle/>
        <a:p>
          <a:endParaRPr lang="en-US"/>
        </a:p>
      </dgm:t>
    </dgm:pt>
    <dgm:pt modelId="{AFD9F83F-59BD-458C-81C3-695661B958FD}">
      <dgm:prSet/>
      <dgm:spPr/>
      <dgm:t>
        <a:bodyPr/>
        <a:lstStyle/>
        <a:p>
          <a:r>
            <a:rPr lang="en-US" b="1" i="0" baseline="0"/>
            <a:t>Method:</a:t>
          </a:r>
          <a:r>
            <a:rPr lang="en-US" b="0" i="0" baseline="0"/>
            <a:t> Combining Domain Knowledge (Auction Theory) + Modern AI (PPO).</a:t>
          </a:r>
          <a:endParaRPr lang="en-US"/>
        </a:p>
      </dgm:t>
    </dgm:pt>
    <dgm:pt modelId="{19625DDA-783B-4CB4-B208-0F18F4239A4A}" type="parTrans" cxnId="{A2F1EA02-2C6F-46C9-A637-FCE6FE2C2BBF}">
      <dgm:prSet/>
      <dgm:spPr/>
      <dgm:t>
        <a:bodyPr/>
        <a:lstStyle/>
        <a:p>
          <a:endParaRPr lang="en-US"/>
        </a:p>
      </dgm:t>
    </dgm:pt>
    <dgm:pt modelId="{CCB8FDFD-A45F-486A-A993-5DCFC1B7DC42}" type="sibTrans" cxnId="{A2F1EA02-2C6F-46C9-A637-FCE6FE2C2BBF}">
      <dgm:prSet/>
      <dgm:spPr/>
      <dgm:t>
        <a:bodyPr/>
        <a:lstStyle/>
        <a:p>
          <a:endParaRPr lang="en-US"/>
        </a:p>
      </dgm:t>
    </dgm:pt>
    <dgm:pt modelId="{5480E278-8101-4E77-9219-5A3D10E67E7C}">
      <dgm:prSet/>
      <dgm:spPr/>
      <dgm:t>
        <a:bodyPr/>
        <a:lstStyle/>
        <a:p>
          <a:r>
            <a:rPr lang="en-US" b="1" i="0" baseline="0" dirty="0"/>
            <a:t>Goal:</a:t>
          </a:r>
          <a:r>
            <a:rPr lang="en-US" b="0" i="0" baseline="0" dirty="0"/>
            <a:t> A Stable, Autonomous Agent that beats market returns. (</a:t>
          </a:r>
          <a:r>
            <a:rPr lang="en-US" dirty="0"/>
            <a:t>Beat the S&amp;P 500 using Order Flow)</a:t>
          </a:r>
        </a:p>
      </dgm:t>
    </dgm:pt>
    <dgm:pt modelId="{79DBE015-B695-4A55-8684-8EC73993DCD0}" type="parTrans" cxnId="{41442C7F-19C2-447D-8355-4F5099C37FC6}">
      <dgm:prSet/>
      <dgm:spPr/>
      <dgm:t>
        <a:bodyPr/>
        <a:lstStyle/>
        <a:p>
          <a:endParaRPr lang="en-US"/>
        </a:p>
      </dgm:t>
    </dgm:pt>
    <dgm:pt modelId="{F6338F03-0E22-4F02-8ED2-4FF3ECBC5B4C}" type="sibTrans" cxnId="{41442C7F-19C2-447D-8355-4F5099C37FC6}">
      <dgm:prSet/>
      <dgm:spPr/>
      <dgm:t>
        <a:bodyPr/>
        <a:lstStyle/>
        <a:p>
          <a:endParaRPr lang="en-US"/>
        </a:p>
      </dgm:t>
    </dgm:pt>
    <dgm:pt modelId="{8C10B61C-5911-4743-B685-4A8A8DF6C68E}" type="pres">
      <dgm:prSet presAssocID="{73C0C8A2-6161-451C-9ADB-CBF4627A045C}" presName="root" presStyleCnt="0">
        <dgm:presLayoutVars>
          <dgm:dir/>
          <dgm:resizeHandles val="exact"/>
        </dgm:presLayoutVars>
      </dgm:prSet>
      <dgm:spPr/>
    </dgm:pt>
    <dgm:pt modelId="{57C62C30-E58F-4E66-83C2-428DB0820480}" type="pres">
      <dgm:prSet presAssocID="{5A12B6EB-B6BF-4307-8D44-4345F6C83845}" presName="compNode" presStyleCnt="0"/>
      <dgm:spPr/>
    </dgm:pt>
    <dgm:pt modelId="{CB26B105-67D9-4A0D-AE60-664AF823224B}" type="pres">
      <dgm:prSet presAssocID="{5A12B6EB-B6BF-4307-8D44-4345F6C83845}" presName="bgRect" presStyleLbl="bgShp" presStyleIdx="0" presStyleCnt="3"/>
      <dgm:spPr/>
    </dgm:pt>
    <dgm:pt modelId="{0EB4D059-BBD1-4A42-976D-A7B9411F485F}" type="pres">
      <dgm:prSet presAssocID="{5A12B6EB-B6BF-4307-8D44-4345F6C838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E39DC5EE-5AC4-4C88-AAD0-8F832700D014}" type="pres">
      <dgm:prSet presAssocID="{5A12B6EB-B6BF-4307-8D44-4345F6C83845}" presName="spaceRect" presStyleCnt="0"/>
      <dgm:spPr/>
    </dgm:pt>
    <dgm:pt modelId="{FE62DB0C-6411-4088-9F93-A98483410268}" type="pres">
      <dgm:prSet presAssocID="{5A12B6EB-B6BF-4307-8D44-4345F6C83845}" presName="parTx" presStyleLbl="revTx" presStyleIdx="0" presStyleCnt="3">
        <dgm:presLayoutVars>
          <dgm:chMax val="0"/>
          <dgm:chPref val="0"/>
        </dgm:presLayoutVars>
      </dgm:prSet>
      <dgm:spPr/>
    </dgm:pt>
    <dgm:pt modelId="{B8104C72-13B2-40B7-9B94-7F8AFD44D2F4}" type="pres">
      <dgm:prSet presAssocID="{829DFF81-BE68-4952-A4E4-56004E7D0FAD}" presName="sibTrans" presStyleCnt="0"/>
      <dgm:spPr/>
    </dgm:pt>
    <dgm:pt modelId="{E25317C9-2E2B-4C7B-A1F5-1A1BBFC6E42C}" type="pres">
      <dgm:prSet presAssocID="{AFD9F83F-59BD-458C-81C3-695661B958FD}" presName="compNode" presStyleCnt="0"/>
      <dgm:spPr/>
    </dgm:pt>
    <dgm:pt modelId="{A869D259-A741-4A4D-BD9F-B931774BB1B7}" type="pres">
      <dgm:prSet presAssocID="{AFD9F83F-59BD-458C-81C3-695661B958FD}" presName="bgRect" presStyleLbl="bgShp" presStyleIdx="1" presStyleCnt="3"/>
      <dgm:spPr/>
    </dgm:pt>
    <dgm:pt modelId="{139178FA-03DC-4B03-AE55-A6107FEB40FF}" type="pres">
      <dgm:prSet presAssocID="{AFD9F83F-59BD-458C-81C3-695661B958F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CA98484-1176-4678-89FC-15AADD0E63F1}" type="pres">
      <dgm:prSet presAssocID="{AFD9F83F-59BD-458C-81C3-695661B958FD}" presName="spaceRect" presStyleCnt="0"/>
      <dgm:spPr/>
    </dgm:pt>
    <dgm:pt modelId="{B6BF1559-857E-4BA7-8847-660889CB7353}" type="pres">
      <dgm:prSet presAssocID="{AFD9F83F-59BD-458C-81C3-695661B958FD}" presName="parTx" presStyleLbl="revTx" presStyleIdx="1" presStyleCnt="3">
        <dgm:presLayoutVars>
          <dgm:chMax val="0"/>
          <dgm:chPref val="0"/>
        </dgm:presLayoutVars>
      </dgm:prSet>
      <dgm:spPr/>
    </dgm:pt>
    <dgm:pt modelId="{EB485B4D-A19D-461C-B16A-D84E5727DD3F}" type="pres">
      <dgm:prSet presAssocID="{CCB8FDFD-A45F-486A-A993-5DCFC1B7DC42}" presName="sibTrans" presStyleCnt="0"/>
      <dgm:spPr/>
    </dgm:pt>
    <dgm:pt modelId="{D523D2CB-1148-473E-B791-0A53FC3990CD}" type="pres">
      <dgm:prSet presAssocID="{5480E278-8101-4E77-9219-5A3D10E67E7C}" presName="compNode" presStyleCnt="0"/>
      <dgm:spPr/>
    </dgm:pt>
    <dgm:pt modelId="{ACA77FCA-48B1-44E1-B2EC-2F23EFBCF445}" type="pres">
      <dgm:prSet presAssocID="{5480E278-8101-4E77-9219-5A3D10E67E7C}" presName="bgRect" presStyleLbl="bgShp" presStyleIdx="2" presStyleCnt="3"/>
      <dgm:spPr/>
    </dgm:pt>
    <dgm:pt modelId="{E8A54B86-ADC6-47ED-867B-420944C8143C}" type="pres">
      <dgm:prSet presAssocID="{5480E278-8101-4E77-9219-5A3D10E67E7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B15BAC2A-C693-4347-A122-B32EDBB5937C}" type="pres">
      <dgm:prSet presAssocID="{5480E278-8101-4E77-9219-5A3D10E67E7C}" presName="spaceRect" presStyleCnt="0"/>
      <dgm:spPr/>
    </dgm:pt>
    <dgm:pt modelId="{F682F07E-8A79-41B8-80F0-906B727B0C78}" type="pres">
      <dgm:prSet presAssocID="{5480E278-8101-4E77-9219-5A3D10E67E7C}" presName="parTx" presStyleLbl="revTx" presStyleIdx="2" presStyleCnt="3">
        <dgm:presLayoutVars>
          <dgm:chMax val="0"/>
          <dgm:chPref val="0"/>
        </dgm:presLayoutVars>
      </dgm:prSet>
      <dgm:spPr/>
    </dgm:pt>
  </dgm:ptLst>
  <dgm:cxnLst>
    <dgm:cxn modelId="{A2F1EA02-2C6F-46C9-A637-FCE6FE2C2BBF}" srcId="{73C0C8A2-6161-451C-9ADB-CBF4627A045C}" destId="{AFD9F83F-59BD-458C-81C3-695661B958FD}" srcOrd="1" destOrd="0" parTransId="{19625DDA-783B-4CB4-B208-0F18F4239A4A}" sibTransId="{CCB8FDFD-A45F-486A-A993-5DCFC1B7DC42}"/>
    <dgm:cxn modelId="{29851F27-4269-4748-810F-E094FB3C547E}" type="presOf" srcId="{5A12B6EB-B6BF-4307-8D44-4345F6C83845}" destId="{FE62DB0C-6411-4088-9F93-A98483410268}" srcOrd="0" destOrd="0" presId="urn:microsoft.com/office/officeart/2018/2/layout/IconVerticalSolidList"/>
    <dgm:cxn modelId="{F084D92A-AEF4-45FA-B3F1-120AD527F9AD}" type="presOf" srcId="{AFD9F83F-59BD-458C-81C3-695661B958FD}" destId="{B6BF1559-857E-4BA7-8847-660889CB7353}" srcOrd="0" destOrd="0" presId="urn:microsoft.com/office/officeart/2018/2/layout/IconVerticalSolidList"/>
    <dgm:cxn modelId="{8BE8B87A-D7C0-4F92-A09C-5DBBB82E79C2}" type="presOf" srcId="{5480E278-8101-4E77-9219-5A3D10E67E7C}" destId="{F682F07E-8A79-41B8-80F0-906B727B0C78}" srcOrd="0" destOrd="0" presId="urn:microsoft.com/office/officeart/2018/2/layout/IconVerticalSolidList"/>
    <dgm:cxn modelId="{41442C7F-19C2-447D-8355-4F5099C37FC6}" srcId="{73C0C8A2-6161-451C-9ADB-CBF4627A045C}" destId="{5480E278-8101-4E77-9219-5A3D10E67E7C}" srcOrd="2" destOrd="0" parTransId="{79DBE015-B695-4A55-8684-8EC73993DCD0}" sibTransId="{F6338F03-0E22-4F02-8ED2-4FF3ECBC5B4C}"/>
    <dgm:cxn modelId="{7B9400B5-EEE0-46E4-8C73-D1AF017B192C}" srcId="{73C0C8A2-6161-451C-9ADB-CBF4627A045C}" destId="{5A12B6EB-B6BF-4307-8D44-4345F6C83845}" srcOrd="0" destOrd="0" parTransId="{FB10A10E-E8F7-44AF-97BC-784360BB58D0}" sibTransId="{829DFF81-BE68-4952-A4E4-56004E7D0FAD}"/>
    <dgm:cxn modelId="{09A00CBA-01F1-4679-B12A-56D50D40EC76}" type="presOf" srcId="{73C0C8A2-6161-451C-9ADB-CBF4627A045C}" destId="{8C10B61C-5911-4743-B685-4A8A8DF6C68E}" srcOrd="0" destOrd="0" presId="urn:microsoft.com/office/officeart/2018/2/layout/IconVerticalSolidList"/>
    <dgm:cxn modelId="{ABDF84F6-5058-465C-B06D-010F95B3306F}" type="presParOf" srcId="{8C10B61C-5911-4743-B685-4A8A8DF6C68E}" destId="{57C62C30-E58F-4E66-83C2-428DB0820480}" srcOrd="0" destOrd="0" presId="urn:microsoft.com/office/officeart/2018/2/layout/IconVerticalSolidList"/>
    <dgm:cxn modelId="{83A93D20-437E-4143-B159-45B1FB5A1280}" type="presParOf" srcId="{57C62C30-E58F-4E66-83C2-428DB0820480}" destId="{CB26B105-67D9-4A0D-AE60-664AF823224B}" srcOrd="0" destOrd="0" presId="urn:microsoft.com/office/officeart/2018/2/layout/IconVerticalSolidList"/>
    <dgm:cxn modelId="{22F348AC-EE64-4542-9DA3-C576A7891B78}" type="presParOf" srcId="{57C62C30-E58F-4E66-83C2-428DB0820480}" destId="{0EB4D059-BBD1-4A42-976D-A7B9411F485F}" srcOrd="1" destOrd="0" presId="urn:microsoft.com/office/officeart/2018/2/layout/IconVerticalSolidList"/>
    <dgm:cxn modelId="{99E57DF9-6B6C-4E9A-B3CC-2B67F44AFC98}" type="presParOf" srcId="{57C62C30-E58F-4E66-83C2-428DB0820480}" destId="{E39DC5EE-5AC4-4C88-AAD0-8F832700D014}" srcOrd="2" destOrd="0" presId="urn:microsoft.com/office/officeart/2018/2/layout/IconVerticalSolidList"/>
    <dgm:cxn modelId="{8C555346-CCFA-424C-8824-CD5EDBCE1244}" type="presParOf" srcId="{57C62C30-E58F-4E66-83C2-428DB0820480}" destId="{FE62DB0C-6411-4088-9F93-A98483410268}" srcOrd="3" destOrd="0" presId="urn:microsoft.com/office/officeart/2018/2/layout/IconVerticalSolidList"/>
    <dgm:cxn modelId="{0FE1321E-DEA6-4153-89C9-D2A20D3DDDC5}" type="presParOf" srcId="{8C10B61C-5911-4743-B685-4A8A8DF6C68E}" destId="{B8104C72-13B2-40B7-9B94-7F8AFD44D2F4}" srcOrd="1" destOrd="0" presId="urn:microsoft.com/office/officeart/2018/2/layout/IconVerticalSolidList"/>
    <dgm:cxn modelId="{B37390B8-6735-486D-843F-1E70735F116E}" type="presParOf" srcId="{8C10B61C-5911-4743-B685-4A8A8DF6C68E}" destId="{E25317C9-2E2B-4C7B-A1F5-1A1BBFC6E42C}" srcOrd="2" destOrd="0" presId="urn:microsoft.com/office/officeart/2018/2/layout/IconVerticalSolidList"/>
    <dgm:cxn modelId="{7173672E-5DE4-4C7E-8440-BD474A42FB0C}" type="presParOf" srcId="{E25317C9-2E2B-4C7B-A1F5-1A1BBFC6E42C}" destId="{A869D259-A741-4A4D-BD9F-B931774BB1B7}" srcOrd="0" destOrd="0" presId="urn:microsoft.com/office/officeart/2018/2/layout/IconVerticalSolidList"/>
    <dgm:cxn modelId="{3F096A68-BD37-4E85-BBA1-FDE88078E53D}" type="presParOf" srcId="{E25317C9-2E2B-4C7B-A1F5-1A1BBFC6E42C}" destId="{139178FA-03DC-4B03-AE55-A6107FEB40FF}" srcOrd="1" destOrd="0" presId="urn:microsoft.com/office/officeart/2018/2/layout/IconVerticalSolidList"/>
    <dgm:cxn modelId="{E7DAE039-2602-456C-8A15-C709394ED33E}" type="presParOf" srcId="{E25317C9-2E2B-4C7B-A1F5-1A1BBFC6E42C}" destId="{1CA98484-1176-4678-89FC-15AADD0E63F1}" srcOrd="2" destOrd="0" presId="urn:microsoft.com/office/officeart/2018/2/layout/IconVerticalSolidList"/>
    <dgm:cxn modelId="{832879A6-D648-4C29-92AE-0E9D50DB62BB}" type="presParOf" srcId="{E25317C9-2E2B-4C7B-A1F5-1A1BBFC6E42C}" destId="{B6BF1559-857E-4BA7-8847-660889CB7353}" srcOrd="3" destOrd="0" presId="urn:microsoft.com/office/officeart/2018/2/layout/IconVerticalSolidList"/>
    <dgm:cxn modelId="{194A4A10-EC9A-4BDE-B2B8-CF73A62C7ECF}" type="presParOf" srcId="{8C10B61C-5911-4743-B685-4A8A8DF6C68E}" destId="{EB485B4D-A19D-461C-B16A-D84E5727DD3F}" srcOrd="3" destOrd="0" presId="urn:microsoft.com/office/officeart/2018/2/layout/IconVerticalSolidList"/>
    <dgm:cxn modelId="{00B2D3D9-A2AB-4F4F-A0D1-41B0097299B2}" type="presParOf" srcId="{8C10B61C-5911-4743-B685-4A8A8DF6C68E}" destId="{D523D2CB-1148-473E-B791-0A53FC3990CD}" srcOrd="4" destOrd="0" presId="urn:microsoft.com/office/officeart/2018/2/layout/IconVerticalSolidList"/>
    <dgm:cxn modelId="{C34E4671-C250-49EE-92A4-D243329A10D8}" type="presParOf" srcId="{D523D2CB-1148-473E-B791-0A53FC3990CD}" destId="{ACA77FCA-48B1-44E1-B2EC-2F23EFBCF445}" srcOrd="0" destOrd="0" presId="urn:microsoft.com/office/officeart/2018/2/layout/IconVerticalSolidList"/>
    <dgm:cxn modelId="{CDCB7105-DA62-4E5D-BEB1-5F84AB404FD5}" type="presParOf" srcId="{D523D2CB-1148-473E-B791-0A53FC3990CD}" destId="{E8A54B86-ADC6-47ED-867B-420944C8143C}" srcOrd="1" destOrd="0" presId="urn:microsoft.com/office/officeart/2018/2/layout/IconVerticalSolidList"/>
    <dgm:cxn modelId="{9D531EE1-E72C-4337-A018-ABBAD62C44A8}" type="presParOf" srcId="{D523D2CB-1148-473E-B791-0A53FC3990CD}" destId="{B15BAC2A-C693-4347-A122-B32EDBB5937C}" srcOrd="2" destOrd="0" presId="urn:microsoft.com/office/officeart/2018/2/layout/IconVerticalSolidList"/>
    <dgm:cxn modelId="{E92360DA-9631-4DBD-A532-785BF036EE99}" type="presParOf" srcId="{D523D2CB-1148-473E-B791-0A53FC3990CD}" destId="{F682F07E-8A79-41B8-80F0-906B727B0C7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6B105-67D9-4A0D-AE60-664AF823224B}">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B4D059-BBD1-4A42-976D-A7B9411F485F}">
      <dsp:nvSpPr>
        <dsp:cNvPr id="0" name=""/>
        <dsp:cNvSpPr/>
      </dsp:nvSpPr>
      <dsp:spPr>
        <a:xfrm>
          <a:off x="507973" y="378548"/>
          <a:ext cx="923587" cy="9235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62DB0C-6411-4088-9F93-A98483410268}">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b="1" i="0" kern="1200" baseline="0"/>
            <a:t>Summary:</a:t>
          </a:r>
          <a:r>
            <a:rPr lang="en-US" sz="2300" b="0" i="0" kern="1200" baseline="0"/>
            <a:t> ViperQ removes emotion from the "Casino."</a:t>
          </a:r>
          <a:endParaRPr lang="en-US" sz="2300" kern="1200"/>
        </a:p>
      </dsp:txBody>
      <dsp:txXfrm>
        <a:off x="1939533" y="717"/>
        <a:ext cx="4362067" cy="1679249"/>
      </dsp:txXfrm>
    </dsp:sp>
    <dsp:sp modelId="{A869D259-A741-4A4D-BD9F-B931774BB1B7}">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9178FA-03DC-4B03-AE55-A6107FEB40FF}">
      <dsp:nvSpPr>
        <dsp:cNvPr id="0" name=""/>
        <dsp:cNvSpPr/>
      </dsp:nvSpPr>
      <dsp:spPr>
        <a:xfrm>
          <a:off x="507973" y="2477610"/>
          <a:ext cx="923587" cy="9235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6BF1559-857E-4BA7-8847-660889CB7353}">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b="1" i="0" kern="1200" baseline="0"/>
            <a:t>Method:</a:t>
          </a:r>
          <a:r>
            <a:rPr lang="en-US" sz="2300" b="0" i="0" kern="1200" baseline="0"/>
            <a:t> Combining Domain Knowledge (Auction Theory) + Modern AI (PPO).</a:t>
          </a:r>
          <a:endParaRPr lang="en-US" sz="2300" kern="1200"/>
        </a:p>
      </dsp:txBody>
      <dsp:txXfrm>
        <a:off x="1939533" y="2099779"/>
        <a:ext cx="4362067" cy="1679249"/>
      </dsp:txXfrm>
    </dsp:sp>
    <dsp:sp modelId="{ACA77FCA-48B1-44E1-B2EC-2F23EFBCF445}">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A54B86-ADC6-47ED-867B-420944C8143C}">
      <dsp:nvSpPr>
        <dsp:cNvPr id="0" name=""/>
        <dsp:cNvSpPr/>
      </dsp:nvSpPr>
      <dsp:spPr>
        <a:xfrm>
          <a:off x="507973" y="4576672"/>
          <a:ext cx="923587" cy="9235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82F07E-8A79-41B8-80F0-906B727B0C78}">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022350">
            <a:lnSpc>
              <a:spcPct val="90000"/>
            </a:lnSpc>
            <a:spcBef>
              <a:spcPct val="0"/>
            </a:spcBef>
            <a:spcAft>
              <a:spcPct val="35000"/>
            </a:spcAft>
            <a:buNone/>
          </a:pPr>
          <a:r>
            <a:rPr lang="en-US" sz="2300" b="1" i="0" kern="1200" baseline="0" dirty="0"/>
            <a:t>Goal:</a:t>
          </a:r>
          <a:r>
            <a:rPr lang="en-US" sz="2300" b="0" i="0" kern="1200" baseline="0" dirty="0"/>
            <a:t> A Stable, Autonomous Agent that beats market returns. (</a:t>
          </a:r>
          <a:r>
            <a:rPr lang="en-US" sz="2300" kern="1200" dirty="0"/>
            <a:t>Beat the S&amp;P 500 using Order Flow)</a:t>
          </a:r>
        </a:p>
      </dsp:txBody>
      <dsp:txXfrm>
        <a:off x="1939533" y="4198841"/>
        <a:ext cx="4362067" cy="167924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1A0BC-D4E5-DF44-A38D-5160EA1E9FC5}" type="datetimeFigureOut">
              <a:rPr lang="en-US" smtClean="0"/>
              <a:t>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B92D33-EEF4-8149-A455-6CF8723F319A}" type="slidenum">
              <a:rPr lang="en-US" smtClean="0"/>
              <a:t>‹#›</a:t>
            </a:fld>
            <a:endParaRPr lang="en-US"/>
          </a:p>
        </p:txBody>
      </p:sp>
    </p:spTree>
    <p:extLst>
      <p:ext uri="{BB962C8B-B14F-4D97-AF65-F5344CB8AC3E}">
        <p14:creationId xmlns:p14="http://schemas.microsoft.com/office/powerpoint/2010/main" val="2685698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 Today’s Project, I named it </a:t>
            </a:r>
            <a:r>
              <a:rPr lang="en-US" dirty="0" err="1"/>
              <a:t>ViperQ</a:t>
            </a:r>
            <a:r>
              <a:rPr lang="en-US" dirty="0"/>
              <a:t>. I am building an automated trading agent that uses Reinforcement Learning to trade the stock market. But unlike traditional algorithms that try to predict price using historical charts, my system will use 'Order Flow’, which is the actual mechanics of supply and demand, to make decisions on a minute-by-minute basis.</a:t>
            </a:r>
          </a:p>
        </p:txBody>
      </p:sp>
      <p:sp>
        <p:nvSpPr>
          <p:cNvPr id="4" name="Slide Number Placeholder 3"/>
          <p:cNvSpPr>
            <a:spLocks noGrp="1"/>
          </p:cNvSpPr>
          <p:nvPr>
            <p:ph type="sldNum" sz="quarter" idx="5"/>
          </p:nvPr>
        </p:nvSpPr>
        <p:spPr/>
        <p:txBody>
          <a:bodyPr/>
          <a:lstStyle/>
          <a:p>
            <a:fld id="{E3B92D33-EEF4-8149-A455-6CF8723F319A}" type="slidenum">
              <a:rPr lang="en-US" smtClean="0"/>
              <a:t>1</a:t>
            </a:fld>
            <a:endParaRPr lang="en-US"/>
          </a:p>
        </p:txBody>
      </p:sp>
    </p:spTree>
    <p:extLst>
      <p:ext uri="{BB962C8B-B14F-4D97-AF65-F5344CB8AC3E}">
        <p14:creationId xmlns:p14="http://schemas.microsoft.com/office/powerpoint/2010/main" val="2786175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agenda. I will start with the motivation behind the project and why no one has solved this problem yet. Then, I will explain the 'Physics' of the market, how orders actually move price. We will look at the specific strategy I am teaching the AI, and the data architecture using Nvidia and Tesla, and finally, the performance targets we aim to hit. And some evaluation metrics.</a:t>
            </a:r>
          </a:p>
          <a:p>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2</a:t>
            </a:fld>
            <a:endParaRPr lang="en-US"/>
          </a:p>
        </p:txBody>
      </p:sp>
    </p:spTree>
    <p:extLst>
      <p:ext uri="{BB962C8B-B14F-4D97-AF65-F5344CB8AC3E}">
        <p14:creationId xmlns:p14="http://schemas.microsoft.com/office/powerpoint/2010/main" val="66820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motivation comes from a trader named Fabio, who has won the World Trading Championship three times. He usually achieves 80% annual returns. He doesn't look at charts; he looks at the raw stream of buy and sell orders. In the academic world, most Reinforcement Learning projects fail because they train on simple price history. No one has successfully published a working agent that trades pure Order Flow logic like Fabio. That is what I aim to do. Most probably, this RL agent trading on order flow is a proprietary software for Hedge funds and Quant companies.</a:t>
            </a:r>
          </a:p>
          <a:p>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3</a:t>
            </a:fld>
            <a:endParaRPr lang="en-US"/>
          </a:p>
        </p:txBody>
      </p:sp>
    </p:spTree>
    <p:extLst>
      <p:ext uri="{BB962C8B-B14F-4D97-AF65-F5344CB8AC3E}">
        <p14:creationId xmlns:p14="http://schemas.microsoft.com/office/powerpoint/2010/main" val="3655957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892C5-D40D-820F-6A59-33C4652789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42262-E719-73D2-B437-C1E749A94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86DEE-DAE4-B11A-15FB-133F7E363398}"/>
              </a:ext>
            </a:extLst>
          </p:cNvPr>
          <p:cNvSpPr>
            <a:spLocks noGrp="1"/>
          </p:cNvSpPr>
          <p:nvPr>
            <p:ph type="body" idx="1"/>
          </p:nvPr>
        </p:nvSpPr>
        <p:spPr/>
        <p:txBody>
          <a:bodyPr/>
          <a:lstStyle/>
          <a:p>
            <a:r>
              <a:rPr lang="en-US" dirty="0"/>
              <a:t>To understand our advantage, we need to understand how the market actually works. Most people just look at the 'Last Price,' but that is old news. Think of the market as a battle between two groups. Group 1 is Passive. These are sellers saying, 'I will sell, but only at $100.' They form a line, waiting, so they are not the ones moving the price much. On the other hand, Group 2 is the Aggressive. These are buyers saying, 'I need to buy right now, at any price.’ The price only goes up when the Aggressive buyers eat up all the orders from the Passive sellers. Normal traders wait for the price to move. Our AI watches the Aggressive buyers eating the supply. We can see when the supply is about to run out, so we can jump in before the price moves.</a:t>
            </a:r>
          </a:p>
          <a:p>
            <a:endParaRPr lang="en-US" dirty="0"/>
          </a:p>
        </p:txBody>
      </p:sp>
      <p:sp>
        <p:nvSpPr>
          <p:cNvPr id="4" name="Slide Number Placeholder 3">
            <a:extLst>
              <a:ext uri="{FF2B5EF4-FFF2-40B4-BE49-F238E27FC236}">
                <a16:creationId xmlns:a16="http://schemas.microsoft.com/office/drawing/2014/main" id="{2BA68ED0-2B94-360F-1C1F-69BBE4847AD5}"/>
              </a:ext>
            </a:extLst>
          </p:cNvPr>
          <p:cNvSpPr>
            <a:spLocks noGrp="1"/>
          </p:cNvSpPr>
          <p:nvPr>
            <p:ph type="sldNum" sz="quarter" idx="5"/>
          </p:nvPr>
        </p:nvSpPr>
        <p:spPr/>
        <p:txBody>
          <a:bodyPr/>
          <a:lstStyle/>
          <a:p>
            <a:fld id="{E3B92D33-EEF4-8149-A455-6CF8723F319A}" type="slidenum">
              <a:rPr lang="en-US" smtClean="0"/>
              <a:t>4</a:t>
            </a:fld>
            <a:endParaRPr lang="en-US"/>
          </a:p>
        </p:txBody>
      </p:sp>
    </p:spTree>
    <p:extLst>
      <p:ext uri="{BB962C8B-B14F-4D97-AF65-F5344CB8AC3E}">
        <p14:creationId xmlns:p14="http://schemas.microsoft.com/office/powerpoint/2010/main" val="3346069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see here at the bottom that there were aggressive buyers who moved the demand and price up, which dramatically increased the price.  And at the very end, we see there were aggressive sellers who moved the price down. </a:t>
            </a:r>
          </a:p>
          <a:p>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5</a:t>
            </a:fld>
            <a:endParaRPr lang="en-US"/>
          </a:p>
        </p:txBody>
      </p:sp>
    </p:spTree>
    <p:extLst>
      <p:ext uri="{BB962C8B-B14F-4D97-AF65-F5344CB8AC3E}">
        <p14:creationId xmlns:p14="http://schemas.microsoft.com/office/powerpoint/2010/main" val="2037818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trade this? We use 'Auction Market Theory.' The market spends most of its time in 'Balance', just chopping sideways. We do not trade there. We train the Agent to identify the moment of 'Imbalance', when the price breaks out to find a new fair value. So we will want the agent to buy low and sell after it spikes. We ride that wave, and on the other hand, as soon as we see a 'Failed Auction', where the momentum stops, we exit. We simply want to capture the easy middle part of the move. And as we can see in the image on the very right, this is considered the volume, and in balanced areas, the volume traded is the highest. </a:t>
            </a:r>
          </a:p>
          <a:p>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6</a:t>
            </a:fld>
            <a:endParaRPr lang="en-US"/>
          </a:p>
        </p:txBody>
      </p:sp>
    </p:spTree>
    <p:extLst>
      <p:ext uri="{BB962C8B-B14F-4D97-AF65-F5344CB8AC3E}">
        <p14:creationId xmlns:p14="http://schemas.microsoft.com/office/powerpoint/2010/main" val="3723792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system architecture, we are focusing exclusively on Nvidia and Tesla. These two stocks have the highest volume and volatility in the world right now, making them perfect for this strategy. We are acquiring Nasdaq </a:t>
            </a:r>
            <a:r>
              <a:rPr lang="en-US" dirty="0" err="1"/>
              <a:t>TotalView</a:t>
            </a:r>
            <a:r>
              <a:rPr lang="en-US" dirty="0"/>
              <a:t> data from 2020 to today. We rely on modern data because the market structure changed completely after 2020 also from 2020 until today the data it will capture the covid crash and the AI boom as well. We will use 80% of this data to train the brain, and the final 20% to test it as if we were trading live over the last year.</a:t>
            </a:r>
          </a:p>
          <a:p>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7</a:t>
            </a:fld>
            <a:endParaRPr lang="en-US"/>
          </a:p>
        </p:txBody>
      </p:sp>
    </p:spTree>
    <p:extLst>
      <p:ext uri="{BB962C8B-B14F-4D97-AF65-F5344CB8AC3E}">
        <p14:creationId xmlns:p14="http://schemas.microsoft.com/office/powerpoint/2010/main" val="3444923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an algorithm called PPO. Every minute, the Agent sees 20 different data points describing the market's physics and chooses to Buy, Sell, or Hold. The secret sauce is our Reward Function. We don't just reward profit; we actively punish 'Failure.' If the Agent holds a losing position, it loses 0.3 points every single second. This forces it to cut losers instantly. On the other hand, we let it hold winning trades without penalty, teaching it the discipline to ride the trend.</a:t>
            </a:r>
          </a:p>
          <a:p>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8</a:t>
            </a:fld>
            <a:endParaRPr lang="en-US"/>
          </a:p>
        </p:txBody>
      </p:sp>
    </p:spTree>
    <p:extLst>
      <p:ext uri="{BB962C8B-B14F-4D97-AF65-F5344CB8AC3E}">
        <p14:creationId xmlns:p14="http://schemas.microsoft.com/office/powerpoint/2010/main" val="1151652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we are doing this. The S&amp;P 500 returns about 10% per year. That is our benchmark. However, with our high-velocity strategy, our goal is to generate 5% per month. And the ideal scenario as you can see in the table, if we can consistently hit just 10% a month and reinvest the profits, we don't just beat the market, we generate over 200% annual returns. The math of compounding is our biggest edge. But our target is just to do 5% profit per month for now.</a:t>
            </a:r>
          </a:p>
          <a:p>
            <a:br>
              <a:rPr lang="en-US" dirty="0"/>
            </a:br>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9</a:t>
            </a:fld>
            <a:endParaRPr lang="en-US"/>
          </a:p>
        </p:txBody>
      </p:sp>
    </p:spTree>
    <p:extLst>
      <p:ext uri="{BB962C8B-B14F-4D97-AF65-F5344CB8AC3E}">
        <p14:creationId xmlns:p14="http://schemas.microsoft.com/office/powerpoint/2010/main" val="3371258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will we know if we succeeded? We aren't just looking at total profit, which can be lucky, you know, it can be random. But instead, we are looking at the Sharpe Ratio to measure risk-adjusted return. For example, we have 2 people, both did at the end of the month $10000 in returns, but one person's account went down to 50% losses and the other his account went down during the month to only 5% loss. The second person off course is better and will have a higher Sharpe ratio. So the Sharpe Ratio penalizes the trader who had high volatility and rewards the one who was stable. Also We are strictly monitoring Maximum Drawdown, if the Agent loses more than 20% of the account at any point, it fails. Finally, we look at the Risk/Reward ratio to ensure it is taking professional, asymmetric bets, cutting losses fast and letting winners run.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10</a:t>
            </a:fld>
            <a:endParaRPr lang="en-US"/>
          </a:p>
        </p:txBody>
      </p:sp>
    </p:spTree>
    <p:extLst>
      <p:ext uri="{BB962C8B-B14F-4D97-AF65-F5344CB8AC3E}">
        <p14:creationId xmlns:p14="http://schemas.microsoft.com/office/powerpoint/2010/main" val="2399488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goal of Project </a:t>
            </a:r>
            <a:r>
              <a:rPr lang="en-US" dirty="0" err="1"/>
              <a:t>ViperQ</a:t>
            </a:r>
            <a:r>
              <a:rPr lang="en-US" dirty="0"/>
              <a:t> is not to build a magic money printer. It is to prove that by combining deep domain knowledge, the Market Physics and Market Auction Theory, with modern AI, we can create a system that navigates uncertainty better than a human. We are taking the emotion out of the casino and replacing it with physics. My goal is to beat the S&amp;P 500, and I look forward to showing you the results soon. Thank you.</a:t>
            </a:r>
          </a:p>
        </p:txBody>
      </p:sp>
      <p:sp>
        <p:nvSpPr>
          <p:cNvPr id="4" name="Slide Number Placeholder 3"/>
          <p:cNvSpPr>
            <a:spLocks noGrp="1"/>
          </p:cNvSpPr>
          <p:nvPr>
            <p:ph type="sldNum" sz="quarter" idx="5"/>
          </p:nvPr>
        </p:nvSpPr>
        <p:spPr/>
        <p:txBody>
          <a:bodyPr/>
          <a:lstStyle/>
          <a:p>
            <a:fld id="{E3B92D33-EEF4-8149-A455-6CF8723F319A}" type="slidenum">
              <a:rPr lang="en-US" smtClean="0"/>
              <a:t>11</a:t>
            </a:fld>
            <a:endParaRPr lang="en-US"/>
          </a:p>
        </p:txBody>
      </p:sp>
    </p:spTree>
    <p:extLst>
      <p:ext uri="{BB962C8B-B14F-4D97-AF65-F5344CB8AC3E}">
        <p14:creationId xmlns:p14="http://schemas.microsoft.com/office/powerpoint/2010/main" val="3723366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B92D33-EEF4-8149-A455-6CF8723F319A}" type="slidenum">
              <a:rPr lang="en-US" smtClean="0"/>
              <a:t>12</a:t>
            </a:fld>
            <a:endParaRPr lang="en-US"/>
          </a:p>
        </p:txBody>
      </p:sp>
    </p:spTree>
    <p:extLst>
      <p:ext uri="{BB962C8B-B14F-4D97-AF65-F5344CB8AC3E}">
        <p14:creationId xmlns:p14="http://schemas.microsoft.com/office/powerpoint/2010/main" val="2147289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11A3D-1B61-1AE2-8C31-FE259DBEE6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78A385-07F6-18DF-2BB5-192576BCDE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E40377-EE70-00E3-2F3F-32273EF19364}"/>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5" name="Footer Placeholder 4">
            <a:extLst>
              <a:ext uri="{FF2B5EF4-FFF2-40B4-BE49-F238E27FC236}">
                <a16:creationId xmlns:a16="http://schemas.microsoft.com/office/drawing/2014/main" id="{6CEA777E-CA0B-3FA8-226E-966A221AEB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89300F-402A-FFA4-B304-AE2EE7D808C8}"/>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1678314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F71E-8F4B-A0AB-421F-8A80F144FF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24CBF5-0DF5-7D7D-49BF-867F5895DA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276DF-7E24-CD4B-E01C-99BEE3172227}"/>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5" name="Footer Placeholder 4">
            <a:extLst>
              <a:ext uri="{FF2B5EF4-FFF2-40B4-BE49-F238E27FC236}">
                <a16:creationId xmlns:a16="http://schemas.microsoft.com/office/drawing/2014/main" id="{A3390500-6F11-8246-F78E-DBE41A4AB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4A7A0-E539-5059-C15F-D56E87A7F6F9}"/>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3131876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E4790-050E-614B-655B-BC2720B04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D3B897-56FE-56CB-4F43-73333017C7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000248-C828-3D94-65BA-9105DECAD246}"/>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5" name="Footer Placeholder 4">
            <a:extLst>
              <a:ext uri="{FF2B5EF4-FFF2-40B4-BE49-F238E27FC236}">
                <a16:creationId xmlns:a16="http://schemas.microsoft.com/office/drawing/2014/main" id="{69A6AEB4-51FA-DBC9-61A1-0244A8B04E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787966-000B-9BFD-1C67-8D910F43FDEF}"/>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631561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0EFF-2E93-A11C-F26F-1AABB3384B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1B6932-A90F-50C1-EA47-B2B111D756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1248A7-EBC2-09A6-981F-48B89C2F8E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014AC0-266B-A618-3D6A-CA802F3B8519}"/>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6" name="Footer Placeholder 5">
            <a:extLst>
              <a:ext uri="{FF2B5EF4-FFF2-40B4-BE49-F238E27FC236}">
                <a16:creationId xmlns:a16="http://schemas.microsoft.com/office/drawing/2014/main" id="{6B904413-845B-1DBD-929D-E8A3CE1DA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66EA08-8B50-189D-0AB1-371552398A0A}"/>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410483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3E041-E7C7-3048-D980-32E49D242C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AE6643-243E-DD29-26AE-DF8C7FB27B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DE7046-296C-C9F1-322B-9746A5AC86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6BC907-41F7-32BA-B100-7B4FD1E913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D6D282-02BD-3A44-C2BC-BAFD2329E9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5457AA-956F-0279-C9B4-D9A52D45C051}"/>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8" name="Footer Placeholder 7">
            <a:extLst>
              <a:ext uri="{FF2B5EF4-FFF2-40B4-BE49-F238E27FC236}">
                <a16:creationId xmlns:a16="http://schemas.microsoft.com/office/drawing/2014/main" id="{1F1DA030-74EB-5EA3-3352-88420B294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EC9130-7486-9CFD-67D3-4D8EFE357AB4}"/>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4294368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F6C7B-FFAB-6227-D24B-FD5FE46647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D5BD07-A248-15D8-6E52-4C7E7373CFC7}"/>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4" name="Footer Placeholder 3">
            <a:extLst>
              <a:ext uri="{FF2B5EF4-FFF2-40B4-BE49-F238E27FC236}">
                <a16:creationId xmlns:a16="http://schemas.microsoft.com/office/drawing/2014/main" id="{BB8CAB74-3B3E-19DD-6000-AA6A0F7518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411894-FD85-D1B4-D3F4-9B7188D34F45}"/>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1449172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369645-B775-9354-2290-814951FBD170}"/>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3" name="Footer Placeholder 2">
            <a:extLst>
              <a:ext uri="{FF2B5EF4-FFF2-40B4-BE49-F238E27FC236}">
                <a16:creationId xmlns:a16="http://schemas.microsoft.com/office/drawing/2014/main" id="{D305F434-8E12-D821-9460-139D62EA53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119CBD-1E07-719D-F160-9AFDD05BB76B}"/>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3126147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39462-8F36-9C4E-CA62-B99A8C988C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921525-9E1E-B1C1-6B6B-1D280CC05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2C57C0-08EB-F31E-6F7B-11F4F0B78F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40974-FEAB-D760-0EED-99AA17585654}"/>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6" name="Footer Placeholder 5">
            <a:extLst>
              <a:ext uri="{FF2B5EF4-FFF2-40B4-BE49-F238E27FC236}">
                <a16:creationId xmlns:a16="http://schemas.microsoft.com/office/drawing/2014/main" id="{7E1B45D7-1448-AD68-CE92-8CC22E93E2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D9A6BF-5F52-E5CE-877A-C3D9174E4063}"/>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1251952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79A5A-220D-3BD8-17CE-DB3E35B5C9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FE9BD4-CCAF-4F30-A5F6-C26C9E381C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F05FE4-9F9D-3EE9-D344-4365D26BD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EF6172-69EF-97DD-351A-113F1CA9EA72}"/>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6" name="Footer Placeholder 5">
            <a:extLst>
              <a:ext uri="{FF2B5EF4-FFF2-40B4-BE49-F238E27FC236}">
                <a16:creationId xmlns:a16="http://schemas.microsoft.com/office/drawing/2014/main" id="{770D9A0E-8E56-A178-0FAB-CCC1FE40E0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659BDC-13E1-9629-B3A6-5E5DF1B0F7C5}"/>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877552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C27D2-A2B5-34C5-E176-ABBE48BAF3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0F54CD-568E-0886-8FC4-753B41DA21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C6CD7-7C1E-FC6D-C28C-EB97A1C9B6C3}"/>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5" name="Footer Placeholder 4">
            <a:extLst>
              <a:ext uri="{FF2B5EF4-FFF2-40B4-BE49-F238E27FC236}">
                <a16:creationId xmlns:a16="http://schemas.microsoft.com/office/drawing/2014/main" id="{8568FBC6-2839-F4A8-6F14-A0CDDFBDFC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4F65DC-B228-EB86-C6DD-247EAACF8EC4}"/>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216685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5A7F3C-D576-7428-D9A8-93815FD84A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740CC5-D157-379D-7BDF-BC0A58DC5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3D59B-AC8C-FA61-39D7-F0746C253D8A}"/>
              </a:ext>
            </a:extLst>
          </p:cNvPr>
          <p:cNvSpPr>
            <a:spLocks noGrp="1"/>
          </p:cNvSpPr>
          <p:nvPr>
            <p:ph type="dt" sz="half" idx="10"/>
          </p:nvPr>
        </p:nvSpPr>
        <p:spPr/>
        <p:txBody>
          <a:bodyPr/>
          <a:lstStyle/>
          <a:p>
            <a:fld id="{4F3C8116-00CF-D443-AAA3-BE6AE8A12772}" type="datetimeFigureOut">
              <a:rPr lang="en-US" smtClean="0"/>
              <a:t>2/20/26</a:t>
            </a:fld>
            <a:endParaRPr lang="en-US"/>
          </a:p>
        </p:txBody>
      </p:sp>
      <p:sp>
        <p:nvSpPr>
          <p:cNvPr id="5" name="Footer Placeholder 4">
            <a:extLst>
              <a:ext uri="{FF2B5EF4-FFF2-40B4-BE49-F238E27FC236}">
                <a16:creationId xmlns:a16="http://schemas.microsoft.com/office/drawing/2014/main" id="{A11544A0-9040-95E5-8E43-8CACE218FA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618B96-590F-FE3A-1FC1-45D6DBD36A58}"/>
              </a:ext>
            </a:extLst>
          </p:cNvPr>
          <p:cNvSpPr>
            <a:spLocks noGrp="1"/>
          </p:cNvSpPr>
          <p:nvPr>
            <p:ph type="sldNum" sz="quarter" idx="12"/>
          </p:nvPr>
        </p:nvSpPr>
        <p:spPr/>
        <p:txBody>
          <a:bodyPr/>
          <a:lstStyle/>
          <a:p>
            <a:fld id="{BB007C9A-7AC6-5841-88BA-B98AF0BE212B}" type="slidenum">
              <a:rPr lang="en-US" smtClean="0"/>
              <a:t>‹#›</a:t>
            </a:fld>
            <a:endParaRPr lang="en-US"/>
          </a:p>
        </p:txBody>
      </p:sp>
    </p:spTree>
    <p:extLst>
      <p:ext uri="{BB962C8B-B14F-4D97-AF65-F5344CB8AC3E}">
        <p14:creationId xmlns:p14="http://schemas.microsoft.com/office/powerpoint/2010/main" val="45583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5350E0-59BB-078C-B61F-9F6049ACDF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64794C-0A1D-0645-9C69-B2F0C80436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21C42-9909-5C1F-4DC3-8523EC918A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3C8116-00CF-D443-AAA3-BE6AE8A12772}" type="datetimeFigureOut">
              <a:rPr lang="en-US" smtClean="0"/>
              <a:t>2/20/26</a:t>
            </a:fld>
            <a:endParaRPr lang="en-US"/>
          </a:p>
        </p:txBody>
      </p:sp>
      <p:sp>
        <p:nvSpPr>
          <p:cNvPr id="5" name="Footer Placeholder 4">
            <a:extLst>
              <a:ext uri="{FF2B5EF4-FFF2-40B4-BE49-F238E27FC236}">
                <a16:creationId xmlns:a16="http://schemas.microsoft.com/office/drawing/2014/main" id="{99259212-0E00-29FB-10F1-7C7F16A84C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2640B5-56C5-9329-8BA2-44FA1A7A65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007C9A-7AC6-5841-88BA-B98AF0BE212B}" type="slidenum">
              <a:rPr lang="en-US" smtClean="0"/>
              <a:t>‹#›</a:t>
            </a:fld>
            <a:endParaRPr lang="en-US"/>
          </a:p>
        </p:txBody>
      </p:sp>
    </p:spTree>
    <p:extLst>
      <p:ext uri="{BB962C8B-B14F-4D97-AF65-F5344CB8AC3E}">
        <p14:creationId xmlns:p14="http://schemas.microsoft.com/office/powerpoint/2010/main" val="3454354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89EED9-F54D-4F20-A2C6-949DE4176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46F721-3785-414D-8697-16AF490E6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A50CF-55C8-D6BD-24CE-0CC395FD32E5}"/>
              </a:ext>
            </a:extLst>
          </p:cNvPr>
          <p:cNvSpPr>
            <a:spLocks noGrp="1"/>
          </p:cNvSpPr>
          <p:nvPr>
            <p:ph type="ctrTitle"/>
          </p:nvPr>
        </p:nvSpPr>
        <p:spPr>
          <a:xfrm>
            <a:off x="7873193" y="775326"/>
            <a:ext cx="4076700" cy="2653674"/>
          </a:xfrm>
        </p:spPr>
        <p:txBody>
          <a:bodyPr anchor="b">
            <a:normAutofit/>
          </a:bodyPr>
          <a:lstStyle/>
          <a:p>
            <a:r>
              <a:rPr lang="en-US" sz="3300" dirty="0" err="1">
                <a:solidFill>
                  <a:schemeClr val="tx1">
                    <a:lumMod val="85000"/>
                    <a:lumOff val="15000"/>
                  </a:schemeClr>
                </a:solidFill>
              </a:rPr>
              <a:t>ViperQ</a:t>
            </a:r>
            <a:r>
              <a:rPr lang="en-US" sz="3300" dirty="0">
                <a:solidFill>
                  <a:schemeClr val="tx1">
                    <a:lumMod val="85000"/>
                    <a:lumOff val="15000"/>
                  </a:schemeClr>
                </a:solidFill>
              </a:rPr>
              <a:t>: Order Flow &amp; Auction Market Theory Trading via Reinforcement Learning</a:t>
            </a:r>
          </a:p>
        </p:txBody>
      </p:sp>
      <p:sp>
        <p:nvSpPr>
          <p:cNvPr id="3" name="Subtitle 2">
            <a:extLst>
              <a:ext uri="{FF2B5EF4-FFF2-40B4-BE49-F238E27FC236}">
                <a16:creationId xmlns:a16="http://schemas.microsoft.com/office/drawing/2014/main" id="{A7EDDC97-FD53-38FD-3188-DD57F4F5E26D}"/>
              </a:ext>
            </a:extLst>
          </p:cNvPr>
          <p:cNvSpPr>
            <a:spLocks noGrp="1"/>
          </p:cNvSpPr>
          <p:nvPr>
            <p:ph type="subTitle" idx="1"/>
          </p:nvPr>
        </p:nvSpPr>
        <p:spPr>
          <a:xfrm>
            <a:off x="8480996" y="4204326"/>
            <a:ext cx="2895600" cy="1289676"/>
          </a:xfrm>
        </p:spPr>
        <p:txBody>
          <a:bodyPr anchor="t">
            <a:normAutofit/>
          </a:bodyPr>
          <a:lstStyle/>
          <a:p>
            <a:r>
              <a:rPr lang="en-US" sz="2000" dirty="0">
                <a:solidFill>
                  <a:schemeClr val="tx1">
                    <a:lumMod val="85000"/>
                    <a:lumOff val="15000"/>
                  </a:schemeClr>
                </a:solidFill>
              </a:rPr>
              <a:t>By: Asser Moustafa</a:t>
            </a:r>
          </a:p>
        </p:txBody>
      </p:sp>
      <p:pic>
        <p:nvPicPr>
          <p:cNvPr id="5" name="Picture 4" descr="A snake with a glowing background&#10;&#10;AI-generated content may be incorrect.">
            <a:extLst>
              <a:ext uri="{FF2B5EF4-FFF2-40B4-BE49-F238E27FC236}">
                <a16:creationId xmlns:a16="http://schemas.microsoft.com/office/drawing/2014/main" id="{15E506F6-B358-AA4F-C8CE-C5C2746E5CF3}"/>
              </a:ext>
            </a:extLst>
          </p:cNvPr>
          <p:cNvPicPr>
            <a:picLocks noChangeAspect="1"/>
          </p:cNvPicPr>
          <p:nvPr/>
        </p:nvPicPr>
        <p:blipFill>
          <a:blip r:embed="rId3"/>
          <a:srcRect l="20495" r="18588" b="1"/>
          <a:stretch>
            <a:fillRect/>
          </a:stretch>
        </p:blipFill>
        <p:spPr>
          <a:xfrm>
            <a:off x="20" y="1"/>
            <a:ext cx="7665573" cy="6857999"/>
          </a:xfrm>
          <a:custGeom>
            <a:avLst/>
            <a:gdLst/>
            <a:ahLst/>
            <a:cxnLst/>
            <a:rect l="l" t="t" r="r" b="b"/>
            <a:pathLst>
              <a:path w="7665593" h="6857999">
                <a:moveTo>
                  <a:pt x="0" y="0"/>
                </a:moveTo>
                <a:lnTo>
                  <a:pt x="7363783" y="0"/>
                </a:lnTo>
                <a:lnTo>
                  <a:pt x="7372954" y="18152"/>
                </a:lnTo>
                <a:cubicBezTo>
                  <a:pt x="7378508" y="27417"/>
                  <a:pt x="7383821" y="35694"/>
                  <a:pt x="7386404" y="41707"/>
                </a:cubicBezTo>
                <a:lnTo>
                  <a:pt x="7389058" y="60832"/>
                </a:lnTo>
                <a:lnTo>
                  <a:pt x="7394074" y="60137"/>
                </a:lnTo>
                <a:lnTo>
                  <a:pt x="7394443" y="67241"/>
                </a:lnTo>
                <a:lnTo>
                  <a:pt x="7394565" y="83099"/>
                </a:lnTo>
                <a:cubicBezTo>
                  <a:pt x="7395324" y="92994"/>
                  <a:pt x="7394122" y="120511"/>
                  <a:pt x="7395957" y="130584"/>
                </a:cubicBezTo>
                <a:cubicBezTo>
                  <a:pt x="7401306" y="133490"/>
                  <a:pt x="7404223" y="137975"/>
                  <a:pt x="7405574" y="143540"/>
                </a:cubicBezTo>
                <a:lnTo>
                  <a:pt x="7405725" y="155795"/>
                </a:lnTo>
                <a:lnTo>
                  <a:pt x="7418615" y="226869"/>
                </a:lnTo>
                <a:lnTo>
                  <a:pt x="7419579" y="236641"/>
                </a:lnTo>
                <a:lnTo>
                  <a:pt x="7423900" y="241933"/>
                </a:lnTo>
                <a:cubicBezTo>
                  <a:pt x="7424763" y="245974"/>
                  <a:pt x="7424206" y="257579"/>
                  <a:pt x="7424760" y="260885"/>
                </a:cubicBezTo>
                <a:cubicBezTo>
                  <a:pt x="7425580" y="261177"/>
                  <a:pt x="7426400" y="261469"/>
                  <a:pt x="7427220" y="261761"/>
                </a:cubicBezTo>
                <a:cubicBezTo>
                  <a:pt x="7431152" y="272291"/>
                  <a:pt x="7444241" y="311893"/>
                  <a:pt x="7448344" y="324055"/>
                </a:cubicBezTo>
                <a:cubicBezTo>
                  <a:pt x="7444563" y="326484"/>
                  <a:pt x="7450535" y="331924"/>
                  <a:pt x="7451833" y="334727"/>
                </a:cubicBezTo>
                <a:cubicBezTo>
                  <a:pt x="7449286" y="335161"/>
                  <a:pt x="7448510" y="341947"/>
                  <a:pt x="7450776" y="343948"/>
                </a:cubicBezTo>
                <a:cubicBezTo>
                  <a:pt x="7463202" y="391652"/>
                  <a:pt x="7437523" y="367773"/>
                  <a:pt x="7453791" y="395003"/>
                </a:cubicBezTo>
                <a:cubicBezTo>
                  <a:pt x="7454869" y="399820"/>
                  <a:pt x="7453841" y="403723"/>
                  <a:pt x="7451939" y="407147"/>
                </a:cubicBezTo>
                <a:lnTo>
                  <a:pt x="7448030" y="412254"/>
                </a:lnTo>
                <a:lnTo>
                  <a:pt x="7455416" y="432021"/>
                </a:lnTo>
                <a:cubicBezTo>
                  <a:pt x="7457991" y="441758"/>
                  <a:pt x="7459699" y="452007"/>
                  <a:pt x="7460479" y="462523"/>
                </a:cubicBezTo>
                <a:cubicBezTo>
                  <a:pt x="7455275" y="464882"/>
                  <a:pt x="7462669" y="473136"/>
                  <a:pt x="7464133" y="477020"/>
                </a:cubicBezTo>
                <a:cubicBezTo>
                  <a:pt x="7460734" y="477060"/>
                  <a:pt x="7459104" y="485663"/>
                  <a:pt x="7461914" y="488716"/>
                </a:cubicBezTo>
                <a:cubicBezTo>
                  <a:pt x="7474065" y="552879"/>
                  <a:pt x="7442314" y="516775"/>
                  <a:pt x="7461353" y="555280"/>
                </a:cubicBezTo>
                <a:cubicBezTo>
                  <a:pt x="7462345" y="561721"/>
                  <a:pt x="7460642" y="566553"/>
                  <a:pt x="7457829" y="570585"/>
                </a:cubicBezTo>
                <a:lnTo>
                  <a:pt x="7450804" y="577839"/>
                </a:lnTo>
                <a:lnTo>
                  <a:pt x="7453309" y="583524"/>
                </a:lnTo>
                <a:cubicBezTo>
                  <a:pt x="7453505" y="604977"/>
                  <a:pt x="7446306" y="611303"/>
                  <a:pt x="7453558" y="623785"/>
                </a:cubicBezTo>
                <a:cubicBezTo>
                  <a:pt x="7438483" y="642230"/>
                  <a:pt x="7452055" y="636019"/>
                  <a:pt x="7454362" y="650049"/>
                </a:cubicBezTo>
                <a:cubicBezTo>
                  <a:pt x="7457368" y="661117"/>
                  <a:pt x="7463152" y="640798"/>
                  <a:pt x="7464006" y="651645"/>
                </a:cubicBezTo>
                <a:cubicBezTo>
                  <a:pt x="7460114" y="663380"/>
                  <a:pt x="7472201" y="662829"/>
                  <a:pt x="7467442" y="675032"/>
                </a:cubicBezTo>
                <a:cubicBezTo>
                  <a:pt x="7458335" y="672068"/>
                  <a:pt x="7469207" y="699114"/>
                  <a:pt x="7461251" y="699956"/>
                </a:cubicBezTo>
                <a:cubicBezTo>
                  <a:pt x="7472628" y="710321"/>
                  <a:pt x="7458614" y="715529"/>
                  <a:pt x="7462119" y="729331"/>
                </a:cubicBezTo>
                <a:cubicBezTo>
                  <a:pt x="7466423" y="735831"/>
                  <a:pt x="7467162" y="740521"/>
                  <a:pt x="7462533" y="746910"/>
                </a:cubicBezTo>
                <a:cubicBezTo>
                  <a:pt x="7483486" y="776851"/>
                  <a:pt x="7463470" y="765024"/>
                  <a:pt x="7471529" y="793043"/>
                </a:cubicBezTo>
                <a:cubicBezTo>
                  <a:pt x="7480002" y="817184"/>
                  <a:pt x="7485500" y="844550"/>
                  <a:pt x="7505730" y="867898"/>
                </a:cubicBezTo>
                <a:cubicBezTo>
                  <a:pt x="7511461" y="872184"/>
                  <a:pt x="7513630" y="882707"/>
                  <a:pt x="7510576" y="891400"/>
                </a:cubicBezTo>
                <a:cubicBezTo>
                  <a:pt x="7510049" y="892894"/>
                  <a:pt x="7509385" y="894278"/>
                  <a:pt x="7508604" y="895508"/>
                </a:cubicBezTo>
                <a:cubicBezTo>
                  <a:pt x="7511698" y="915692"/>
                  <a:pt x="7525520" y="989520"/>
                  <a:pt x="7529143" y="1012510"/>
                </a:cubicBezTo>
                <a:cubicBezTo>
                  <a:pt x="7521781" y="1014371"/>
                  <a:pt x="7535067" y="1025997"/>
                  <a:pt x="7530347" y="1033444"/>
                </a:cubicBezTo>
                <a:cubicBezTo>
                  <a:pt x="7526204" y="1038777"/>
                  <a:pt x="7529270" y="1043549"/>
                  <a:pt x="7529596" y="1049120"/>
                </a:cubicBezTo>
                <a:cubicBezTo>
                  <a:pt x="7526339" y="1056460"/>
                  <a:pt x="7532220" y="1080398"/>
                  <a:pt x="7536437" y="1086639"/>
                </a:cubicBezTo>
                <a:cubicBezTo>
                  <a:pt x="7551094" y="1101553"/>
                  <a:pt x="7540210" y="1135442"/>
                  <a:pt x="7551438" y="1147834"/>
                </a:cubicBezTo>
                <a:cubicBezTo>
                  <a:pt x="7553086" y="1152330"/>
                  <a:pt x="7553752" y="1156729"/>
                  <a:pt x="7553808" y="1161047"/>
                </a:cubicBezTo>
                <a:lnTo>
                  <a:pt x="7552572" y="1173130"/>
                </a:lnTo>
                <a:lnTo>
                  <a:pt x="7549434" y="1176566"/>
                </a:lnTo>
                <a:lnTo>
                  <a:pt x="7550211" y="1183950"/>
                </a:lnTo>
                <a:lnTo>
                  <a:pt x="7549733" y="1186066"/>
                </a:lnTo>
                <a:cubicBezTo>
                  <a:pt x="7548807" y="1190108"/>
                  <a:pt x="7548001" y="1194099"/>
                  <a:pt x="7547683" y="1198047"/>
                </a:cubicBezTo>
                <a:cubicBezTo>
                  <a:pt x="7563423" y="1192855"/>
                  <a:pt x="7547566" y="1230782"/>
                  <a:pt x="7560295" y="1219849"/>
                </a:cubicBezTo>
                <a:cubicBezTo>
                  <a:pt x="7561281" y="1240644"/>
                  <a:pt x="7573138" y="1224782"/>
                  <a:pt x="7561835" y="1249779"/>
                </a:cubicBezTo>
                <a:cubicBezTo>
                  <a:pt x="7574707" y="1282065"/>
                  <a:pt x="7569916" y="1332957"/>
                  <a:pt x="7589445" y="1358245"/>
                </a:cubicBezTo>
                <a:cubicBezTo>
                  <a:pt x="7581989" y="1355103"/>
                  <a:pt x="7576204" y="1368711"/>
                  <a:pt x="7579904" y="1378136"/>
                </a:cubicBezTo>
                <a:cubicBezTo>
                  <a:pt x="7550647" y="1367117"/>
                  <a:pt x="7606267" y="1415404"/>
                  <a:pt x="7586303" y="1423699"/>
                </a:cubicBezTo>
                <a:cubicBezTo>
                  <a:pt x="7604838" y="1424108"/>
                  <a:pt x="7636267" y="1466352"/>
                  <a:pt x="7621059" y="1486236"/>
                </a:cubicBezTo>
                <a:cubicBezTo>
                  <a:pt x="7624771" y="1516526"/>
                  <a:pt x="7640092" y="1537976"/>
                  <a:pt x="7633966" y="1569734"/>
                </a:cubicBezTo>
                <a:cubicBezTo>
                  <a:pt x="7636447" y="1570719"/>
                  <a:pt x="7638522" y="1572334"/>
                  <a:pt x="7640304" y="1574384"/>
                </a:cubicBezTo>
                <a:lnTo>
                  <a:pt x="7644628" y="1581242"/>
                </a:lnTo>
                <a:lnTo>
                  <a:pt x="7644313" y="1582567"/>
                </a:lnTo>
                <a:cubicBezTo>
                  <a:pt x="7644257" y="1587776"/>
                  <a:pt x="7645302" y="1590443"/>
                  <a:pt x="7646831" y="1591983"/>
                </a:cubicBezTo>
                <a:cubicBezTo>
                  <a:pt x="7647577" y="1592347"/>
                  <a:pt x="7648323" y="1592711"/>
                  <a:pt x="7649069" y="1593074"/>
                </a:cubicBezTo>
                <a:lnTo>
                  <a:pt x="7651326" y="1599230"/>
                </a:lnTo>
                <a:lnTo>
                  <a:pt x="7657195" y="1610539"/>
                </a:lnTo>
                <a:lnTo>
                  <a:pt x="7656957" y="1613422"/>
                </a:lnTo>
                <a:lnTo>
                  <a:pt x="7663730" y="1631673"/>
                </a:lnTo>
                <a:lnTo>
                  <a:pt x="7663189" y="1632289"/>
                </a:lnTo>
                <a:cubicBezTo>
                  <a:pt x="7662131" y="1634085"/>
                  <a:pt x="7661641" y="1636199"/>
                  <a:pt x="7662326" y="1639024"/>
                </a:cubicBezTo>
                <a:cubicBezTo>
                  <a:pt x="7651979" y="1640024"/>
                  <a:pt x="7659188" y="1642819"/>
                  <a:pt x="7662125" y="1651067"/>
                </a:cubicBezTo>
                <a:cubicBezTo>
                  <a:pt x="7646711" y="1654462"/>
                  <a:pt x="7660667" y="1674670"/>
                  <a:pt x="7653812" y="1683345"/>
                </a:cubicBezTo>
                <a:cubicBezTo>
                  <a:pt x="7656316" y="1689330"/>
                  <a:pt x="7658683" y="1695719"/>
                  <a:pt x="7660803" y="1702414"/>
                </a:cubicBezTo>
                <a:lnTo>
                  <a:pt x="7661867" y="1756201"/>
                </a:lnTo>
                <a:lnTo>
                  <a:pt x="7649453" y="1812530"/>
                </a:lnTo>
                <a:cubicBezTo>
                  <a:pt x="7649183" y="1833366"/>
                  <a:pt x="7644573" y="1851408"/>
                  <a:pt x="7647823" y="1869041"/>
                </a:cubicBezTo>
                <a:cubicBezTo>
                  <a:pt x="7644238" y="1876204"/>
                  <a:pt x="7642789" y="1882956"/>
                  <a:pt x="7648156" y="1889503"/>
                </a:cubicBezTo>
                <a:cubicBezTo>
                  <a:pt x="7646365" y="1908946"/>
                  <a:pt x="7638702" y="1913653"/>
                  <a:pt x="7644679" y="1925974"/>
                </a:cubicBezTo>
                <a:cubicBezTo>
                  <a:pt x="7632281" y="1936898"/>
                  <a:pt x="7637013" y="1937545"/>
                  <a:pt x="7640564" y="1942678"/>
                </a:cubicBezTo>
                <a:lnTo>
                  <a:pt x="7640816" y="1943410"/>
                </a:lnTo>
                <a:lnTo>
                  <a:pt x="7639044" y="1944904"/>
                </a:lnTo>
                <a:lnTo>
                  <a:pt x="7638223" y="1947993"/>
                </a:lnTo>
                <a:lnTo>
                  <a:pt x="7638752" y="1956430"/>
                </a:lnTo>
                <a:lnTo>
                  <a:pt x="7639407" y="1959603"/>
                </a:lnTo>
                <a:cubicBezTo>
                  <a:pt x="7639690" y="1961788"/>
                  <a:pt x="7639658" y="1963239"/>
                  <a:pt x="7639396" y="1964244"/>
                </a:cubicBezTo>
                <a:lnTo>
                  <a:pt x="7639249" y="1964361"/>
                </a:lnTo>
                <a:lnTo>
                  <a:pt x="7639521" y="1968708"/>
                </a:lnTo>
                <a:cubicBezTo>
                  <a:pt x="7640315" y="1976045"/>
                  <a:pt x="7641402" y="1983186"/>
                  <a:pt x="7642694" y="1989983"/>
                </a:cubicBezTo>
                <a:cubicBezTo>
                  <a:pt x="7634556" y="1995729"/>
                  <a:pt x="7644169" y="2020842"/>
                  <a:pt x="7628828" y="2018094"/>
                </a:cubicBezTo>
                <a:cubicBezTo>
                  <a:pt x="7630116" y="2027262"/>
                  <a:pt x="7636485" y="2032807"/>
                  <a:pt x="7626423" y="2029720"/>
                </a:cubicBezTo>
                <a:cubicBezTo>
                  <a:pt x="7626559" y="2032738"/>
                  <a:pt x="7625703" y="2034598"/>
                  <a:pt x="7624364" y="2035929"/>
                </a:cubicBezTo>
                <a:lnTo>
                  <a:pt x="7623733" y="2036314"/>
                </a:lnTo>
                <a:lnTo>
                  <a:pt x="7626847" y="2056711"/>
                </a:lnTo>
                <a:lnTo>
                  <a:pt x="7626090" y="2059419"/>
                </a:lnTo>
                <a:lnTo>
                  <a:pt x="7629618" y="2072712"/>
                </a:lnTo>
                <a:lnTo>
                  <a:pt x="7630641" y="2079581"/>
                </a:lnTo>
                <a:lnTo>
                  <a:pt x="7632577" y="2081522"/>
                </a:lnTo>
                <a:cubicBezTo>
                  <a:pt x="7633753" y="2083617"/>
                  <a:pt x="7634261" y="2086620"/>
                  <a:pt x="7633251" y="2091658"/>
                </a:cubicBezTo>
                <a:lnTo>
                  <a:pt x="7632707" y="2092825"/>
                </a:lnTo>
                <a:lnTo>
                  <a:pt x="7635575" y="2101184"/>
                </a:lnTo>
                <a:cubicBezTo>
                  <a:pt x="7636900" y="2103876"/>
                  <a:pt x="7638586" y="2106260"/>
                  <a:pt x="7640772" y="2108190"/>
                </a:cubicBezTo>
                <a:cubicBezTo>
                  <a:pt x="7629093" y="2136655"/>
                  <a:pt x="7639778" y="2163513"/>
                  <a:pt x="7637758" y="2194409"/>
                </a:cubicBezTo>
                <a:cubicBezTo>
                  <a:pt x="7619585" y="2207765"/>
                  <a:pt x="7641835" y="2261154"/>
                  <a:pt x="7659453" y="2268824"/>
                </a:cubicBezTo>
                <a:cubicBezTo>
                  <a:pt x="7644015" y="2268997"/>
                  <a:pt x="7665037" y="2307714"/>
                  <a:pt x="7665583" y="2317700"/>
                </a:cubicBezTo>
                <a:cubicBezTo>
                  <a:pt x="7665764" y="2321029"/>
                  <a:pt x="7663671" y="2321166"/>
                  <a:pt x="7657195" y="2315619"/>
                </a:cubicBezTo>
                <a:cubicBezTo>
                  <a:pt x="7658997" y="2326231"/>
                  <a:pt x="7650972" y="2337185"/>
                  <a:pt x="7644431" y="2331209"/>
                </a:cubicBezTo>
                <a:cubicBezTo>
                  <a:pt x="7658433" y="2363448"/>
                  <a:pt x="7644510" y="2411031"/>
                  <a:pt x="7650869" y="2447461"/>
                </a:cubicBezTo>
                <a:cubicBezTo>
                  <a:pt x="7635485" y="2467322"/>
                  <a:pt x="7649719" y="2456555"/>
                  <a:pt x="7646841" y="2477156"/>
                </a:cubicBezTo>
                <a:cubicBezTo>
                  <a:pt x="7661004" y="2471521"/>
                  <a:pt x="7638896" y="2502164"/>
                  <a:pt x="7654880" y="2503292"/>
                </a:cubicBezTo>
                <a:cubicBezTo>
                  <a:pt x="7653849" y="2507005"/>
                  <a:pt x="7652348" y="2510567"/>
                  <a:pt x="7650720" y="2514131"/>
                </a:cubicBezTo>
                <a:lnTo>
                  <a:pt x="7649876" y="2516003"/>
                </a:lnTo>
                <a:lnTo>
                  <a:pt x="7649263" y="2523483"/>
                </a:lnTo>
                <a:lnTo>
                  <a:pt x="7645633" y="2525592"/>
                </a:lnTo>
                <a:lnTo>
                  <a:pt x="7642233" y="2536851"/>
                </a:lnTo>
                <a:cubicBezTo>
                  <a:pt x="7641494" y="2541069"/>
                  <a:pt x="7641323" y="2545607"/>
                  <a:pt x="7642069" y="2550622"/>
                </a:cubicBezTo>
                <a:cubicBezTo>
                  <a:pt x="7648404" y="2562959"/>
                  <a:pt x="7640640" y="2582170"/>
                  <a:pt x="7641110" y="2599544"/>
                </a:cubicBezTo>
                <a:lnTo>
                  <a:pt x="7643071" y="2607523"/>
                </a:lnTo>
                <a:lnTo>
                  <a:pt x="7639801" y="2633566"/>
                </a:lnTo>
                <a:cubicBezTo>
                  <a:pt x="7639166" y="2640978"/>
                  <a:pt x="7638833" y="2648672"/>
                  <a:pt x="7639065" y="2656773"/>
                </a:cubicBezTo>
                <a:lnTo>
                  <a:pt x="7640624" y="2671810"/>
                </a:lnTo>
                <a:lnTo>
                  <a:pt x="7639332" y="2675751"/>
                </a:lnTo>
                <a:cubicBezTo>
                  <a:pt x="7639476" y="2682617"/>
                  <a:pt x="7644027" y="2691703"/>
                  <a:pt x="7638498" y="2690893"/>
                </a:cubicBezTo>
                <a:lnTo>
                  <a:pt x="7640415" y="2698606"/>
                </a:lnTo>
                <a:lnTo>
                  <a:pt x="7636002" y="2706218"/>
                </a:lnTo>
                <a:cubicBezTo>
                  <a:pt x="7634978" y="2707053"/>
                  <a:pt x="7633887" y="2707679"/>
                  <a:pt x="7632770" y="2708079"/>
                </a:cubicBezTo>
                <a:lnTo>
                  <a:pt x="7634220" y="2718854"/>
                </a:lnTo>
                <a:lnTo>
                  <a:pt x="7631061" y="2727688"/>
                </a:lnTo>
                <a:lnTo>
                  <a:pt x="7633127" y="2735389"/>
                </a:lnTo>
                <a:lnTo>
                  <a:pt x="7632661" y="2738584"/>
                </a:lnTo>
                <a:lnTo>
                  <a:pt x="7631098" y="2746529"/>
                </a:lnTo>
                <a:cubicBezTo>
                  <a:pt x="7630002" y="2750602"/>
                  <a:pt x="7628681" y="2755160"/>
                  <a:pt x="7627624" y="2760235"/>
                </a:cubicBezTo>
                <a:lnTo>
                  <a:pt x="7627140" y="2764511"/>
                </a:lnTo>
                <a:lnTo>
                  <a:pt x="7621827" y="2773820"/>
                </a:lnTo>
                <a:cubicBezTo>
                  <a:pt x="7617811" y="2780593"/>
                  <a:pt x="7615104" y="2785923"/>
                  <a:pt x="7617284" y="2791840"/>
                </a:cubicBezTo>
                <a:cubicBezTo>
                  <a:pt x="7612094" y="2801924"/>
                  <a:pt x="7597550" y="2808970"/>
                  <a:pt x="7601430" y="2823567"/>
                </a:cubicBezTo>
                <a:cubicBezTo>
                  <a:pt x="7594841" y="2819137"/>
                  <a:pt x="7600633" y="2839778"/>
                  <a:pt x="7593865" y="2842217"/>
                </a:cubicBezTo>
                <a:cubicBezTo>
                  <a:pt x="7588415" y="2843342"/>
                  <a:pt x="7588901" y="2849866"/>
                  <a:pt x="7586893" y="2854834"/>
                </a:cubicBezTo>
                <a:cubicBezTo>
                  <a:pt x="7581327" y="2858374"/>
                  <a:pt x="7576244" y="2883372"/>
                  <a:pt x="7577046" y="2892075"/>
                </a:cubicBezTo>
                <a:cubicBezTo>
                  <a:pt x="7582584" y="2916606"/>
                  <a:pt x="7560175" y="2936338"/>
                  <a:pt x="7564026" y="2955950"/>
                </a:cubicBezTo>
                <a:cubicBezTo>
                  <a:pt x="7563501" y="2961086"/>
                  <a:pt x="7562240" y="2965343"/>
                  <a:pt x="7560529" y="2969031"/>
                </a:cubicBezTo>
                <a:lnTo>
                  <a:pt x="7554631" y="2978222"/>
                </a:lnTo>
                <a:lnTo>
                  <a:pt x="7550747" y="2978564"/>
                </a:lnTo>
                <a:lnTo>
                  <a:pt x="7548359" y="2985429"/>
                </a:lnTo>
                <a:lnTo>
                  <a:pt x="7547120" y="2986826"/>
                </a:lnTo>
                <a:cubicBezTo>
                  <a:pt x="7544741" y="2989483"/>
                  <a:pt x="7542480" y="2992194"/>
                  <a:pt x="7540621" y="2995267"/>
                </a:cubicBezTo>
                <a:cubicBezTo>
                  <a:pt x="7555200" y="3003715"/>
                  <a:pt x="7527208" y="3022799"/>
                  <a:pt x="7541739" y="3023946"/>
                </a:cubicBezTo>
                <a:cubicBezTo>
                  <a:pt x="7534059" y="3042303"/>
                  <a:pt x="7549904" y="3038579"/>
                  <a:pt x="7530781" y="3050462"/>
                </a:cubicBezTo>
                <a:cubicBezTo>
                  <a:pt x="7527838" y="3088204"/>
                  <a:pt x="7503338" y="3127251"/>
                  <a:pt x="7508515" y="3164510"/>
                </a:cubicBezTo>
                <a:cubicBezTo>
                  <a:pt x="7503888" y="3155782"/>
                  <a:pt x="7493770" y="3162549"/>
                  <a:pt x="7492866" y="3173520"/>
                </a:cubicBezTo>
                <a:cubicBezTo>
                  <a:pt x="7474179" y="3140376"/>
                  <a:pt x="7498581" y="3226463"/>
                  <a:pt x="7479395" y="3217191"/>
                </a:cubicBezTo>
                <a:cubicBezTo>
                  <a:pt x="7493905" y="3232643"/>
                  <a:pt x="7501608" y="3293915"/>
                  <a:pt x="7481475" y="3298298"/>
                </a:cubicBezTo>
                <a:cubicBezTo>
                  <a:pt x="7472089" y="3326890"/>
                  <a:pt x="7475493" y="3357480"/>
                  <a:pt x="7457722" y="3379292"/>
                </a:cubicBezTo>
                <a:cubicBezTo>
                  <a:pt x="7459285" y="3382143"/>
                  <a:pt x="7460273" y="3385199"/>
                  <a:pt x="7460850" y="3388381"/>
                </a:cubicBezTo>
                <a:lnTo>
                  <a:pt x="7461482" y="3397694"/>
                </a:lnTo>
                <a:lnTo>
                  <a:pt x="7460695" y="3398556"/>
                </a:lnTo>
                <a:cubicBezTo>
                  <a:pt x="7458532" y="3402904"/>
                  <a:pt x="7458275" y="3406007"/>
                  <a:pt x="7458858" y="3408553"/>
                </a:cubicBezTo>
                <a:lnTo>
                  <a:pt x="7460185" y="3411299"/>
                </a:lnTo>
                <a:lnTo>
                  <a:pt x="7459468" y="3418333"/>
                </a:lnTo>
                <a:lnTo>
                  <a:pt x="7459515" y="3432662"/>
                </a:lnTo>
                <a:lnTo>
                  <a:pt x="7458154" y="3434902"/>
                </a:lnTo>
                <a:lnTo>
                  <a:pt x="7456091" y="3455825"/>
                </a:lnTo>
                <a:cubicBezTo>
                  <a:pt x="7455865" y="3455850"/>
                  <a:pt x="7455638" y="3455877"/>
                  <a:pt x="7455413" y="3455903"/>
                </a:cubicBezTo>
                <a:cubicBezTo>
                  <a:pt x="7453843" y="3456557"/>
                  <a:pt x="7452596" y="3457940"/>
                  <a:pt x="7451989" y="3460886"/>
                </a:cubicBezTo>
                <a:cubicBezTo>
                  <a:pt x="7443388" y="3453296"/>
                  <a:pt x="7447961" y="3461529"/>
                  <a:pt x="7446929" y="3470886"/>
                </a:cubicBezTo>
                <a:cubicBezTo>
                  <a:pt x="7433341" y="3461186"/>
                  <a:pt x="7436171" y="3489615"/>
                  <a:pt x="7427213" y="3491353"/>
                </a:cubicBezTo>
                <a:cubicBezTo>
                  <a:pt x="7426761" y="3498443"/>
                  <a:pt x="7426037" y="3505767"/>
                  <a:pt x="7424990" y="3513143"/>
                </a:cubicBezTo>
                <a:lnTo>
                  <a:pt x="7424186" y="3517424"/>
                </a:lnTo>
                <a:cubicBezTo>
                  <a:pt x="7424132" y="3517438"/>
                  <a:pt x="7424077" y="3517453"/>
                  <a:pt x="7424024" y="3517467"/>
                </a:cubicBezTo>
                <a:cubicBezTo>
                  <a:pt x="7423536" y="3518305"/>
                  <a:pt x="7423153" y="3519678"/>
                  <a:pt x="7422883" y="3521896"/>
                </a:cubicBezTo>
                <a:lnTo>
                  <a:pt x="7422723" y="3525229"/>
                </a:lnTo>
                <a:lnTo>
                  <a:pt x="7421163" y="3533534"/>
                </a:lnTo>
                <a:lnTo>
                  <a:pt x="7419650" y="3536108"/>
                </a:lnTo>
                <a:lnTo>
                  <a:pt x="7417640" y="3536718"/>
                </a:lnTo>
                <a:lnTo>
                  <a:pt x="7417697" y="3537534"/>
                </a:lnTo>
                <a:cubicBezTo>
                  <a:pt x="7419749" y="3544077"/>
                  <a:pt x="7423989" y="3546875"/>
                  <a:pt x="7409814" y="3551598"/>
                </a:cubicBezTo>
                <a:cubicBezTo>
                  <a:pt x="7412376" y="3566128"/>
                  <a:pt x="7404108" y="3567090"/>
                  <a:pt x="7397719" y="3584844"/>
                </a:cubicBezTo>
                <a:cubicBezTo>
                  <a:pt x="7401116" y="3593573"/>
                  <a:pt x="7398130" y="3599358"/>
                  <a:pt x="7393057" y="3604546"/>
                </a:cubicBezTo>
                <a:cubicBezTo>
                  <a:pt x="7391792" y="3622895"/>
                  <a:pt x="7383125" y="3638008"/>
                  <a:pt x="7377811" y="3657793"/>
                </a:cubicBezTo>
                <a:cubicBezTo>
                  <a:pt x="7379886" y="3680874"/>
                  <a:pt x="7366255" y="3689531"/>
                  <a:pt x="7360624" y="3710685"/>
                </a:cubicBezTo>
                <a:cubicBezTo>
                  <a:pt x="7367950" y="3731637"/>
                  <a:pt x="7347999" y="3723947"/>
                  <a:pt x="7341489" y="3734006"/>
                </a:cubicBezTo>
                <a:lnTo>
                  <a:pt x="7340478" y="3737028"/>
                </a:lnTo>
                <a:lnTo>
                  <a:pt x="7340489" y="3745476"/>
                </a:lnTo>
                <a:lnTo>
                  <a:pt x="7340950" y="3748687"/>
                </a:lnTo>
                <a:cubicBezTo>
                  <a:pt x="7341098" y="3750887"/>
                  <a:pt x="7340976" y="3752333"/>
                  <a:pt x="7340653" y="3753314"/>
                </a:cubicBezTo>
                <a:lnTo>
                  <a:pt x="7340500" y="3753419"/>
                </a:lnTo>
                <a:lnTo>
                  <a:pt x="7340506" y="3757774"/>
                </a:lnTo>
                <a:cubicBezTo>
                  <a:pt x="7340847" y="3765147"/>
                  <a:pt x="7341495" y="3772345"/>
                  <a:pt x="7342369" y="3779218"/>
                </a:cubicBezTo>
                <a:cubicBezTo>
                  <a:pt x="7333890" y="3784348"/>
                  <a:pt x="7341949" y="3810090"/>
                  <a:pt x="7326800" y="3806225"/>
                </a:cubicBezTo>
                <a:cubicBezTo>
                  <a:pt x="7327524" y="3815461"/>
                  <a:pt x="7333545" y="3821456"/>
                  <a:pt x="7323686" y="3817640"/>
                </a:cubicBezTo>
                <a:cubicBezTo>
                  <a:pt x="7323637" y="3820659"/>
                  <a:pt x="7322668" y="3822449"/>
                  <a:pt x="7321247" y="3823678"/>
                </a:cubicBezTo>
                <a:lnTo>
                  <a:pt x="7320595" y="3824018"/>
                </a:lnTo>
                <a:lnTo>
                  <a:pt x="7322453" y="3844579"/>
                </a:lnTo>
                <a:lnTo>
                  <a:pt x="7321532" y="3847225"/>
                </a:lnTo>
                <a:lnTo>
                  <a:pt x="7324238" y="3860736"/>
                </a:lnTo>
                <a:lnTo>
                  <a:pt x="7324840" y="3867658"/>
                </a:lnTo>
                <a:lnTo>
                  <a:pt x="7326655" y="3869733"/>
                </a:lnTo>
                <a:cubicBezTo>
                  <a:pt x="7327701" y="3871909"/>
                  <a:pt x="7328023" y="3874942"/>
                  <a:pt x="7326706" y="3879891"/>
                </a:cubicBezTo>
                <a:lnTo>
                  <a:pt x="7326093" y="3881013"/>
                </a:lnTo>
                <a:lnTo>
                  <a:pt x="7328442" y="3889558"/>
                </a:lnTo>
                <a:cubicBezTo>
                  <a:pt x="7329602" y="3892339"/>
                  <a:pt x="7331138" y="3894839"/>
                  <a:pt x="7333203" y="3896924"/>
                </a:cubicBezTo>
                <a:cubicBezTo>
                  <a:pt x="7319795" y="3924445"/>
                  <a:pt x="7328820" y="3952004"/>
                  <a:pt x="7324908" y="3982658"/>
                </a:cubicBezTo>
                <a:cubicBezTo>
                  <a:pt x="7325522" y="4017325"/>
                  <a:pt x="7327874" y="4041416"/>
                  <a:pt x="7327588" y="4064228"/>
                </a:cubicBezTo>
                <a:cubicBezTo>
                  <a:pt x="7328735" y="4074940"/>
                  <a:pt x="7329351" y="4153102"/>
                  <a:pt x="7323186" y="4146664"/>
                </a:cubicBezTo>
                <a:cubicBezTo>
                  <a:pt x="7335189" y="4179829"/>
                  <a:pt x="7318370" y="4199117"/>
                  <a:pt x="7322488" y="4235901"/>
                </a:cubicBezTo>
                <a:cubicBezTo>
                  <a:pt x="7305909" y="4254573"/>
                  <a:pt x="7320783" y="4244884"/>
                  <a:pt x="7316645" y="4265209"/>
                </a:cubicBezTo>
                <a:cubicBezTo>
                  <a:pt x="7331133" y="4260631"/>
                  <a:pt x="7307179" y="4289560"/>
                  <a:pt x="7323069" y="4291857"/>
                </a:cubicBezTo>
                <a:cubicBezTo>
                  <a:pt x="7321814" y="4295483"/>
                  <a:pt x="7320095" y="4298923"/>
                  <a:pt x="7318251" y="4302359"/>
                </a:cubicBezTo>
                <a:lnTo>
                  <a:pt x="7317295" y="4304161"/>
                </a:lnTo>
                <a:lnTo>
                  <a:pt x="7316223" y="4311573"/>
                </a:lnTo>
                <a:lnTo>
                  <a:pt x="7312469" y="4313411"/>
                </a:lnTo>
                <a:lnTo>
                  <a:pt x="7306447" y="4403491"/>
                </a:lnTo>
                <a:cubicBezTo>
                  <a:pt x="7308849" y="4411399"/>
                  <a:pt x="7308497" y="4436984"/>
                  <a:pt x="7303688" y="4442497"/>
                </a:cubicBezTo>
                <a:cubicBezTo>
                  <a:pt x="7302637" y="4447969"/>
                  <a:pt x="7304327" y="4453942"/>
                  <a:pt x="7299181" y="4457128"/>
                </a:cubicBezTo>
                <a:cubicBezTo>
                  <a:pt x="7296154" y="4469016"/>
                  <a:pt x="7289197" y="4496240"/>
                  <a:pt x="7285530" y="4513823"/>
                </a:cubicBezTo>
                <a:cubicBezTo>
                  <a:pt x="7288769" y="4518560"/>
                  <a:pt x="7287100" y="4524649"/>
                  <a:pt x="7284412" y="4532609"/>
                </a:cubicBezTo>
                <a:lnTo>
                  <a:pt x="7282601" y="4540125"/>
                </a:lnTo>
                <a:lnTo>
                  <a:pt x="7291785" y="4563650"/>
                </a:lnTo>
                <a:lnTo>
                  <a:pt x="7284191" y="4636427"/>
                </a:lnTo>
                <a:lnTo>
                  <a:pt x="7292797" y="4672055"/>
                </a:lnTo>
                <a:cubicBezTo>
                  <a:pt x="7294304" y="4686552"/>
                  <a:pt x="7294421" y="4700466"/>
                  <a:pt x="7295425" y="4713953"/>
                </a:cubicBezTo>
                <a:cubicBezTo>
                  <a:pt x="7296104" y="4744441"/>
                  <a:pt x="7280378" y="4723911"/>
                  <a:pt x="7292574" y="4762180"/>
                </a:cubicBezTo>
                <a:cubicBezTo>
                  <a:pt x="7286719" y="4766152"/>
                  <a:pt x="7286266" y="4770971"/>
                  <a:pt x="7288689" y="4779168"/>
                </a:cubicBezTo>
                <a:cubicBezTo>
                  <a:pt x="7288592" y="4793971"/>
                  <a:pt x="7274303" y="4792486"/>
                  <a:pt x="7282355" y="4807636"/>
                </a:cubicBezTo>
                <a:cubicBezTo>
                  <a:pt x="7278556" y="4806204"/>
                  <a:pt x="7277539" y="4813202"/>
                  <a:pt x="7276505" y="4819678"/>
                </a:cubicBezTo>
                <a:lnTo>
                  <a:pt x="7273752" y="4823797"/>
                </a:lnTo>
                <a:lnTo>
                  <a:pt x="7283683" y="4847794"/>
                </a:lnTo>
                <a:cubicBezTo>
                  <a:pt x="7296832" y="4890479"/>
                  <a:pt x="7302379" y="4941877"/>
                  <a:pt x="7311552" y="4978326"/>
                </a:cubicBezTo>
                <a:cubicBezTo>
                  <a:pt x="7284161" y="4998846"/>
                  <a:pt x="7309660" y="4989594"/>
                  <a:pt x="7304880" y="5015024"/>
                </a:cubicBezTo>
                <a:cubicBezTo>
                  <a:pt x="7330355" y="5012307"/>
                  <a:pt x="7291032" y="5044485"/>
                  <a:pt x="7319932" y="5050993"/>
                </a:cubicBezTo>
                <a:cubicBezTo>
                  <a:pt x="7318148" y="5055414"/>
                  <a:pt x="7315506" y="5059493"/>
                  <a:pt x="7312641" y="5063537"/>
                </a:cubicBezTo>
                <a:lnTo>
                  <a:pt x="7311153" y="5065661"/>
                </a:lnTo>
                <a:lnTo>
                  <a:pt x="7310197" y="5075032"/>
                </a:lnTo>
                <a:lnTo>
                  <a:pt x="7303683" y="5076576"/>
                </a:lnTo>
                <a:lnTo>
                  <a:pt x="7297768" y="5089898"/>
                </a:lnTo>
                <a:cubicBezTo>
                  <a:pt x="7296519" y="5095057"/>
                  <a:pt x="7296302" y="5100805"/>
                  <a:pt x="7297750" y="5107454"/>
                </a:cubicBezTo>
                <a:cubicBezTo>
                  <a:pt x="7309447" y="5125240"/>
                  <a:pt x="7295812" y="5147341"/>
                  <a:pt x="7297014" y="5169708"/>
                </a:cubicBezTo>
                <a:lnTo>
                  <a:pt x="7300719" y="5180532"/>
                </a:lnTo>
                <a:lnTo>
                  <a:pt x="7295705" y="5210620"/>
                </a:lnTo>
                <a:lnTo>
                  <a:pt x="7296901" y="5212749"/>
                </a:lnTo>
                <a:cubicBezTo>
                  <a:pt x="7296704" y="5218058"/>
                  <a:pt x="7294377" y="5228574"/>
                  <a:pt x="7294523" y="5242477"/>
                </a:cubicBezTo>
                <a:lnTo>
                  <a:pt x="7297776" y="5296160"/>
                </a:lnTo>
                <a:lnTo>
                  <a:pt x="7289955" y="5304499"/>
                </a:lnTo>
                <a:lnTo>
                  <a:pt x="7286210" y="5305374"/>
                </a:lnTo>
                <a:lnTo>
                  <a:pt x="7286995" y="5320092"/>
                </a:lnTo>
                <a:lnTo>
                  <a:pt x="7281550" y="5330613"/>
                </a:lnTo>
                <a:lnTo>
                  <a:pt x="7285354" y="5340890"/>
                </a:lnTo>
                <a:lnTo>
                  <a:pt x="7281914" y="5354491"/>
                </a:lnTo>
                <a:cubicBezTo>
                  <a:pt x="7280017" y="5359352"/>
                  <a:pt x="7277725" y="5364763"/>
                  <a:pt x="7275918" y="5370917"/>
                </a:cubicBezTo>
                <a:lnTo>
                  <a:pt x="7267655" y="5384350"/>
                </a:lnTo>
                <a:lnTo>
                  <a:pt x="7263791" y="5406610"/>
                </a:lnTo>
                <a:cubicBezTo>
                  <a:pt x="7260956" y="5423841"/>
                  <a:pt x="7257650" y="5440271"/>
                  <a:pt x="7251522" y="5456222"/>
                </a:cubicBezTo>
                <a:cubicBezTo>
                  <a:pt x="7253699" y="5469913"/>
                  <a:pt x="7252931" y="5482529"/>
                  <a:pt x="7242311" y="5493751"/>
                </a:cubicBezTo>
                <a:cubicBezTo>
                  <a:pt x="7236636" y="5529727"/>
                  <a:pt x="7245809" y="5539513"/>
                  <a:pt x="7231835" y="5561252"/>
                </a:cubicBezTo>
                <a:cubicBezTo>
                  <a:pt x="7236311" y="5568555"/>
                  <a:pt x="7238499" y="5573475"/>
                  <a:pt x="7239152" y="5577121"/>
                </a:cubicBezTo>
                <a:cubicBezTo>
                  <a:pt x="7241111" y="5588065"/>
                  <a:pt x="7229268" y="5587525"/>
                  <a:pt x="7224043" y="5605355"/>
                </a:cubicBezTo>
                <a:cubicBezTo>
                  <a:pt x="7216774" y="5624244"/>
                  <a:pt x="7213225" y="5590845"/>
                  <a:pt x="7209229" y="5609118"/>
                </a:cubicBezTo>
                <a:cubicBezTo>
                  <a:pt x="7212098" y="5628346"/>
                  <a:pt x="7194168" y="5628785"/>
                  <a:pt x="7198222" y="5648700"/>
                </a:cubicBezTo>
                <a:cubicBezTo>
                  <a:pt x="7212577" y="5642705"/>
                  <a:pt x="7189541" y="5689259"/>
                  <a:pt x="7201221" y="5689771"/>
                </a:cubicBezTo>
                <a:cubicBezTo>
                  <a:pt x="7181618" y="5708428"/>
                  <a:pt x="7201258" y="5715573"/>
                  <a:pt x="7192555" y="5739098"/>
                </a:cubicBezTo>
                <a:cubicBezTo>
                  <a:pt x="7184486" y="5750478"/>
                  <a:pt x="7182208" y="5758416"/>
                  <a:pt x="7187522" y="5768603"/>
                </a:cubicBezTo>
                <a:cubicBezTo>
                  <a:pt x="7148692" y="5821144"/>
                  <a:pt x="7181577" y="5799065"/>
                  <a:pt x="7162500" y="5846928"/>
                </a:cubicBezTo>
                <a:lnTo>
                  <a:pt x="7160827" y="5850799"/>
                </a:lnTo>
                <a:lnTo>
                  <a:pt x="7163312" y="5866636"/>
                </a:lnTo>
                <a:cubicBezTo>
                  <a:pt x="7163884" y="5867070"/>
                  <a:pt x="7164455" y="5867505"/>
                  <a:pt x="7165029" y="5867939"/>
                </a:cubicBezTo>
                <a:lnTo>
                  <a:pt x="7142501" y="5914339"/>
                </a:lnTo>
                <a:lnTo>
                  <a:pt x="7143151" y="5921221"/>
                </a:lnTo>
                <a:lnTo>
                  <a:pt x="7123808" y="5950546"/>
                </a:lnTo>
                <a:lnTo>
                  <a:pt x="7116299" y="5966186"/>
                </a:lnTo>
                <a:lnTo>
                  <a:pt x="7106117" y="5983669"/>
                </a:lnTo>
                <a:lnTo>
                  <a:pt x="7109622" y="5995569"/>
                </a:lnTo>
                <a:cubicBezTo>
                  <a:pt x="7114727" y="6023526"/>
                  <a:pt x="7092983" y="6067450"/>
                  <a:pt x="7116605" y="6077139"/>
                </a:cubicBezTo>
                <a:cubicBezTo>
                  <a:pt x="7102148" y="6089933"/>
                  <a:pt x="7125501" y="6101908"/>
                  <a:pt x="7127573" y="6115892"/>
                </a:cubicBezTo>
                <a:cubicBezTo>
                  <a:pt x="7118381" y="6127056"/>
                  <a:pt x="7126331" y="6132595"/>
                  <a:pt x="7128098" y="6142737"/>
                </a:cubicBezTo>
                <a:cubicBezTo>
                  <a:pt x="7122429" y="6147329"/>
                  <a:pt x="7122724" y="6155912"/>
                  <a:pt x="7129375" y="6158833"/>
                </a:cubicBezTo>
                <a:cubicBezTo>
                  <a:pt x="7144709" y="6154689"/>
                  <a:pt x="7137060" y="6184499"/>
                  <a:pt x="7147635" y="6186714"/>
                </a:cubicBezTo>
                <a:cubicBezTo>
                  <a:pt x="7149842" y="6204016"/>
                  <a:pt x="7136414" y="6279145"/>
                  <a:pt x="7153343" y="6291871"/>
                </a:cubicBezTo>
                <a:cubicBezTo>
                  <a:pt x="7161381" y="6326852"/>
                  <a:pt x="7134450" y="6377408"/>
                  <a:pt x="7134923" y="6392273"/>
                </a:cubicBezTo>
                <a:cubicBezTo>
                  <a:pt x="7103997" y="6407024"/>
                  <a:pt x="7185503" y="6478818"/>
                  <a:pt x="7187236" y="6541940"/>
                </a:cubicBezTo>
                <a:cubicBezTo>
                  <a:pt x="7184250" y="6550446"/>
                  <a:pt x="7184290" y="6554993"/>
                  <a:pt x="7191340" y="6557275"/>
                </a:cubicBezTo>
                <a:cubicBezTo>
                  <a:pt x="7195412" y="6573685"/>
                  <a:pt x="7202070" y="6606060"/>
                  <a:pt x="7211670" y="6640404"/>
                </a:cubicBezTo>
                <a:cubicBezTo>
                  <a:pt x="7219591" y="6666216"/>
                  <a:pt x="7212698" y="6793331"/>
                  <a:pt x="7221085" y="6827708"/>
                </a:cubicBezTo>
                <a:lnTo>
                  <a:pt x="7227698" y="6857999"/>
                </a:lnTo>
                <a:lnTo>
                  <a:pt x="0" y="6857999"/>
                </a:lnTo>
                <a:close/>
              </a:path>
            </a:pathLst>
          </a:custGeom>
        </p:spPr>
      </p:pic>
    </p:spTree>
    <p:extLst>
      <p:ext uri="{BB962C8B-B14F-4D97-AF65-F5344CB8AC3E}">
        <p14:creationId xmlns:p14="http://schemas.microsoft.com/office/powerpoint/2010/main" val="4002124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6" name="Rectangle 365">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8" name="Oval 367">
            <a:extLst>
              <a:ext uri="{FF2B5EF4-FFF2-40B4-BE49-F238E27FC236}">
                <a16:creationId xmlns:a16="http://schemas.microsoft.com/office/drawing/2014/main" id="{4E0A5C5C-2A95-428E-9F6A-0D29EBD57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8395" y="1040837"/>
            <a:ext cx="4754948" cy="4754948"/>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1056F38F-7C4E-461D-8709-7D0024AE1F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9411" y="1029607"/>
            <a:ext cx="4754948" cy="4754948"/>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C7278469-3C3C-49CE-AEEE-E176A4900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9960" y="934855"/>
            <a:ext cx="4754948" cy="4754948"/>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496C45-5211-2A59-33E4-0A766850EEC6}"/>
              </a:ext>
            </a:extLst>
          </p:cNvPr>
          <p:cNvSpPr>
            <a:spLocks noGrp="1"/>
          </p:cNvSpPr>
          <p:nvPr>
            <p:ph type="title"/>
          </p:nvPr>
        </p:nvSpPr>
        <p:spPr>
          <a:xfrm>
            <a:off x="1102368" y="1877492"/>
            <a:ext cx="4030132" cy="3215373"/>
          </a:xfrm>
        </p:spPr>
        <p:txBody>
          <a:bodyPr>
            <a:normAutofit/>
          </a:bodyPr>
          <a:lstStyle/>
          <a:p>
            <a:pPr algn="ctr"/>
            <a:r>
              <a:rPr lang="en-US">
                <a:solidFill>
                  <a:schemeClr val="bg1"/>
                </a:solidFill>
              </a:rPr>
              <a:t>Agenda</a:t>
            </a:r>
          </a:p>
        </p:txBody>
      </p:sp>
      <p:grpSp>
        <p:nvGrpSpPr>
          <p:cNvPr id="374" name="Group 373">
            <a:extLst>
              <a:ext uri="{FF2B5EF4-FFF2-40B4-BE49-F238E27FC236}">
                <a16:creationId xmlns:a16="http://schemas.microsoft.com/office/drawing/2014/main" id="{93DC754C-7E09-422D-A8BB-AF632E90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375" name="Freeform: Shape 374">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376" name="Freeform: Shape 375">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78" name="Graphic 212">
            <a:extLst>
              <a:ext uri="{FF2B5EF4-FFF2-40B4-BE49-F238E27FC236}">
                <a16:creationId xmlns:a16="http://schemas.microsoft.com/office/drawing/2014/main" id="{4C6598AB-1C17-4D54-951C-A082D94AC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0" name="Graphic 212">
            <a:extLst>
              <a:ext uri="{FF2B5EF4-FFF2-40B4-BE49-F238E27FC236}">
                <a16:creationId xmlns:a16="http://schemas.microsoft.com/office/drawing/2014/main" id="{C83B66D7-137D-4AC1-B172-53D60F08BE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524" y="457812"/>
            <a:ext cx="914565" cy="914565"/>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382" name="Oval 381">
            <a:extLst>
              <a:ext uri="{FF2B5EF4-FFF2-40B4-BE49-F238E27FC236}">
                <a16:creationId xmlns:a16="http://schemas.microsoft.com/office/drawing/2014/main" id="{F6B92503-6984-4D15-8B98-8718709B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4" name="Oval 383">
            <a:extLst>
              <a:ext uri="{FF2B5EF4-FFF2-40B4-BE49-F238E27FC236}">
                <a16:creationId xmlns:a16="http://schemas.microsoft.com/office/drawing/2014/main" id="{08DDF938-524E-4C18-A47D-C00627832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976" y="4946663"/>
            <a:ext cx="319941" cy="31994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Rectangle 1">
            <a:extLst>
              <a:ext uri="{FF2B5EF4-FFF2-40B4-BE49-F238E27FC236}">
                <a16:creationId xmlns:a16="http://schemas.microsoft.com/office/drawing/2014/main" id="{D0BCC245-AB65-C565-7EC8-4606223B95FD}"/>
              </a:ext>
            </a:extLst>
          </p:cNvPr>
          <p:cNvSpPr>
            <a:spLocks noGrp="1" noChangeArrowheads="1"/>
          </p:cNvSpPr>
          <p:nvPr>
            <p:ph idx="1"/>
          </p:nvPr>
        </p:nvSpPr>
        <p:spPr bwMode="auto">
          <a:xfrm>
            <a:off x="5914042" y="507945"/>
            <a:ext cx="5710389" cy="610120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lnSpc>
                <a:spcPct val="80000"/>
              </a:lnSpc>
              <a:spcBef>
                <a:spcPct val="0"/>
              </a:spcBef>
              <a:spcAft>
                <a:spcPts val="60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Motivation &amp; Related Work:</a:t>
            </a:r>
            <a:r>
              <a:rPr kumimoji="0" lang="en-US" altLang="en-US" sz="2000" b="0" i="0" u="none" strike="noStrike" cap="none" normalizeH="0" baseline="0" dirty="0">
                <a:ln>
                  <a:noFill/>
                </a:ln>
                <a:solidFill>
                  <a:schemeClr val="bg1"/>
                </a:solidFill>
                <a:effectLst/>
                <a:latin typeface="Arial" panose="020B0604020202020204" pitchFamily="34" charset="0"/>
              </a:rPr>
              <a:t> Why this?</a:t>
            </a:r>
          </a:p>
          <a:p>
            <a:pPr marL="0" marR="0" lvl="0" indent="0" defTabSz="914400" rtl="0" eaLnBrk="0" fontAlgn="base" latinLnBrk="0" hangingPunct="0">
              <a:lnSpc>
                <a:spcPct val="80000"/>
              </a:lnSpc>
              <a:spcBef>
                <a:spcPct val="0"/>
              </a:spcBef>
              <a:spcAft>
                <a:spcPts val="600"/>
              </a:spcAft>
              <a:buClrTx/>
              <a:buSzTx/>
              <a:buFontTx/>
              <a:buChar char="•"/>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80000"/>
              </a:lnSpc>
              <a:spcBef>
                <a:spcPct val="0"/>
              </a:spcBef>
              <a:spcAft>
                <a:spcPts val="60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The Logic:</a:t>
            </a:r>
            <a:r>
              <a:rPr kumimoji="0" lang="en-US" altLang="en-US" sz="2000" b="0" i="0" u="none" strike="noStrike" cap="none" normalizeH="0" baseline="0" dirty="0">
                <a:ln>
                  <a:noFill/>
                </a:ln>
                <a:solidFill>
                  <a:schemeClr val="bg1"/>
                </a:solidFill>
                <a:effectLst/>
                <a:latin typeface="Arial" panose="020B0604020202020204" pitchFamily="34" charset="0"/>
              </a:rPr>
              <a:t> Market Micro-Structure &amp; Auction Theory.</a:t>
            </a:r>
          </a:p>
          <a:p>
            <a:pPr marL="0" marR="0" lvl="0" indent="0" defTabSz="914400" rtl="0" eaLnBrk="0" fontAlgn="base" latinLnBrk="0" hangingPunct="0">
              <a:lnSpc>
                <a:spcPct val="80000"/>
              </a:lnSpc>
              <a:spcBef>
                <a:spcPct val="0"/>
              </a:spcBef>
              <a:spcAft>
                <a:spcPts val="600"/>
              </a:spcAft>
              <a:buClrTx/>
              <a:buSzTx/>
              <a:buFontTx/>
              <a:buChar char="•"/>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80000"/>
              </a:lnSpc>
              <a:spcBef>
                <a:spcPct val="0"/>
              </a:spcBef>
              <a:spcAft>
                <a:spcPts val="60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The Strategy:</a:t>
            </a:r>
            <a:r>
              <a:rPr kumimoji="0" lang="en-US" altLang="en-US" sz="2000" b="0" i="0" u="none" strike="noStrike" cap="none" normalizeH="0" baseline="0" dirty="0">
                <a:ln>
                  <a:noFill/>
                </a:ln>
                <a:solidFill>
                  <a:schemeClr val="bg1"/>
                </a:solidFill>
                <a:effectLst/>
                <a:latin typeface="Arial" panose="020B0604020202020204" pitchFamily="34" charset="0"/>
              </a:rPr>
              <a:t> How we trade "Imbalance.”</a:t>
            </a:r>
          </a:p>
          <a:p>
            <a:pPr marL="0" marR="0" lvl="0" indent="0" defTabSz="914400" rtl="0" eaLnBrk="0" fontAlgn="base" latinLnBrk="0" hangingPunct="0">
              <a:lnSpc>
                <a:spcPct val="80000"/>
              </a:lnSpc>
              <a:spcBef>
                <a:spcPct val="0"/>
              </a:spcBef>
              <a:spcAft>
                <a:spcPts val="600"/>
              </a:spcAft>
              <a:buClrTx/>
              <a:buSzTx/>
              <a:buFontTx/>
              <a:buChar char="•"/>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80000"/>
              </a:lnSpc>
              <a:spcBef>
                <a:spcPct val="0"/>
              </a:spcBef>
              <a:spcAft>
                <a:spcPts val="60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System Architecture:</a:t>
            </a:r>
            <a:r>
              <a:rPr kumimoji="0" lang="en-US" altLang="en-US" sz="2000" b="0" i="0" u="none" strike="noStrike" cap="none" normalizeH="0" baseline="0" dirty="0">
                <a:ln>
                  <a:noFill/>
                </a:ln>
                <a:solidFill>
                  <a:schemeClr val="bg1"/>
                </a:solidFill>
                <a:effectLst/>
                <a:latin typeface="Arial" panose="020B0604020202020204" pitchFamily="34" charset="0"/>
              </a:rPr>
              <a:t> Data &amp; Training Setup.</a:t>
            </a:r>
          </a:p>
          <a:p>
            <a:pPr marL="0" marR="0" lvl="0" indent="0" defTabSz="914400" rtl="0" eaLnBrk="0" fontAlgn="base" latinLnBrk="0" hangingPunct="0">
              <a:lnSpc>
                <a:spcPct val="80000"/>
              </a:lnSpc>
              <a:spcBef>
                <a:spcPct val="0"/>
              </a:spcBef>
              <a:spcAft>
                <a:spcPts val="600"/>
              </a:spcAft>
              <a:buClrTx/>
              <a:buSzTx/>
              <a:buFontTx/>
              <a:buChar char="•"/>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80000"/>
              </a:lnSpc>
              <a:spcBef>
                <a:spcPct val="0"/>
              </a:spcBef>
              <a:spcAft>
                <a:spcPts val="600"/>
              </a:spcAft>
              <a:buClrTx/>
              <a:buSzTx/>
              <a:buFontTx/>
              <a:buChar char="•"/>
              <a:tabLst/>
            </a:pPr>
            <a:r>
              <a:rPr lang="en-US" altLang="en-US" sz="2000" b="1" dirty="0">
                <a:solidFill>
                  <a:schemeClr val="bg1"/>
                </a:solidFill>
                <a:latin typeface="Arial" panose="020B0604020202020204" pitchFamily="34" charset="0"/>
              </a:rPr>
              <a:t>The RL Agent:</a:t>
            </a:r>
            <a:r>
              <a:rPr lang="en-US" altLang="en-US" sz="2000" dirty="0">
                <a:solidFill>
                  <a:schemeClr val="bg1"/>
                </a:solidFill>
                <a:latin typeface="Arial" panose="020B0604020202020204" pitchFamily="34" charset="0"/>
              </a:rPr>
              <a:t> Algorithm, Actions, Reward Function</a:t>
            </a:r>
          </a:p>
          <a:p>
            <a:pPr marL="0" marR="0" lvl="0" indent="0" defTabSz="914400" rtl="0" eaLnBrk="0" fontAlgn="base" latinLnBrk="0" hangingPunct="0">
              <a:lnSpc>
                <a:spcPct val="80000"/>
              </a:lnSpc>
              <a:spcBef>
                <a:spcPct val="0"/>
              </a:spcBef>
              <a:spcAft>
                <a:spcPts val="600"/>
              </a:spcAft>
              <a:buClrTx/>
              <a:buSzTx/>
              <a:buFontTx/>
              <a:buChar char="•"/>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80000"/>
              </a:lnSpc>
              <a:spcBef>
                <a:spcPct val="0"/>
              </a:spcBef>
              <a:spcAft>
                <a:spcPts val="60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Performance Goals:</a:t>
            </a:r>
            <a:r>
              <a:rPr kumimoji="0" lang="en-US" altLang="en-US" sz="2000" b="0" i="0" u="none" strike="noStrike" cap="none" normalizeH="0" baseline="0" dirty="0">
                <a:ln>
                  <a:noFill/>
                </a:ln>
                <a:solidFill>
                  <a:schemeClr val="bg1"/>
                </a:solidFill>
                <a:effectLst/>
                <a:latin typeface="Arial" panose="020B0604020202020204" pitchFamily="34" charset="0"/>
              </a:rPr>
              <a:t> The Math of Compounding</a:t>
            </a:r>
          </a:p>
          <a:p>
            <a:pPr marL="0" marR="0" lvl="0" indent="0" defTabSz="914400" rtl="0" eaLnBrk="0" fontAlgn="base" latinLnBrk="0" hangingPunct="0">
              <a:lnSpc>
                <a:spcPct val="80000"/>
              </a:lnSpc>
              <a:spcBef>
                <a:spcPct val="0"/>
              </a:spcBef>
              <a:spcAft>
                <a:spcPts val="600"/>
              </a:spcAft>
              <a:buClrTx/>
              <a:buSzTx/>
              <a:buFontTx/>
              <a:buChar char="•"/>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80000"/>
              </a:lnSpc>
              <a:spcBef>
                <a:spcPct val="0"/>
              </a:spcBef>
              <a:spcAft>
                <a:spcPts val="60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Evaluation:</a:t>
            </a:r>
            <a:r>
              <a:rPr kumimoji="0" lang="en-US" altLang="en-US" sz="2000" b="0" i="0" u="none" strike="noStrike" cap="none" normalizeH="0" baseline="0" dirty="0">
                <a:ln>
                  <a:noFill/>
                </a:ln>
                <a:solidFill>
                  <a:schemeClr val="bg1"/>
                </a:solidFill>
                <a:effectLst/>
                <a:latin typeface="Arial" panose="020B0604020202020204" pitchFamily="34" charset="0"/>
              </a:rPr>
              <a:t> How we measure success.</a:t>
            </a:r>
          </a:p>
          <a:p>
            <a:pPr marL="0" marR="0" lvl="0" indent="0" defTabSz="914400" rtl="0" eaLnBrk="0" fontAlgn="base" latinLnBrk="0" hangingPunct="0">
              <a:lnSpc>
                <a:spcPct val="80000"/>
              </a:lnSpc>
              <a:spcBef>
                <a:spcPct val="0"/>
              </a:spcBef>
              <a:spcAft>
                <a:spcPts val="600"/>
              </a:spcAft>
              <a:buClrTx/>
              <a:buSzTx/>
              <a:buFontTx/>
              <a:buChar char="•"/>
              <a:tabLst/>
            </a:pP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lnSpc>
                <a:spcPct val="80000"/>
              </a:lnSpc>
              <a:spcBef>
                <a:spcPct val="0"/>
              </a:spcBef>
              <a:spcAft>
                <a:spcPts val="600"/>
              </a:spcAft>
              <a:buClrTx/>
              <a:buSzTx/>
              <a:buFontTx/>
              <a:buChar char="•"/>
              <a:tabLst/>
            </a:pPr>
            <a:r>
              <a:rPr kumimoji="0" lang="en-US" altLang="en-US" sz="2000" b="1" i="0" u="none" strike="noStrike" cap="none" normalizeH="0" baseline="0" dirty="0">
                <a:ln>
                  <a:noFill/>
                </a:ln>
                <a:solidFill>
                  <a:schemeClr val="bg1"/>
                </a:solidFill>
                <a:effectLst/>
                <a:latin typeface="Arial" panose="020B0604020202020204" pitchFamily="34" charset="0"/>
              </a:rPr>
              <a:t>Conclusion &amp; End Goal</a:t>
            </a:r>
            <a:endParaRPr kumimoji="0" lang="en-US" altLang="en-US" sz="2000" b="0" i="0" u="none" strike="noStrike" cap="none" normalizeH="0" baseline="0" dirty="0">
              <a:ln>
                <a:noFill/>
              </a:ln>
              <a:solidFill>
                <a:schemeClr val="bg1"/>
              </a:solidFill>
              <a:effectLst/>
              <a:latin typeface="Arial" panose="020B0604020202020204" pitchFamily="34" charset="0"/>
            </a:endParaRPr>
          </a:p>
        </p:txBody>
      </p:sp>
      <p:grpSp>
        <p:nvGrpSpPr>
          <p:cNvPr id="386" name="Graphic 185">
            <a:extLst>
              <a:ext uri="{FF2B5EF4-FFF2-40B4-BE49-F238E27FC236}">
                <a16:creationId xmlns:a16="http://schemas.microsoft.com/office/drawing/2014/main" id="{3773FAF5-C452-4455-9411-D6AF5EBD4C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12239" y="6139464"/>
            <a:ext cx="1054466" cy="469689"/>
            <a:chOff x="9841624" y="4115729"/>
            <a:chExt cx="602169" cy="268223"/>
          </a:xfrm>
          <a:solidFill>
            <a:schemeClr val="bg1"/>
          </a:solidFill>
        </p:grpSpPr>
        <p:sp>
          <p:nvSpPr>
            <p:cNvPr id="387" name="Freeform: Shape 386">
              <a:extLst>
                <a:ext uri="{FF2B5EF4-FFF2-40B4-BE49-F238E27FC236}">
                  <a16:creationId xmlns:a16="http://schemas.microsoft.com/office/drawing/2014/main" id="{1ECA0D96-F63C-4F7B-BE16-0F3FE76D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74F83A81-0546-400A-918A-90C9C48B81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9741F692-A5B6-4215-86D9-B1FD4FF2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CC0876CB-9C60-4580-8FED-CD64EC7664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A879B3B7-48DB-4D3A-BB33-02766EAD3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97234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B77206D-849A-D087-EEE5-59AD1E24B84C}"/>
              </a:ext>
            </a:extLst>
          </p:cNvPr>
          <p:cNvSpPr>
            <a:spLocks noGrp="1"/>
          </p:cNvSpPr>
          <p:nvPr>
            <p:ph type="title"/>
          </p:nvPr>
        </p:nvSpPr>
        <p:spPr>
          <a:xfrm>
            <a:off x="231525" y="700777"/>
            <a:ext cx="6198303" cy="1325563"/>
          </a:xfrm>
        </p:spPr>
        <p:txBody>
          <a:bodyPr anchor="b">
            <a:normAutofit/>
          </a:bodyPr>
          <a:lstStyle/>
          <a:p>
            <a:pPr algn="r"/>
            <a:r>
              <a:rPr lang="en-US" dirty="0">
                <a:solidFill>
                  <a:schemeClr val="bg1"/>
                </a:solidFill>
              </a:rPr>
              <a:t>Motivation &amp; Related Work</a:t>
            </a:r>
          </a:p>
        </p:txBody>
      </p:sp>
      <p:cxnSp>
        <p:nvCxnSpPr>
          <p:cNvPr id="20" name="Straight Connector 1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0C5C8997-7DE9-1B74-4197-F2E1E62F4049}"/>
              </a:ext>
            </a:extLst>
          </p:cNvPr>
          <p:cNvSpPr>
            <a:spLocks noGrp="1" noChangeArrowheads="1"/>
          </p:cNvSpPr>
          <p:nvPr>
            <p:ph idx="1"/>
          </p:nvPr>
        </p:nvSpPr>
        <p:spPr bwMode="auto">
          <a:xfrm>
            <a:off x="471055" y="2307454"/>
            <a:ext cx="11443854" cy="415423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lvl="0" indent="0" eaLnBrk="0" fontAlgn="base" hangingPunct="0">
              <a:spcBef>
                <a:spcPct val="0"/>
              </a:spcBef>
              <a:spcAft>
                <a:spcPts val="600"/>
              </a:spcAft>
              <a:buNone/>
            </a:pPr>
            <a:r>
              <a:rPr kumimoji="0" lang="en-US" altLang="en-US" sz="2200" b="1" i="0" u="none" strike="noStrike" cap="none" normalizeH="0" baseline="0" dirty="0">
                <a:ln>
                  <a:noFill/>
                </a:ln>
                <a:solidFill>
                  <a:schemeClr val="bg1"/>
                </a:solidFill>
                <a:effectLst/>
                <a:latin typeface="Arial" panose="020B0604020202020204" pitchFamily="34" charset="0"/>
              </a:rPr>
              <a:t>The Inspiration:</a:t>
            </a:r>
            <a:r>
              <a:rPr kumimoji="0" lang="en-US" altLang="en-US" sz="2200" b="0" i="0" u="none" strike="noStrike" cap="none" normalizeH="0" baseline="0" dirty="0">
                <a:ln>
                  <a:noFill/>
                </a:ln>
                <a:solidFill>
                  <a:schemeClr val="bg1"/>
                </a:solidFill>
                <a:effectLst/>
                <a:latin typeface="Arial" panose="020B0604020202020204" pitchFamily="34" charset="0"/>
              </a:rPr>
              <a:t> Based on the manual strategy of </a:t>
            </a:r>
            <a:r>
              <a:rPr kumimoji="0" lang="en-US" altLang="en-US" sz="2200" b="1" i="0" u="none" strike="noStrike" cap="none" normalizeH="0" baseline="0" dirty="0">
                <a:ln>
                  <a:noFill/>
                </a:ln>
                <a:solidFill>
                  <a:schemeClr val="bg1"/>
                </a:solidFill>
                <a:effectLst/>
                <a:latin typeface="Arial" panose="020B0604020202020204" pitchFamily="34" charset="0"/>
              </a:rPr>
              <a:t>Fabio </a:t>
            </a:r>
            <a:r>
              <a:rPr lang="en-US" altLang="en-US" sz="2200" b="1" dirty="0">
                <a:solidFill>
                  <a:schemeClr val="bg1"/>
                </a:solidFill>
                <a:latin typeface="Arial" panose="020B0604020202020204" pitchFamily="34" charset="0"/>
              </a:rPr>
              <a:t>V</a:t>
            </a:r>
            <a:r>
              <a:rPr kumimoji="0" lang="en-US" altLang="en-US" sz="2200" b="1" i="0" u="none" strike="noStrike" cap="none" normalizeH="0" baseline="0" dirty="0">
                <a:ln>
                  <a:noFill/>
                </a:ln>
                <a:solidFill>
                  <a:schemeClr val="bg1"/>
                </a:solidFill>
                <a:effectLst/>
                <a:latin typeface="Arial" panose="020B0604020202020204" pitchFamily="34" charset="0"/>
              </a:rPr>
              <a:t>alentini</a:t>
            </a:r>
            <a:r>
              <a:rPr kumimoji="0" lang="en-US" altLang="en-US" sz="2200" b="0" i="0" u="none" strike="noStrike" cap="none" normalizeH="0" baseline="0" dirty="0">
                <a:ln>
                  <a:noFill/>
                </a:ln>
                <a:solidFill>
                  <a:schemeClr val="bg1"/>
                </a:solidFill>
                <a:effectLst/>
                <a:latin typeface="Arial" panose="020B0604020202020204" pitchFamily="34" charset="0"/>
              </a:rPr>
              <a:t>, a 3-time World Trading Champion.</a:t>
            </a:r>
          </a:p>
          <a:p>
            <a:pPr lvl="1" eaLnBrk="0" fontAlgn="base" hangingPunct="0">
              <a:spcBef>
                <a:spcPct val="0"/>
              </a:spcBef>
              <a:spcAft>
                <a:spcPts val="600"/>
              </a:spcAft>
              <a:buFont typeface="Wingdings" pitchFamily="2" charset="2"/>
              <a:buChar char="Ø"/>
            </a:pPr>
            <a:r>
              <a:rPr kumimoji="0" lang="en-US" altLang="en-US" sz="2200" b="0" i="0" u="none" strike="noStrike" cap="none" normalizeH="0" baseline="0" dirty="0">
                <a:ln>
                  <a:noFill/>
                </a:ln>
                <a:solidFill>
                  <a:schemeClr val="bg1"/>
                </a:solidFill>
                <a:effectLst/>
                <a:latin typeface="Arial" panose="020B0604020202020204" pitchFamily="34" charset="0"/>
              </a:rPr>
              <a:t> His Record: ~80% average annual returns.</a:t>
            </a:r>
          </a:p>
          <a:p>
            <a:pPr lvl="1" eaLnBrk="0" fontAlgn="base" hangingPunct="0">
              <a:spcBef>
                <a:spcPct val="0"/>
              </a:spcBef>
              <a:spcAft>
                <a:spcPts val="600"/>
              </a:spcAft>
              <a:buFont typeface="Wingdings" pitchFamily="2" charset="2"/>
              <a:buChar char="Ø"/>
            </a:pPr>
            <a:r>
              <a:rPr kumimoji="0" lang="en-US" altLang="en-US" sz="2200" b="0" i="0" u="none" strike="noStrike" cap="none" normalizeH="0" baseline="0" dirty="0">
                <a:ln>
                  <a:noFill/>
                </a:ln>
                <a:solidFill>
                  <a:schemeClr val="bg1"/>
                </a:solidFill>
                <a:effectLst/>
                <a:latin typeface="Arial" panose="020B0604020202020204" pitchFamily="34" charset="0"/>
              </a:rPr>
              <a:t> His Edge: He does not use charts. He reads the "Tape" (Order Flow).</a:t>
            </a:r>
          </a:p>
          <a:p>
            <a:pPr marL="457200" lvl="1" indent="0" eaLnBrk="0" fontAlgn="base" hangingPunct="0">
              <a:spcBef>
                <a:spcPct val="0"/>
              </a:spcBef>
              <a:spcAft>
                <a:spcPts val="600"/>
              </a:spcAft>
              <a:buFontTx/>
              <a:buChar char="•"/>
            </a:pPr>
            <a:endParaRPr kumimoji="0" lang="en-US" altLang="en-US" sz="22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2200" b="1" i="0" u="none" strike="noStrike" cap="none" normalizeH="0" baseline="0" dirty="0">
                <a:ln>
                  <a:noFill/>
                </a:ln>
                <a:solidFill>
                  <a:schemeClr val="bg1"/>
                </a:solidFill>
                <a:effectLst/>
                <a:latin typeface="Arial" panose="020B0604020202020204" pitchFamily="34" charset="0"/>
              </a:rPr>
              <a:t>The Gap in Research:</a:t>
            </a:r>
            <a:endParaRPr kumimoji="0" lang="en-US" altLang="en-US" sz="2200" b="0" i="0" u="none" strike="noStrike" cap="none" normalizeH="0" baseline="0" dirty="0">
              <a:ln>
                <a:noFill/>
              </a:ln>
              <a:solidFill>
                <a:schemeClr val="bg1"/>
              </a:solidFill>
              <a:effectLst/>
              <a:latin typeface="Arial" panose="020B0604020202020204" pitchFamily="34" charset="0"/>
            </a:endParaRPr>
          </a:p>
          <a:p>
            <a:pPr lvl="1" eaLnBrk="0" fontAlgn="base" hangingPunct="0">
              <a:spcBef>
                <a:spcPct val="0"/>
              </a:spcBef>
              <a:spcAft>
                <a:spcPts val="600"/>
              </a:spcAft>
              <a:buFont typeface="Wingdings" pitchFamily="2" charset="2"/>
              <a:buChar char="Ø"/>
            </a:pPr>
            <a:r>
              <a:rPr kumimoji="0" lang="en-US" altLang="en-US" sz="2200" b="0" i="0" u="none" strike="noStrike" cap="none" normalizeH="0" baseline="0" dirty="0">
                <a:ln>
                  <a:noFill/>
                </a:ln>
                <a:solidFill>
                  <a:schemeClr val="bg1"/>
                </a:solidFill>
                <a:effectLst/>
                <a:latin typeface="Arial" panose="020B0604020202020204" pitchFamily="34" charset="0"/>
              </a:rPr>
              <a:t> Most RL papers use simple "Price History" (OHLC data). This is like driving using only the rear-view mirror.</a:t>
            </a:r>
          </a:p>
          <a:p>
            <a:pPr lvl="1" eaLnBrk="0" fontAlgn="base" hangingPunct="0">
              <a:spcBef>
                <a:spcPct val="0"/>
              </a:spcBef>
              <a:spcAft>
                <a:spcPts val="600"/>
              </a:spcAft>
              <a:buFont typeface="Wingdings" pitchFamily="2" charset="2"/>
              <a:buChar char="Ø"/>
            </a:pPr>
            <a:r>
              <a:rPr kumimoji="0" lang="en-US" altLang="en-US" sz="2200" b="0" i="0" u="none" strike="noStrike" cap="none" normalizeH="0" baseline="0" dirty="0">
                <a:ln>
                  <a:noFill/>
                </a:ln>
                <a:solidFill>
                  <a:schemeClr val="bg1"/>
                </a:solidFill>
                <a:effectLst/>
                <a:latin typeface="Arial" panose="020B0604020202020204" pitchFamily="34" charset="0"/>
              </a:rPr>
              <a:t> Real "Order Flow" RL is mostly proprietary (Hedge Funds/HFTs).</a:t>
            </a:r>
          </a:p>
          <a:p>
            <a:pPr marL="457200" lvl="1" indent="0" eaLnBrk="0" fontAlgn="base" hangingPunct="0">
              <a:spcBef>
                <a:spcPct val="0"/>
              </a:spcBef>
              <a:spcAft>
                <a:spcPts val="600"/>
              </a:spcAft>
              <a:buFontTx/>
              <a:buChar char="•"/>
            </a:pPr>
            <a:endParaRPr kumimoji="0" lang="en-US" altLang="en-US" sz="22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2200" b="1" i="0" u="none" strike="noStrike" cap="none" normalizeH="0" baseline="0" dirty="0">
                <a:ln>
                  <a:noFill/>
                </a:ln>
                <a:solidFill>
                  <a:schemeClr val="bg1"/>
                </a:solidFill>
                <a:effectLst/>
                <a:latin typeface="Arial" panose="020B0604020202020204" pitchFamily="34" charset="0"/>
              </a:rPr>
              <a:t>My Goal:</a:t>
            </a:r>
            <a:r>
              <a:rPr kumimoji="0" lang="en-US" altLang="en-US" sz="2200" b="0" i="0" u="none" strike="noStrike" cap="none" normalizeH="0" baseline="0" dirty="0">
                <a:ln>
                  <a:noFill/>
                </a:ln>
                <a:solidFill>
                  <a:schemeClr val="bg1"/>
                </a:solidFill>
                <a:effectLst/>
                <a:latin typeface="Arial" panose="020B0604020202020204" pitchFamily="34" charset="0"/>
              </a:rPr>
              <a:t> Bridge this gap by automating Fabio's logic using a PPO Agent.</a:t>
            </a:r>
          </a:p>
        </p:txBody>
      </p:sp>
      <p:sp>
        <p:nvSpPr>
          <p:cNvPr id="22" name="Rectangle 2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2379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FB283C-36F7-B5CE-5982-DC7A3D02879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8EB53A2A-C855-8443-81AC-D25763AAA6F7}"/>
              </a:ext>
            </a:extLst>
          </p:cNvPr>
          <p:cNvSpPr>
            <a:spLocks noGrp="1"/>
          </p:cNvSpPr>
          <p:nvPr>
            <p:ph type="title"/>
          </p:nvPr>
        </p:nvSpPr>
        <p:spPr>
          <a:xfrm>
            <a:off x="126206" y="700777"/>
            <a:ext cx="7546383" cy="1325563"/>
          </a:xfrm>
        </p:spPr>
        <p:txBody>
          <a:bodyPr anchor="b">
            <a:normAutofit/>
          </a:bodyPr>
          <a:lstStyle/>
          <a:p>
            <a:pPr algn="r"/>
            <a:r>
              <a:rPr lang="en-US" dirty="0">
                <a:solidFill>
                  <a:schemeClr val="bg1"/>
                </a:solidFill>
              </a:rPr>
              <a:t>Market Physics (Order Flow 101)</a:t>
            </a:r>
          </a:p>
        </p:txBody>
      </p:sp>
      <p:cxnSp>
        <p:nvCxnSpPr>
          <p:cNvPr id="11" name="Straight Connector 10">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9265B451-FCC4-2E5A-D121-08A18596E5CD}"/>
              </a:ext>
            </a:extLst>
          </p:cNvPr>
          <p:cNvSpPr>
            <a:spLocks noGrp="1" noChangeArrowheads="1"/>
          </p:cNvSpPr>
          <p:nvPr>
            <p:ph idx="1"/>
          </p:nvPr>
        </p:nvSpPr>
        <p:spPr bwMode="auto">
          <a:xfrm>
            <a:off x="681925" y="2398956"/>
            <a:ext cx="10117408" cy="40173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lvl="0" eaLnBrk="0" fontAlgn="base" hangingPunct="0">
              <a:spcBef>
                <a:spcPct val="0"/>
              </a:spcBef>
              <a:spcAft>
                <a:spcPts val="600"/>
              </a:spcAft>
              <a:buFont typeface="Wingdings" pitchFamily="2" charset="2"/>
              <a:buChar char="v"/>
            </a:pPr>
            <a:r>
              <a:rPr kumimoji="0" lang="en-US" altLang="en-US" sz="2200" b="0" i="0" u="none" strike="noStrike" cap="none" normalizeH="0" baseline="0" dirty="0">
                <a:ln>
                  <a:noFill/>
                </a:ln>
                <a:solidFill>
                  <a:schemeClr val="bg1"/>
                </a:solidFill>
                <a:effectLst/>
                <a:latin typeface="Arial" panose="020B0604020202020204" pitchFamily="34" charset="0"/>
              </a:rPr>
              <a:t>The Reality of Price: Price is just an advertisement.</a:t>
            </a:r>
          </a:p>
          <a:p>
            <a:pPr lvl="0" eaLnBrk="0" fontAlgn="base" hangingPunct="0">
              <a:spcBef>
                <a:spcPct val="0"/>
              </a:spcBef>
              <a:spcAft>
                <a:spcPts val="600"/>
              </a:spcAft>
              <a:buFont typeface="Wingdings" pitchFamily="2" charset="2"/>
              <a:buChar char="v"/>
            </a:pPr>
            <a:r>
              <a:rPr kumimoji="0" lang="en-US" altLang="en-US" sz="2200" b="0" i="0" u="none" strike="noStrike" cap="none" normalizeH="0" baseline="0" dirty="0">
                <a:ln>
                  <a:noFill/>
                </a:ln>
                <a:solidFill>
                  <a:schemeClr val="bg1"/>
                </a:solidFill>
                <a:effectLst/>
                <a:latin typeface="Arial" panose="020B0604020202020204" pitchFamily="34" charset="0"/>
              </a:rPr>
              <a:t>The Matching Engine: Traders send orders into a central engine.</a:t>
            </a:r>
          </a:p>
          <a:p>
            <a:pPr lvl="0" eaLnBrk="0" fontAlgn="base" hangingPunct="0">
              <a:spcBef>
                <a:spcPct val="0"/>
              </a:spcBef>
              <a:spcAft>
                <a:spcPts val="600"/>
              </a:spcAft>
              <a:buFont typeface="Wingdings" pitchFamily="2" charset="2"/>
              <a:buChar char="v"/>
            </a:pPr>
            <a:endParaRPr kumimoji="0" lang="en-US" altLang="en-US" sz="2200" b="0" i="0" u="none" strike="noStrike" cap="none" normalizeH="0" baseline="0" dirty="0">
              <a:ln>
                <a:noFill/>
              </a:ln>
              <a:solidFill>
                <a:schemeClr val="bg1"/>
              </a:solidFill>
              <a:effectLst/>
              <a:latin typeface="Arial" panose="020B0604020202020204" pitchFamily="34" charset="0"/>
            </a:endParaRPr>
          </a:p>
          <a:p>
            <a:pPr lvl="0" eaLnBrk="0" fontAlgn="base" hangingPunct="0">
              <a:spcBef>
                <a:spcPct val="0"/>
              </a:spcBef>
              <a:spcAft>
                <a:spcPts val="600"/>
              </a:spcAft>
              <a:buFont typeface="Wingdings" pitchFamily="2" charset="2"/>
              <a:buChar char="v"/>
            </a:pPr>
            <a:r>
              <a:rPr kumimoji="0" lang="en-US" altLang="en-US" sz="2200" b="0" i="0" u="none" strike="noStrike" cap="none" normalizeH="0" baseline="0" dirty="0">
                <a:ln>
                  <a:noFill/>
                </a:ln>
                <a:solidFill>
                  <a:schemeClr val="bg1"/>
                </a:solidFill>
                <a:effectLst/>
                <a:latin typeface="Arial" panose="020B0604020202020204" pitchFamily="34" charset="0"/>
              </a:rPr>
              <a:t>The Order Book (Level 2):</a:t>
            </a:r>
          </a:p>
          <a:p>
            <a:pPr lvl="0" eaLnBrk="0" fontAlgn="base" hangingPunct="0">
              <a:spcBef>
                <a:spcPct val="0"/>
              </a:spcBef>
              <a:spcAft>
                <a:spcPts val="600"/>
              </a:spcAft>
              <a:buFont typeface="Wingdings" pitchFamily="2" charset="2"/>
              <a:buChar char="v"/>
            </a:pPr>
            <a:r>
              <a:rPr kumimoji="0" lang="en-US" altLang="en-US" sz="2200" b="0" i="0" u="none" strike="noStrike" cap="none" normalizeH="0" baseline="0" dirty="0">
                <a:ln>
                  <a:noFill/>
                </a:ln>
                <a:solidFill>
                  <a:schemeClr val="bg1"/>
                </a:solidFill>
                <a:effectLst/>
                <a:latin typeface="Arial" panose="020B0604020202020204" pitchFamily="34" charset="0"/>
              </a:rPr>
              <a:t> Group #1: Passive Orders: People waiting to buy/sell (The "Liquidity").</a:t>
            </a:r>
          </a:p>
          <a:p>
            <a:pPr lvl="0" eaLnBrk="0" fontAlgn="base" hangingPunct="0">
              <a:spcBef>
                <a:spcPct val="0"/>
              </a:spcBef>
              <a:spcAft>
                <a:spcPts val="600"/>
              </a:spcAft>
              <a:buFont typeface="Wingdings" pitchFamily="2" charset="2"/>
              <a:buChar char="v"/>
            </a:pPr>
            <a:r>
              <a:rPr kumimoji="0" lang="en-US" altLang="en-US" sz="2200" b="0" i="0" u="none" strike="noStrike" cap="none" normalizeH="0" baseline="0" dirty="0">
                <a:ln>
                  <a:noFill/>
                </a:ln>
                <a:solidFill>
                  <a:schemeClr val="bg1"/>
                </a:solidFill>
                <a:effectLst/>
                <a:latin typeface="Arial" panose="020B0604020202020204" pitchFamily="34" charset="0"/>
              </a:rPr>
              <a:t> Group #2: Aggressive Orders: People buying/selling now (The "Flow").</a:t>
            </a:r>
          </a:p>
          <a:p>
            <a:pPr lvl="0" eaLnBrk="0" fontAlgn="base" hangingPunct="0">
              <a:spcBef>
                <a:spcPct val="0"/>
              </a:spcBef>
              <a:spcAft>
                <a:spcPts val="600"/>
              </a:spcAft>
              <a:buFont typeface="Wingdings" pitchFamily="2" charset="2"/>
              <a:buChar char="v"/>
            </a:pPr>
            <a:endParaRPr kumimoji="0" lang="en-US" altLang="en-US" sz="2200" b="0" i="0" u="none" strike="noStrike" cap="none" normalizeH="0" baseline="0" dirty="0">
              <a:ln>
                <a:noFill/>
              </a:ln>
              <a:solidFill>
                <a:schemeClr val="bg1"/>
              </a:solidFill>
              <a:effectLst/>
              <a:latin typeface="Arial" panose="020B0604020202020204" pitchFamily="34" charset="0"/>
            </a:endParaRPr>
          </a:p>
          <a:p>
            <a:pPr lvl="0" eaLnBrk="0" fontAlgn="base" hangingPunct="0">
              <a:spcBef>
                <a:spcPct val="0"/>
              </a:spcBef>
              <a:spcAft>
                <a:spcPts val="600"/>
              </a:spcAft>
              <a:buFont typeface="Wingdings" pitchFamily="2" charset="2"/>
              <a:buChar char="v"/>
            </a:pPr>
            <a:r>
              <a:rPr kumimoji="0" lang="en-US" altLang="en-US" sz="2200" b="0" i="0" u="none" strike="noStrike" cap="none" normalizeH="0" baseline="0" dirty="0">
                <a:ln>
                  <a:noFill/>
                </a:ln>
                <a:solidFill>
                  <a:schemeClr val="bg1"/>
                </a:solidFill>
                <a:effectLst/>
                <a:latin typeface="Arial" panose="020B0604020202020204" pitchFamily="34" charset="0"/>
              </a:rPr>
              <a:t>The Edge: Level 1 data (Price) is laggy. Level 2 data (Order Flow) shows the pressure before the price moves.</a:t>
            </a:r>
          </a:p>
          <a:p>
            <a:pPr marL="0" lvl="0" indent="0" eaLnBrk="0" fontAlgn="base" hangingPunct="0">
              <a:spcBef>
                <a:spcPct val="0"/>
              </a:spcBef>
              <a:spcAft>
                <a:spcPts val="600"/>
              </a:spcAft>
              <a:buNone/>
            </a:pPr>
            <a:endParaRPr kumimoji="0" lang="en-US" altLang="en-US" sz="2200" b="0" i="0" u="none" strike="noStrike" cap="none" normalizeH="0" baseline="0" dirty="0">
              <a:ln>
                <a:noFill/>
              </a:ln>
              <a:solidFill>
                <a:schemeClr val="bg1"/>
              </a:solidFill>
              <a:effectLst/>
              <a:latin typeface="Arial" panose="020B0604020202020204" pitchFamily="34" charset="0"/>
            </a:endParaRPr>
          </a:p>
        </p:txBody>
      </p:sp>
      <p:sp>
        <p:nvSpPr>
          <p:cNvPr id="13" name="Rectangle 12">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1874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A screenshot of a computer&#10;&#10;AI-generated content may be incorrect.">
            <a:extLst>
              <a:ext uri="{FF2B5EF4-FFF2-40B4-BE49-F238E27FC236}">
                <a16:creationId xmlns:a16="http://schemas.microsoft.com/office/drawing/2014/main" id="{49A7F4AD-7CC0-6C98-3B8B-D6AEA05D40B5}"/>
              </a:ext>
            </a:extLst>
          </p:cNvPr>
          <p:cNvPicPr>
            <a:picLocks noChangeAspect="1"/>
          </p:cNvPicPr>
          <p:nvPr/>
        </p:nvPicPr>
        <p:blipFill>
          <a:blip r:embed="rId3"/>
          <a:srcRect t="10377" b="5369"/>
          <a:stretch>
            <a:fillRect/>
          </a:stretch>
        </p:blipFill>
        <p:spPr>
          <a:xfrm>
            <a:off x="20" y="1282"/>
            <a:ext cx="12191980" cy="6856718"/>
          </a:xfrm>
          <a:prstGeom prst="rect">
            <a:avLst/>
          </a:prstGeom>
        </p:spPr>
      </p:pic>
    </p:spTree>
    <p:extLst>
      <p:ext uri="{BB962C8B-B14F-4D97-AF65-F5344CB8AC3E}">
        <p14:creationId xmlns:p14="http://schemas.microsoft.com/office/powerpoint/2010/main" val="3955678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769A4-A55D-27E1-768D-2BB7058866D6}"/>
              </a:ext>
            </a:extLst>
          </p:cNvPr>
          <p:cNvSpPr>
            <a:spLocks noGrp="1"/>
          </p:cNvSpPr>
          <p:nvPr>
            <p:ph type="title"/>
          </p:nvPr>
        </p:nvSpPr>
        <p:spPr>
          <a:xfrm>
            <a:off x="0" y="0"/>
            <a:ext cx="4495133" cy="1141315"/>
          </a:xfrm>
        </p:spPr>
        <p:txBody>
          <a:bodyPr anchor="b">
            <a:normAutofit/>
          </a:bodyPr>
          <a:lstStyle/>
          <a:p>
            <a:r>
              <a:rPr lang="en-US" sz="3200" dirty="0"/>
              <a:t>The Strategy (Auction Market Theory)</a:t>
            </a:r>
          </a:p>
        </p:txBody>
      </p:sp>
      <p:sp>
        <p:nvSpPr>
          <p:cNvPr id="4" name="Rectangle 1">
            <a:extLst>
              <a:ext uri="{FF2B5EF4-FFF2-40B4-BE49-F238E27FC236}">
                <a16:creationId xmlns:a16="http://schemas.microsoft.com/office/drawing/2014/main" id="{4AAB5817-BA56-1054-DD04-2A8F5664812D}"/>
              </a:ext>
            </a:extLst>
          </p:cNvPr>
          <p:cNvSpPr>
            <a:spLocks noGrp="1" noChangeArrowheads="1"/>
          </p:cNvSpPr>
          <p:nvPr>
            <p:ph idx="1"/>
          </p:nvPr>
        </p:nvSpPr>
        <p:spPr bwMode="auto">
          <a:xfrm>
            <a:off x="0" y="1480435"/>
            <a:ext cx="4230782" cy="537756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Market State A: Balanced Market.</a:t>
            </a:r>
            <a:endParaRPr kumimoji="0" lang="en-US" altLang="en-US" sz="1800"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800" b="0" i="0" u="none" strike="noStrike" cap="none" normalizeH="0" baseline="0" dirty="0">
                <a:ln>
                  <a:noFill/>
                </a:ln>
                <a:effectLst/>
                <a:latin typeface="Arial" panose="020B0604020202020204" pitchFamily="34" charset="0"/>
              </a:rPr>
              <a:t>Price moves sideways. Buyers and Sellers agree on value.</a:t>
            </a:r>
          </a:p>
          <a:p>
            <a:pPr marL="457200" lvl="1" indent="0" eaLnBrk="0" fontAlgn="base" hangingPunct="0">
              <a:spcBef>
                <a:spcPct val="0"/>
              </a:spcBef>
              <a:spcAft>
                <a:spcPts val="600"/>
              </a:spcAft>
              <a:buFontTx/>
              <a:buChar char="•"/>
            </a:pPr>
            <a:r>
              <a:rPr kumimoji="0" lang="en-US" altLang="en-US" sz="1800" b="1" i="0" u="none" strike="noStrike" cap="none" normalizeH="0" baseline="0" dirty="0">
                <a:ln>
                  <a:noFill/>
                </a:ln>
                <a:effectLst/>
                <a:latin typeface="Arial" panose="020B0604020202020204" pitchFamily="34" charset="0"/>
              </a:rPr>
              <a:t>Action:</a:t>
            </a:r>
            <a:r>
              <a:rPr kumimoji="0" lang="en-US" altLang="en-US" sz="1800" b="0" i="0" u="none" strike="noStrike" cap="none" normalizeH="0" baseline="0" dirty="0">
                <a:ln>
                  <a:noFill/>
                </a:ln>
                <a:effectLst/>
                <a:latin typeface="Arial" panose="020B0604020202020204" pitchFamily="34" charset="0"/>
              </a:rPr>
              <a:t> DO NOT TRADE.</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Market State B: Imbalance (Price Discovery).</a:t>
            </a:r>
            <a:endParaRPr kumimoji="0" lang="en-US" altLang="en-US" sz="1800"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800" b="0" i="0" u="none" strike="noStrike" cap="none" normalizeH="0" baseline="0" dirty="0">
                <a:ln>
                  <a:noFill/>
                </a:ln>
                <a:effectLst/>
                <a:latin typeface="Arial" panose="020B0604020202020204" pitchFamily="34" charset="0"/>
              </a:rPr>
              <a:t>Aggressive buyers overwhelm sellers. Price "sprints" to find a new value.</a:t>
            </a:r>
          </a:p>
          <a:p>
            <a:pPr marL="457200" lvl="1" indent="0" eaLnBrk="0" fontAlgn="base" hangingPunct="0">
              <a:spcBef>
                <a:spcPct val="0"/>
              </a:spcBef>
              <a:spcAft>
                <a:spcPts val="600"/>
              </a:spcAft>
              <a:buFontTx/>
              <a:buChar char="•"/>
            </a:pPr>
            <a:r>
              <a:rPr kumimoji="0" lang="en-US" altLang="en-US" sz="1800" b="1" i="0" u="none" strike="noStrike" cap="none" normalizeH="0" baseline="0" dirty="0">
                <a:ln>
                  <a:noFill/>
                </a:ln>
                <a:effectLst/>
                <a:latin typeface="Arial" panose="020B0604020202020204" pitchFamily="34" charset="0"/>
              </a:rPr>
              <a:t>Action:</a:t>
            </a:r>
            <a:r>
              <a:rPr kumimoji="0" lang="en-US" altLang="en-US" sz="1800" b="0" i="0" u="none" strike="noStrike" cap="none" normalizeH="0" baseline="0" dirty="0">
                <a:ln>
                  <a:noFill/>
                </a:ln>
                <a:effectLst/>
                <a:latin typeface="Arial" panose="020B0604020202020204" pitchFamily="34" charset="0"/>
              </a:rPr>
              <a:t> ENTER HERE. Ride the imbalance.</a:t>
            </a: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Market State C: Failed Auction.</a:t>
            </a:r>
            <a:endParaRPr kumimoji="0" lang="en-US" altLang="en-US" sz="1800"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1800" b="0" i="0" u="none" strike="noStrike" cap="none" normalizeH="0" baseline="0" dirty="0">
                <a:ln>
                  <a:noFill/>
                </a:ln>
                <a:effectLst/>
                <a:latin typeface="Arial" panose="020B0604020202020204" pitchFamily="34" charset="0"/>
              </a:rPr>
              <a:t>Price tries to go higher but finds no buyers.</a:t>
            </a:r>
          </a:p>
          <a:p>
            <a:pPr marL="457200" lvl="1" indent="0" eaLnBrk="0" fontAlgn="base" hangingPunct="0">
              <a:spcBef>
                <a:spcPct val="0"/>
              </a:spcBef>
              <a:spcAft>
                <a:spcPts val="600"/>
              </a:spcAft>
              <a:buFontTx/>
              <a:buChar char="•"/>
            </a:pPr>
            <a:r>
              <a:rPr kumimoji="0" lang="en-US" altLang="en-US" sz="1800" b="1" i="0" u="none" strike="noStrike" cap="none" normalizeH="0" baseline="0" dirty="0">
                <a:ln>
                  <a:noFill/>
                </a:ln>
                <a:effectLst/>
                <a:latin typeface="Arial" panose="020B0604020202020204" pitchFamily="34" charset="0"/>
              </a:rPr>
              <a:t>Action:</a:t>
            </a:r>
            <a:r>
              <a:rPr kumimoji="0" lang="en-US" altLang="en-US" sz="1800" b="0" i="0" u="none" strike="noStrike" cap="none" normalizeH="0" baseline="0" dirty="0">
                <a:ln>
                  <a:noFill/>
                </a:ln>
                <a:effectLst/>
                <a:latin typeface="Arial" panose="020B0604020202020204" pitchFamily="34" charset="0"/>
              </a:rPr>
              <a:t> EXIT immediately.</a:t>
            </a: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effectLst/>
              <a:latin typeface="Arial" panose="020B0604020202020204" pitchFamily="34" charset="0"/>
            </a:endParaRPr>
          </a:p>
        </p:txBody>
      </p:sp>
      <p:pic>
        <p:nvPicPr>
          <p:cNvPr id="6" name="Picture 5" descr="A diagram of a market theory&#10;&#10;AI-generated content may be incorrect.">
            <a:extLst>
              <a:ext uri="{FF2B5EF4-FFF2-40B4-BE49-F238E27FC236}">
                <a16:creationId xmlns:a16="http://schemas.microsoft.com/office/drawing/2014/main" id="{78B3D96D-31BB-CE71-5001-DF6681084FF1}"/>
              </a:ext>
            </a:extLst>
          </p:cNvPr>
          <p:cNvPicPr>
            <a:picLocks noChangeAspect="1"/>
          </p:cNvPicPr>
          <p:nvPr/>
        </p:nvPicPr>
        <p:blipFill>
          <a:blip r:embed="rId3"/>
          <a:stretch>
            <a:fillRect/>
          </a:stretch>
        </p:blipFill>
        <p:spPr>
          <a:xfrm>
            <a:off x="4354145" y="1"/>
            <a:ext cx="7837855" cy="6857999"/>
          </a:xfrm>
          <a:prstGeom prst="rect">
            <a:avLst/>
          </a:prstGeom>
        </p:spPr>
      </p:pic>
      <p:grpSp>
        <p:nvGrpSpPr>
          <p:cNvPr id="33" name="Group 32">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34" name="Rectangle 33">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48232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2A4B6D42-A869-BEA0-4C92-FEE1CBC35567}"/>
              </a:ext>
            </a:extLst>
          </p:cNvPr>
          <p:cNvSpPr>
            <a:spLocks noGrp="1"/>
          </p:cNvSpPr>
          <p:nvPr>
            <p:ph type="title"/>
          </p:nvPr>
        </p:nvSpPr>
        <p:spPr>
          <a:xfrm>
            <a:off x="126206" y="700777"/>
            <a:ext cx="6091762" cy="1325563"/>
          </a:xfrm>
        </p:spPr>
        <p:txBody>
          <a:bodyPr anchor="b">
            <a:normAutofit/>
          </a:bodyPr>
          <a:lstStyle/>
          <a:p>
            <a:pPr algn="r"/>
            <a:r>
              <a:rPr lang="en-US" sz="4100" dirty="0">
                <a:solidFill>
                  <a:schemeClr val="bg1"/>
                </a:solidFill>
              </a:rPr>
              <a:t>System Architecture &amp; Data</a:t>
            </a:r>
          </a:p>
        </p:txBody>
      </p:sp>
      <p:cxnSp>
        <p:nvCxnSpPr>
          <p:cNvPr id="15" name="Straight Connector 14">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E23B2E9F-3753-699F-494B-01AA6921BE2B}"/>
              </a:ext>
            </a:extLst>
          </p:cNvPr>
          <p:cNvSpPr>
            <a:spLocks noGrp="1" noChangeArrowheads="1"/>
          </p:cNvSpPr>
          <p:nvPr>
            <p:ph idx="1"/>
          </p:nvPr>
        </p:nvSpPr>
        <p:spPr bwMode="auto">
          <a:xfrm>
            <a:off x="409797" y="2141533"/>
            <a:ext cx="11616342" cy="43438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None/>
              <a:tabLst/>
            </a:pPr>
            <a:r>
              <a:rPr kumimoji="0" lang="en-US" altLang="en-US" sz="2500" b="1" i="0" u="none" strike="noStrike" cap="none" normalizeH="0" baseline="0" dirty="0">
                <a:ln>
                  <a:noFill/>
                </a:ln>
                <a:solidFill>
                  <a:schemeClr val="bg1"/>
                </a:solidFill>
                <a:effectLst/>
                <a:latin typeface="Arial" panose="020B0604020202020204" pitchFamily="34" charset="0"/>
              </a:rPr>
              <a:t>Assets:</a:t>
            </a:r>
            <a:r>
              <a:rPr kumimoji="0" lang="en-US" altLang="en-US" sz="2500" b="0" i="0" u="none" strike="noStrike" cap="none" normalizeH="0" baseline="0" dirty="0">
                <a:ln>
                  <a:noFill/>
                </a:ln>
                <a:solidFill>
                  <a:schemeClr val="bg1"/>
                </a:solidFill>
                <a:effectLst/>
                <a:latin typeface="Arial" panose="020B0604020202020204" pitchFamily="34" charset="0"/>
              </a:rPr>
              <a:t> </a:t>
            </a:r>
            <a:r>
              <a:rPr kumimoji="0" lang="en-US" altLang="en-US" sz="2500" b="1" i="0" u="none" strike="noStrike" cap="none" normalizeH="0" baseline="0" dirty="0">
                <a:ln>
                  <a:noFill/>
                </a:ln>
                <a:solidFill>
                  <a:schemeClr val="bg1"/>
                </a:solidFill>
                <a:effectLst/>
                <a:latin typeface="Arial" panose="020B0604020202020204" pitchFamily="34" charset="0"/>
              </a:rPr>
              <a:t>NVDA (Nvidia)</a:t>
            </a:r>
            <a:r>
              <a:rPr kumimoji="0" lang="en-US" altLang="en-US" sz="2500" b="0" i="0" u="none" strike="noStrike" cap="none" normalizeH="0" baseline="0" dirty="0">
                <a:ln>
                  <a:noFill/>
                </a:ln>
                <a:solidFill>
                  <a:schemeClr val="bg1"/>
                </a:solidFill>
                <a:effectLst/>
                <a:latin typeface="Arial" panose="020B0604020202020204" pitchFamily="34" charset="0"/>
              </a:rPr>
              <a:t> and </a:t>
            </a:r>
            <a:r>
              <a:rPr kumimoji="0" lang="en-US" altLang="en-US" sz="2500" b="1" i="0" u="none" strike="noStrike" cap="none" normalizeH="0" baseline="0" dirty="0">
                <a:ln>
                  <a:noFill/>
                </a:ln>
                <a:solidFill>
                  <a:schemeClr val="bg1"/>
                </a:solidFill>
                <a:effectLst/>
                <a:latin typeface="Arial" panose="020B0604020202020204" pitchFamily="34" charset="0"/>
              </a:rPr>
              <a:t>TSLA (Tesla)</a:t>
            </a:r>
            <a:r>
              <a:rPr kumimoji="0" lang="en-US" altLang="en-US" sz="2500" b="0" i="0" u="none" strike="noStrike" cap="none" normalizeH="0" baseline="0" dirty="0">
                <a:ln>
                  <a:noFill/>
                </a:ln>
                <a:solidFill>
                  <a:schemeClr val="bg1"/>
                </a:solidFill>
                <a:effectLst/>
                <a:latin typeface="Arial" panose="020B0604020202020204" pitchFamily="34" charset="0"/>
              </a:rPr>
              <a:t> Only.</a:t>
            </a:r>
          </a:p>
          <a:p>
            <a:pPr marL="457200" lvl="1" indent="0" eaLnBrk="0" fontAlgn="base" hangingPunct="0">
              <a:spcBef>
                <a:spcPct val="0"/>
              </a:spcBef>
              <a:spcAft>
                <a:spcPts val="600"/>
              </a:spcAft>
              <a:buFontTx/>
              <a:buChar char="•"/>
            </a:pPr>
            <a:r>
              <a:rPr kumimoji="0" lang="en-US" altLang="en-US" sz="2500" b="0" i="1" u="none" strike="noStrike" cap="none" normalizeH="0" baseline="0" dirty="0">
                <a:ln>
                  <a:noFill/>
                </a:ln>
                <a:solidFill>
                  <a:schemeClr val="bg1"/>
                </a:solidFill>
                <a:effectLst/>
                <a:latin typeface="Arial" panose="020B0604020202020204" pitchFamily="34" charset="0"/>
              </a:rPr>
              <a:t>Why?</a:t>
            </a:r>
            <a:r>
              <a:rPr kumimoji="0" lang="en-US" altLang="en-US" sz="2500" b="0" i="0" u="none" strike="noStrike" cap="none" normalizeH="0" baseline="0" dirty="0">
                <a:ln>
                  <a:noFill/>
                </a:ln>
                <a:solidFill>
                  <a:schemeClr val="bg1"/>
                </a:solidFill>
                <a:effectLst/>
                <a:latin typeface="Arial" panose="020B0604020202020204" pitchFamily="34" charset="0"/>
              </a:rPr>
              <a:t> Massive liquidity and high volatility ("Embedded Leverage"). They respect institutional technical levels.</a:t>
            </a:r>
          </a:p>
          <a:p>
            <a:pPr marL="0" marR="0" lvl="0" indent="0" defTabSz="914400" rtl="0" eaLnBrk="0" fontAlgn="base" latinLnBrk="0" hangingPunct="0">
              <a:lnSpc>
                <a:spcPct val="150000"/>
              </a:lnSpc>
              <a:spcBef>
                <a:spcPct val="0"/>
              </a:spcBef>
              <a:spcAft>
                <a:spcPts val="600"/>
              </a:spcAft>
              <a:buClrTx/>
              <a:buSzTx/>
              <a:buNone/>
              <a:tabLst/>
            </a:pPr>
            <a:r>
              <a:rPr kumimoji="0" lang="en-US" altLang="en-US" sz="2500" b="1" i="0" u="none" strike="noStrike" cap="none" normalizeH="0" baseline="0" dirty="0">
                <a:ln>
                  <a:noFill/>
                </a:ln>
                <a:solidFill>
                  <a:schemeClr val="bg1"/>
                </a:solidFill>
                <a:effectLst/>
                <a:latin typeface="Arial" panose="020B0604020202020204" pitchFamily="34" charset="0"/>
              </a:rPr>
              <a:t>Data Source:</a:t>
            </a:r>
            <a:r>
              <a:rPr kumimoji="0" lang="en-US" altLang="en-US" sz="2500" b="0" i="0" u="none" strike="noStrike" cap="none" normalizeH="0" baseline="0" dirty="0">
                <a:ln>
                  <a:noFill/>
                </a:ln>
                <a:solidFill>
                  <a:schemeClr val="bg1"/>
                </a:solidFill>
                <a:effectLst/>
                <a:latin typeface="Arial" panose="020B0604020202020204" pitchFamily="34" charset="0"/>
              </a:rPr>
              <a:t> </a:t>
            </a:r>
            <a:r>
              <a:rPr kumimoji="0" lang="en-US" altLang="en-US" sz="2500" b="1" i="0" u="none" strike="noStrike" cap="none" normalizeH="0" baseline="0" dirty="0">
                <a:ln>
                  <a:noFill/>
                </a:ln>
                <a:solidFill>
                  <a:schemeClr val="bg1"/>
                </a:solidFill>
                <a:effectLst/>
                <a:latin typeface="Arial" panose="020B0604020202020204" pitchFamily="34" charset="0"/>
              </a:rPr>
              <a:t>Nasdaq </a:t>
            </a:r>
            <a:r>
              <a:rPr kumimoji="0" lang="en-US" altLang="en-US" sz="2500" b="1" i="0" u="none" strike="noStrike" cap="none" normalizeH="0" baseline="0" dirty="0" err="1">
                <a:ln>
                  <a:noFill/>
                </a:ln>
                <a:solidFill>
                  <a:schemeClr val="bg1"/>
                </a:solidFill>
                <a:effectLst/>
                <a:latin typeface="Arial" panose="020B0604020202020204" pitchFamily="34" charset="0"/>
              </a:rPr>
              <a:t>TotalView</a:t>
            </a:r>
            <a:r>
              <a:rPr kumimoji="0" lang="en-US" altLang="en-US" sz="2500" b="1" i="0" u="none" strike="noStrike" cap="none" normalizeH="0" baseline="0" dirty="0">
                <a:ln>
                  <a:noFill/>
                </a:ln>
                <a:solidFill>
                  <a:schemeClr val="bg1"/>
                </a:solidFill>
                <a:effectLst/>
                <a:latin typeface="Arial" panose="020B0604020202020204" pitchFamily="34" charset="0"/>
              </a:rPr>
              <a:t> (ITCH)</a:t>
            </a:r>
            <a:r>
              <a:rPr kumimoji="0" lang="en-US" altLang="en-US" sz="2500" b="0" i="0" u="none" strike="noStrike" cap="none" normalizeH="0" baseline="0" dirty="0">
                <a:ln>
                  <a:noFill/>
                </a:ln>
                <a:solidFill>
                  <a:schemeClr val="bg1"/>
                </a:solidFill>
                <a:effectLst/>
                <a:latin typeface="Arial" panose="020B0604020202020204" pitchFamily="34" charset="0"/>
              </a:rPr>
              <a:t>.</a:t>
            </a:r>
          </a:p>
          <a:p>
            <a:pPr marL="457200" lvl="1" indent="0" eaLnBrk="0" fontAlgn="base" hangingPunct="0">
              <a:spcBef>
                <a:spcPct val="0"/>
              </a:spcBef>
              <a:spcAft>
                <a:spcPts val="600"/>
              </a:spcAft>
              <a:buFontTx/>
              <a:buChar char="•"/>
            </a:pPr>
            <a:r>
              <a:rPr kumimoji="0" lang="en-US" altLang="en-US" sz="2500" b="0" i="1" u="none" strike="noStrike" cap="none" normalizeH="0" baseline="0" dirty="0">
                <a:ln>
                  <a:noFill/>
                </a:ln>
                <a:solidFill>
                  <a:schemeClr val="bg1"/>
                </a:solidFill>
                <a:effectLst/>
                <a:latin typeface="Arial" panose="020B0604020202020204" pitchFamily="34" charset="0"/>
              </a:rPr>
              <a:t>Timeline:</a:t>
            </a:r>
            <a:r>
              <a:rPr kumimoji="0" lang="en-US" altLang="en-US" sz="2500" b="0" i="0" u="none" strike="noStrike" cap="none" normalizeH="0" baseline="0" dirty="0">
                <a:ln>
                  <a:noFill/>
                </a:ln>
                <a:solidFill>
                  <a:schemeClr val="bg1"/>
                </a:solidFill>
                <a:effectLst/>
                <a:latin typeface="Arial" panose="020B0604020202020204" pitchFamily="34" charset="0"/>
              </a:rPr>
              <a:t> </a:t>
            </a:r>
            <a:r>
              <a:rPr kumimoji="0" lang="en-US" altLang="en-US" sz="2500" b="1" i="0" u="none" strike="noStrike" cap="none" normalizeH="0" baseline="0" dirty="0">
                <a:ln>
                  <a:noFill/>
                </a:ln>
                <a:solidFill>
                  <a:schemeClr val="bg1"/>
                </a:solidFill>
                <a:effectLst/>
                <a:latin typeface="Arial" panose="020B0604020202020204" pitchFamily="34" charset="0"/>
              </a:rPr>
              <a:t>Jan 1, 2020 – Present.</a:t>
            </a: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2500" b="0" i="1" u="none" strike="noStrike" cap="none" normalizeH="0" baseline="0" dirty="0">
                <a:ln>
                  <a:noFill/>
                </a:ln>
                <a:solidFill>
                  <a:schemeClr val="bg1"/>
                </a:solidFill>
                <a:effectLst/>
                <a:latin typeface="Arial" panose="020B0604020202020204" pitchFamily="34" charset="0"/>
              </a:rPr>
              <a:t>Why 2020?</a:t>
            </a:r>
            <a:r>
              <a:rPr kumimoji="0" lang="en-US" altLang="en-US" sz="2500" b="0" i="0" u="none" strike="noStrike" cap="none" normalizeH="0" baseline="0" dirty="0">
                <a:ln>
                  <a:noFill/>
                </a:ln>
                <a:solidFill>
                  <a:schemeClr val="bg1"/>
                </a:solidFill>
                <a:effectLst/>
                <a:latin typeface="Arial" panose="020B0604020202020204" pitchFamily="34" charset="0"/>
              </a:rPr>
              <a:t> Captures the modern volatility regime (COVID crash, AI boom, Inflation). Old data is irrelevant.</a:t>
            </a:r>
          </a:p>
          <a:p>
            <a:pPr marL="0" marR="0" lvl="0" indent="0" defTabSz="914400" rtl="0" eaLnBrk="0" fontAlgn="base" latinLnBrk="0" hangingPunct="0">
              <a:lnSpc>
                <a:spcPct val="150000"/>
              </a:lnSpc>
              <a:spcBef>
                <a:spcPct val="0"/>
              </a:spcBef>
              <a:spcAft>
                <a:spcPts val="600"/>
              </a:spcAft>
              <a:buClrTx/>
              <a:buSzTx/>
              <a:buNone/>
              <a:tabLst/>
            </a:pPr>
            <a:r>
              <a:rPr kumimoji="0" lang="en-US" altLang="en-US" sz="2500" b="1" i="0" u="none" strike="noStrike" cap="none" normalizeH="0" baseline="0" dirty="0">
                <a:ln>
                  <a:noFill/>
                </a:ln>
                <a:solidFill>
                  <a:schemeClr val="bg1"/>
                </a:solidFill>
                <a:effectLst/>
                <a:latin typeface="Arial" panose="020B0604020202020204" pitchFamily="34" charset="0"/>
              </a:rPr>
              <a:t>Training Split:</a:t>
            </a: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2500" b="1" i="0" u="none" strike="noStrike" cap="none" normalizeH="0" baseline="0" dirty="0">
                <a:ln>
                  <a:noFill/>
                </a:ln>
                <a:solidFill>
                  <a:schemeClr val="bg1"/>
                </a:solidFill>
                <a:effectLst/>
                <a:latin typeface="Arial" panose="020B0604020202020204" pitchFamily="34" charset="0"/>
              </a:rPr>
              <a:t>80% Train:</a:t>
            </a:r>
            <a:r>
              <a:rPr kumimoji="0" lang="en-US" altLang="en-US" sz="2500" b="0" i="0" u="none" strike="noStrike" cap="none" normalizeH="0" baseline="0" dirty="0">
                <a:ln>
                  <a:noFill/>
                </a:ln>
                <a:solidFill>
                  <a:schemeClr val="bg1"/>
                </a:solidFill>
                <a:effectLst/>
                <a:latin typeface="Arial" panose="020B0604020202020204" pitchFamily="34" charset="0"/>
              </a:rPr>
              <a:t> Learning the physics.</a:t>
            </a:r>
          </a:p>
          <a:p>
            <a:pPr marL="457200" lvl="1" indent="0" eaLnBrk="0" fontAlgn="base" hangingPunct="0">
              <a:spcBef>
                <a:spcPct val="0"/>
              </a:spcBef>
              <a:spcAft>
                <a:spcPts val="600"/>
              </a:spcAft>
              <a:buFontTx/>
              <a:buChar char="•"/>
            </a:pPr>
            <a:r>
              <a:rPr kumimoji="0" lang="en-US" altLang="en-US" sz="2500" b="1" i="0" u="none" strike="noStrike" cap="none" normalizeH="0" baseline="0" dirty="0">
                <a:ln>
                  <a:noFill/>
                </a:ln>
                <a:solidFill>
                  <a:schemeClr val="bg1"/>
                </a:solidFill>
                <a:effectLst/>
                <a:latin typeface="Arial" panose="020B0604020202020204" pitchFamily="34" charset="0"/>
              </a:rPr>
              <a:t>20% Test:</a:t>
            </a:r>
            <a:r>
              <a:rPr kumimoji="0" lang="en-US" altLang="en-US" sz="2500" b="0" i="0" u="none" strike="noStrike" cap="none" normalizeH="0" baseline="0" dirty="0">
                <a:ln>
                  <a:noFill/>
                </a:ln>
                <a:solidFill>
                  <a:schemeClr val="bg1"/>
                </a:solidFill>
                <a:effectLst/>
                <a:latin typeface="Arial" panose="020B0604020202020204" pitchFamily="34" charset="0"/>
              </a:rPr>
              <a:t> "Out of Sample" </a:t>
            </a:r>
            <a:r>
              <a:rPr kumimoji="0" lang="en-US" altLang="en-US" sz="2500" b="0" i="0" u="none" strike="noStrike" cap="none" normalizeH="0" baseline="0" dirty="0" err="1">
                <a:ln>
                  <a:noFill/>
                </a:ln>
                <a:solidFill>
                  <a:schemeClr val="bg1"/>
                </a:solidFill>
                <a:effectLst/>
                <a:latin typeface="Arial" panose="020B0604020202020204" pitchFamily="34" charset="0"/>
              </a:rPr>
              <a:t>backtesting</a:t>
            </a:r>
            <a:r>
              <a:rPr kumimoji="0" lang="en-US" altLang="en-US" sz="2500" b="0" i="0" u="none" strike="noStrike" cap="none" normalizeH="0" baseline="0" dirty="0">
                <a:ln>
                  <a:noFill/>
                </a:ln>
                <a:solidFill>
                  <a:schemeClr val="bg1"/>
                </a:solidFill>
                <a:effectLst/>
                <a:latin typeface="Arial" panose="020B0604020202020204" pitchFamily="34" charset="0"/>
              </a:rPr>
              <a:t> (Live Simulation).</a:t>
            </a:r>
          </a:p>
          <a:p>
            <a:pPr marL="0" marR="0" lvl="0" indent="0" defTabSz="914400" rtl="0" eaLnBrk="0" fontAlgn="base" latinLnBrk="0" hangingPunct="0">
              <a:spcBef>
                <a:spcPct val="0"/>
              </a:spcBef>
              <a:spcAft>
                <a:spcPts val="600"/>
              </a:spcAft>
              <a:buClrTx/>
              <a:buSzTx/>
              <a:buFontTx/>
              <a:buNone/>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p:txBody>
      </p:sp>
      <p:sp>
        <p:nvSpPr>
          <p:cNvPr id="16" name="Rectangle 15">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2205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85BD543-67A8-B058-5707-9B4ED632B61A}"/>
              </a:ext>
            </a:extLst>
          </p:cNvPr>
          <p:cNvSpPr>
            <a:spLocks noGrp="1"/>
          </p:cNvSpPr>
          <p:nvPr>
            <p:ph type="title"/>
          </p:nvPr>
        </p:nvSpPr>
        <p:spPr>
          <a:xfrm>
            <a:off x="442258" y="700777"/>
            <a:ext cx="4588839" cy="1325563"/>
          </a:xfrm>
        </p:spPr>
        <p:txBody>
          <a:bodyPr anchor="b">
            <a:normAutofit/>
          </a:bodyPr>
          <a:lstStyle/>
          <a:p>
            <a:pPr algn="r"/>
            <a:r>
              <a:rPr lang="en-US" dirty="0">
                <a:solidFill>
                  <a:schemeClr val="bg1"/>
                </a:solidFill>
              </a:rPr>
              <a:t>The RL Agent (PPO)</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E25D797-8193-A4B9-FAFC-1E472D3765C9}"/>
              </a:ext>
            </a:extLst>
          </p:cNvPr>
          <p:cNvSpPr>
            <a:spLocks noGrp="1"/>
          </p:cNvSpPr>
          <p:nvPr>
            <p:ph idx="1"/>
          </p:nvPr>
        </p:nvSpPr>
        <p:spPr>
          <a:xfrm>
            <a:off x="551759" y="2141533"/>
            <a:ext cx="11088481" cy="3758253"/>
          </a:xfrm>
        </p:spPr>
        <p:txBody>
          <a:bodyPr>
            <a:noAutofit/>
          </a:bodyPr>
          <a:lstStyle/>
          <a:p>
            <a:pPr marL="0" indent="0">
              <a:buNone/>
            </a:pPr>
            <a:r>
              <a:rPr lang="en-US" sz="2500" b="1" dirty="0">
                <a:solidFill>
                  <a:schemeClr val="bg1"/>
                </a:solidFill>
              </a:rPr>
              <a:t>Algorithm:</a:t>
            </a:r>
            <a:r>
              <a:rPr lang="en-US" sz="2500" dirty="0">
                <a:solidFill>
                  <a:schemeClr val="bg1"/>
                </a:solidFill>
              </a:rPr>
              <a:t> </a:t>
            </a:r>
            <a:r>
              <a:rPr lang="en-US" sz="2500" b="1" dirty="0">
                <a:solidFill>
                  <a:schemeClr val="bg1"/>
                </a:solidFill>
              </a:rPr>
              <a:t>PPO (Proximal Policy Optimization).</a:t>
            </a:r>
            <a:endParaRPr lang="en-US" sz="2500" dirty="0">
              <a:solidFill>
                <a:schemeClr val="bg1"/>
              </a:solidFill>
            </a:endParaRPr>
          </a:p>
          <a:p>
            <a:pPr lvl="1"/>
            <a:r>
              <a:rPr lang="en-US" sz="2500" i="1" dirty="0">
                <a:solidFill>
                  <a:schemeClr val="bg1"/>
                </a:solidFill>
              </a:rPr>
              <a:t>Why?</a:t>
            </a:r>
            <a:r>
              <a:rPr lang="en-US" sz="2500" dirty="0">
                <a:solidFill>
                  <a:schemeClr val="bg1"/>
                </a:solidFill>
              </a:rPr>
              <a:t> Stable, robust, and industry standard for continuous problems.</a:t>
            </a:r>
          </a:p>
          <a:p>
            <a:pPr marL="0" indent="0">
              <a:lnSpc>
                <a:spcPct val="150000"/>
              </a:lnSpc>
              <a:buNone/>
            </a:pPr>
            <a:r>
              <a:rPr lang="en-US" sz="2500" b="1" dirty="0">
                <a:solidFill>
                  <a:schemeClr val="bg1"/>
                </a:solidFill>
              </a:rPr>
              <a:t>Action (Output):</a:t>
            </a:r>
            <a:r>
              <a:rPr lang="en-US" sz="2500" dirty="0">
                <a:solidFill>
                  <a:schemeClr val="bg1"/>
                </a:solidFill>
              </a:rPr>
              <a:t> Discrete Actions (0 Flat, 1 Long, 2 Sell).</a:t>
            </a:r>
          </a:p>
          <a:p>
            <a:pPr marL="0" indent="0">
              <a:lnSpc>
                <a:spcPct val="150000"/>
              </a:lnSpc>
              <a:buNone/>
            </a:pPr>
            <a:r>
              <a:rPr lang="en-US" sz="2500" b="1" dirty="0">
                <a:solidFill>
                  <a:schemeClr val="bg1"/>
                </a:solidFill>
              </a:rPr>
              <a:t>Reward Function:</a:t>
            </a:r>
            <a:endParaRPr lang="en-US" sz="2500" dirty="0">
              <a:solidFill>
                <a:schemeClr val="bg1"/>
              </a:solidFill>
            </a:endParaRPr>
          </a:p>
          <a:p>
            <a:pPr lvl="1"/>
            <a:r>
              <a:rPr lang="en-US" sz="2500" b="1" dirty="0">
                <a:solidFill>
                  <a:schemeClr val="bg1"/>
                </a:solidFill>
              </a:rPr>
              <a:t>Profit:</a:t>
            </a:r>
            <a:r>
              <a:rPr lang="en-US" sz="2500" dirty="0">
                <a:solidFill>
                  <a:schemeClr val="bg1"/>
                </a:solidFill>
              </a:rPr>
              <a:t> Scaled </a:t>
            </a:r>
            <a:r>
              <a:rPr lang="en-US" sz="2500" dirty="0" err="1">
                <a:solidFill>
                  <a:schemeClr val="bg1"/>
                </a:solidFill>
              </a:rPr>
              <a:t>PnL</a:t>
            </a:r>
            <a:r>
              <a:rPr lang="en-US" sz="2500" dirty="0">
                <a:solidFill>
                  <a:schemeClr val="bg1"/>
                </a:solidFill>
              </a:rPr>
              <a:t> (Directly proportional to dollar return)</a:t>
            </a:r>
          </a:p>
          <a:p>
            <a:pPr lvl="2">
              <a:buFont typeface="Wingdings" pitchFamily="2" charset="2"/>
              <a:buChar char="ü"/>
            </a:pPr>
            <a:r>
              <a:rPr lang="en-US" sz="1700" dirty="0">
                <a:solidFill>
                  <a:schemeClr val="bg1"/>
                </a:solidFill>
              </a:rPr>
              <a:t>Profit $100 -&gt; Reward +1.0</a:t>
            </a:r>
          </a:p>
          <a:p>
            <a:pPr lvl="2">
              <a:buFont typeface="Wingdings" pitchFamily="2" charset="2"/>
              <a:buChar char="ü"/>
            </a:pPr>
            <a:r>
              <a:rPr lang="en-US" sz="1700" dirty="0">
                <a:solidFill>
                  <a:schemeClr val="bg1"/>
                </a:solidFill>
              </a:rPr>
              <a:t>Profit $500 -&gt; Reward +5.0</a:t>
            </a:r>
          </a:p>
          <a:p>
            <a:pPr lvl="2">
              <a:buFont typeface="Wingdings" pitchFamily="2" charset="2"/>
              <a:buChar char="ü"/>
            </a:pPr>
            <a:r>
              <a:rPr lang="en-US" sz="1700" dirty="0">
                <a:solidFill>
                  <a:schemeClr val="bg1"/>
                </a:solidFill>
              </a:rPr>
              <a:t>Profit $5,000 -&gt; Reward +50.0</a:t>
            </a:r>
          </a:p>
          <a:p>
            <a:pPr lvl="1"/>
            <a:r>
              <a:rPr lang="en-US" sz="2500" b="1" dirty="0">
                <a:solidFill>
                  <a:schemeClr val="bg1"/>
                </a:solidFill>
              </a:rPr>
              <a:t>Pain Penalty:</a:t>
            </a:r>
            <a:r>
              <a:rPr lang="en-US" sz="2500" dirty="0">
                <a:solidFill>
                  <a:schemeClr val="bg1"/>
                </a:solidFill>
              </a:rPr>
              <a:t> -0.3 points per minute for holding a losing trade</a:t>
            </a:r>
          </a:p>
          <a:p>
            <a:pPr lvl="1"/>
            <a:r>
              <a:rPr lang="en-US" sz="2500" b="1" dirty="0">
                <a:solidFill>
                  <a:schemeClr val="bg1"/>
                </a:solidFill>
              </a:rPr>
              <a:t>Goal:</a:t>
            </a:r>
            <a:r>
              <a:rPr lang="en-US" sz="2500" dirty="0">
                <a:solidFill>
                  <a:schemeClr val="bg1"/>
                </a:solidFill>
              </a:rPr>
              <a:t> Force the Agent to "Cut Losers Fast" and "Let Winners Run”</a:t>
            </a:r>
          </a:p>
          <a:p>
            <a:endParaRPr lang="en-US" sz="25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077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8A7C7B-2794-F16B-391F-EDE064E26C72}"/>
              </a:ext>
            </a:extLst>
          </p:cNvPr>
          <p:cNvSpPr>
            <a:spLocks noGrp="1"/>
          </p:cNvSpPr>
          <p:nvPr>
            <p:ph type="title"/>
          </p:nvPr>
        </p:nvSpPr>
        <p:spPr>
          <a:xfrm>
            <a:off x="404247" y="841376"/>
            <a:ext cx="4391024" cy="977619"/>
          </a:xfrm>
        </p:spPr>
        <p:txBody>
          <a:bodyPr vert="horz" lIns="91440" tIns="45720" rIns="91440" bIns="45720" rtlCol="0" anchor="t">
            <a:normAutofit/>
          </a:bodyPr>
          <a:lstStyle/>
          <a:p>
            <a:r>
              <a:rPr lang="en-US" sz="4000" kern="1200" dirty="0">
                <a:solidFill>
                  <a:schemeClr val="bg1"/>
                </a:solidFill>
                <a:latin typeface="+mj-lt"/>
                <a:ea typeface="+mj-ea"/>
                <a:cs typeface="+mj-cs"/>
              </a:rPr>
              <a:t>Performance Goals </a:t>
            </a:r>
          </a:p>
        </p:txBody>
      </p:sp>
      <p:sp>
        <p:nvSpPr>
          <p:cNvPr id="7" name="TextBox 6">
            <a:extLst>
              <a:ext uri="{FF2B5EF4-FFF2-40B4-BE49-F238E27FC236}">
                <a16:creationId xmlns:a16="http://schemas.microsoft.com/office/drawing/2014/main" id="{711229F0-E703-F801-EA1A-E3915E6B8340}"/>
              </a:ext>
            </a:extLst>
          </p:cNvPr>
          <p:cNvSpPr txBox="1"/>
          <p:nvPr/>
        </p:nvSpPr>
        <p:spPr>
          <a:xfrm>
            <a:off x="235220" y="2510725"/>
            <a:ext cx="5596984" cy="3089975"/>
          </a:xfrm>
          <a:prstGeom prst="rect">
            <a:avLst/>
          </a:prstGeom>
        </p:spPr>
        <p:txBody>
          <a:bodyPr vert="horz" lIns="91440" tIns="45720" rIns="91440" bIns="45720" rtlCol="0">
            <a:normAutofit fontScale="77500" lnSpcReduction="20000"/>
          </a:bodyPr>
          <a:lstStyle/>
          <a:p>
            <a:pPr marL="571500" lvl="0" indent="-571500" fontAlgn="base">
              <a:lnSpc>
                <a:spcPct val="90000"/>
              </a:lnSpc>
              <a:spcBef>
                <a:spcPct val="0"/>
              </a:spcBef>
              <a:spcAft>
                <a:spcPts val="600"/>
              </a:spcAft>
              <a:buFont typeface="Wingdings" pitchFamily="2" charset="2"/>
              <a:buChar char="q"/>
            </a:pPr>
            <a:r>
              <a:rPr lang="en-US" altLang="en-US" sz="4000" dirty="0">
                <a:solidFill>
                  <a:schemeClr val="bg1"/>
                </a:solidFill>
                <a:latin typeface="+mj-lt"/>
                <a:ea typeface="+mj-ea"/>
                <a:cs typeface="+mj-cs"/>
              </a:rPr>
              <a:t>The Power of </a:t>
            </a:r>
            <a:r>
              <a:rPr lang="en-US" altLang="en-US" sz="4000" dirty="0" err="1">
                <a:solidFill>
                  <a:schemeClr val="bg1"/>
                </a:solidFill>
                <a:latin typeface="+mj-lt"/>
                <a:ea typeface="+mj-ea"/>
                <a:cs typeface="+mj-cs"/>
              </a:rPr>
              <a:t>ViperQ</a:t>
            </a:r>
            <a:r>
              <a:rPr lang="en-US" altLang="en-US" sz="4000" dirty="0">
                <a:solidFill>
                  <a:schemeClr val="bg1"/>
                </a:solidFill>
                <a:latin typeface="+mj-lt"/>
                <a:ea typeface="+mj-ea"/>
                <a:cs typeface="+mj-cs"/>
              </a:rPr>
              <a:t>: We don't need home runs. We need consistent 5% monthly growth.</a:t>
            </a:r>
          </a:p>
          <a:p>
            <a:pPr marL="571500" lvl="0" indent="-571500" fontAlgn="base">
              <a:lnSpc>
                <a:spcPct val="90000"/>
              </a:lnSpc>
              <a:spcBef>
                <a:spcPct val="0"/>
              </a:spcBef>
              <a:spcAft>
                <a:spcPts val="600"/>
              </a:spcAft>
              <a:buFont typeface="Wingdings" pitchFamily="2" charset="2"/>
              <a:buChar char="q"/>
            </a:pPr>
            <a:endParaRPr lang="en-US" altLang="en-US" sz="4000" dirty="0">
              <a:solidFill>
                <a:schemeClr val="bg1"/>
              </a:solidFill>
              <a:latin typeface="+mj-lt"/>
              <a:ea typeface="+mj-ea"/>
              <a:cs typeface="+mj-cs"/>
            </a:endParaRPr>
          </a:p>
          <a:p>
            <a:pPr marL="571500" lvl="0" indent="-571500" fontAlgn="base">
              <a:lnSpc>
                <a:spcPct val="90000"/>
              </a:lnSpc>
              <a:spcBef>
                <a:spcPct val="0"/>
              </a:spcBef>
              <a:spcAft>
                <a:spcPts val="600"/>
              </a:spcAft>
              <a:buFont typeface="Wingdings" pitchFamily="2" charset="2"/>
              <a:buChar char="q"/>
            </a:pPr>
            <a:r>
              <a:rPr lang="en-US" altLang="en-US" sz="4000" dirty="0">
                <a:solidFill>
                  <a:schemeClr val="bg1"/>
                </a:solidFill>
                <a:latin typeface="+mj-lt"/>
                <a:ea typeface="+mj-ea"/>
                <a:cs typeface="+mj-cs"/>
              </a:rPr>
              <a:t>Compounding: Reinvesting profits triples the account size in one year at 5%/month.</a:t>
            </a:r>
          </a:p>
        </p:txBody>
      </p:sp>
      <p:grpSp>
        <p:nvGrpSpPr>
          <p:cNvPr id="23" name="Group 22">
            <a:extLst>
              <a:ext uri="{FF2B5EF4-FFF2-40B4-BE49-F238E27FC236}">
                <a16:creationId xmlns:a16="http://schemas.microsoft.com/office/drawing/2014/main" id="{D44E3F87-3D58-4B03-86B2-15A5C5B9C9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96000" y="841376"/>
            <a:ext cx="5260976" cy="4707593"/>
            <a:chOff x="6096000" y="841376"/>
            <a:chExt cx="5260976" cy="4707593"/>
          </a:xfrm>
          <a:effectLst>
            <a:outerShdw blurRad="381000" dist="152400" dir="5400000" algn="ctr" rotWithShape="0">
              <a:srgbClr val="000000">
                <a:alpha val="10000"/>
              </a:srgbClr>
            </a:outerShdw>
          </a:effectLst>
        </p:grpSpPr>
        <p:grpSp>
          <p:nvGrpSpPr>
            <p:cNvPr id="24" name="Group 23">
              <a:extLst>
                <a:ext uri="{FF2B5EF4-FFF2-40B4-BE49-F238E27FC236}">
                  <a16:creationId xmlns:a16="http://schemas.microsoft.com/office/drawing/2014/main" id="{B4D09509-F6FC-47A6-B196-CCCFD8E8305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1" y="841376"/>
              <a:ext cx="5260975" cy="4707593"/>
              <a:chOff x="6096001" y="841376"/>
              <a:chExt cx="5260975" cy="4707593"/>
            </a:xfrm>
          </p:grpSpPr>
          <p:sp>
            <p:nvSpPr>
              <p:cNvPr id="28" name="Freeform: Shape 27">
                <a:extLst>
                  <a:ext uri="{FF2B5EF4-FFF2-40B4-BE49-F238E27FC236}">
                    <a16:creationId xmlns:a16="http://schemas.microsoft.com/office/drawing/2014/main" id="{BA5B9D66-192D-4F12-964D-2B23A1D27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C9C14E68-C469-4A71-AF08-169DB545FC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841376"/>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3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3 w 5260975"/>
                  <a:gd name="connsiteY10" fmla="*/ 3775382 h 4707593"/>
                  <a:gd name="connsiteX11" fmla="*/ 4897844 w 5260975"/>
                  <a:gd name="connsiteY11" fmla="*/ 3792472 h 4707593"/>
                  <a:gd name="connsiteX12" fmla="*/ 4870767 w 5260975"/>
                  <a:gd name="connsiteY12" fmla="*/ 3811388 h 4707593"/>
                  <a:gd name="connsiteX13" fmla="*/ 4847916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49 w 5260975"/>
                  <a:gd name="connsiteY22" fmla="*/ 4089832 h 4707593"/>
                  <a:gd name="connsiteX23" fmla="*/ 4468944 w 5260975"/>
                  <a:gd name="connsiteY23" fmla="*/ 4113356 h 4707593"/>
                  <a:gd name="connsiteX24" fmla="*/ 4452622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25" name="Group 24">
              <a:extLst>
                <a:ext uri="{FF2B5EF4-FFF2-40B4-BE49-F238E27FC236}">
                  <a16:creationId xmlns:a16="http://schemas.microsoft.com/office/drawing/2014/main" id="{B2C18990-7F62-45E8-B68F-47E95E4812F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96000" y="4138312"/>
              <a:ext cx="5260975" cy="1410656"/>
              <a:chOff x="6096000" y="4138312"/>
              <a:chExt cx="5260975" cy="1410656"/>
            </a:xfrm>
          </p:grpSpPr>
          <p:sp>
            <p:nvSpPr>
              <p:cNvPr id="26" name="Freeform: Shape 25">
                <a:extLst>
                  <a:ext uri="{FF2B5EF4-FFF2-40B4-BE49-F238E27FC236}">
                    <a16:creationId xmlns:a16="http://schemas.microsoft.com/office/drawing/2014/main" id="{AC206BB2-3759-4DF0-9932-7445B6367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381FA6FA-3CB6-4F57-8871-82DDE5BE8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aphicFrame>
        <p:nvGraphicFramePr>
          <p:cNvPr id="4" name="Content Placeholder 3">
            <a:extLst>
              <a:ext uri="{FF2B5EF4-FFF2-40B4-BE49-F238E27FC236}">
                <a16:creationId xmlns:a16="http://schemas.microsoft.com/office/drawing/2014/main" id="{83CEDDF7-2E5D-70D5-1A76-515FEDE4C2F9}"/>
              </a:ext>
            </a:extLst>
          </p:cNvPr>
          <p:cNvGraphicFramePr>
            <a:graphicFrameLocks noGrp="1"/>
          </p:cNvGraphicFramePr>
          <p:nvPr>
            <p:ph idx="1"/>
            <p:extLst>
              <p:ext uri="{D42A27DB-BD31-4B8C-83A1-F6EECF244321}">
                <p14:modId xmlns:p14="http://schemas.microsoft.com/office/powerpoint/2010/main" val="1547383538"/>
              </p:ext>
            </p:extLst>
          </p:nvPr>
        </p:nvGraphicFramePr>
        <p:xfrm>
          <a:off x="6067424" y="1075202"/>
          <a:ext cx="5889356" cy="4525500"/>
        </p:xfrm>
        <a:graphic>
          <a:graphicData uri="http://schemas.openxmlformats.org/drawingml/2006/table">
            <a:tbl>
              <a:tblPr>
                <a:tableStyleId>{8EC20E35-A176-4012-BC5E-935CFFF8708E}</a:tableStyleId>
              </a:tblPr>
              <a:tblGrid>
                <a:gridCol w="2270664">
                  <a:extLst>
                    <a:ext uri="{9D8B030D-6E8A-4147-A177-3AD203B41FA5}">
                      <a16:colId xmlns:a16="http://schemas.microsoft.com/office/drawing/2014/main" val="1566990581"/>
                    </a:ext>
                  </a:extLst>
                </a:gridCol>
                <a:gridCol w="1658319">
                  <a:extLst>
                    <a:ext uri="{9D8B030D-6E8A-4147-A177-3AD203B41FA5}">
                      <a16:colId xmlns:a16="http://schemas.microsoft.com/office/drawing/2014/main" val="4259826808"/>
                    </a:ext>
                  </a:extLst>
                </a:gridCol>
                <a:gridCol w="1960373">
                  <a:extLst>
                    <a:ext uri="{9D8B030D-6E8A-4147-A177-3AD203B41FA5}">
                      <a16:colId xmlns:a16="http://schemas.microsoft.com/office/drawing/2014/main" val="4289117847"/>
                    </a:ext>
                  </a:extLst>
                </a:gridCol>
              </a:tblGrid>
              <a:tr h="1131375">
                <a:tc>
                  <a:txBody>
                    <a:bodyPr/>
                    <a:lstStyle/>
                    <a:p>
                      <a:pPr rtl="0">
                        <a:buNone/>
                      </a:pPr>
                      <a:r>
                        <a:rPr lang="en-US" sz="1500" b="1" dirty="0">
                          <a:solidFill>
                            <a:srgbClr val="1F1F1F"/>
                          </a:solidFill>
                          <a:effectLst/>
                        </a:rPr>
                        <a:t>Strategy</a:t>
                      </a:r>
                      <a:endParaRPr lang="en-US" sz="1500" dirty="0">
                        <a:solidFill>
                          <a:srgbClr val="1F1F1F"/>
                        </a:solidFill>
                        <a:effectLst/>
                        <a:latin typeface="Google Sans Text"/>
                      </a:endParaRPr>
                    </a:p>
                  </a:txBody>
                  <a:tcPr marL="95269" marR="95269" marT="63513" marB="63513" anchor="ctr"/>
                </a:tc>
                <a:tc>
                  <a:txBody>
                    <a:bodyPr/>
                    <a:lstStyle/>
                    <a:p>
                      <a:pPr rtl="0">
                        <a:buNone/>
                      </a:pPr>
                      <a:r>
                        <a:rPr lang="en-US" sz="1500" b="1" dirty="0">
                          <a:solidFill>
                            <a:srgbClr val="1F1F1F"/>
                          </a:solidFill>
                          <a:effectLst/>
                        </a:rPr>
                        <a:t>Monthly Return</a:t>
                      </a:r>
                      <a:endParaRPr lang="en-US" sz="1500" dirty="0">
                        <a:solidFill>
                          <a:srgbClr val="1F1F1F"/>
                        </a:solidFill>
                        <a:effectLst/>
                        <a:latin typeface="Google Sans Text"/>
                      </a:endParaRPr>
                    </a:p>
                  </a:txBody>
                  <a:tcPr marL="95269" marR="95269" marT="63513" marB="63513" anchor="ctr"/>
                </a:tc>
                <a:tc>
                  <a:txBody>
                    <a:bodyPr/>
                    <a:lstStyle/>
                    <a:p>
                      <a:pPr rtl="0">
                        <a:buNone/>
                      </a:pPr>
                      <a:r>
                        <a:rPr lang="en-US" sz="1500" b="1">
                          <a:solidFill>
                            <a:srgbClr val="1F1F1F"/>
                          </a:solidFill>
                          <a:effectLst/>
                        </a:rPr>
                        <a:t>Annual Return (Reinvested)</a:t>
                      </a:r>
                      <a:endParaRPr lang="en-US" sz="1500">
                        <a:solidFill>
                          <a:srgbClr val="1F1F1F"/>
                        </a:solidFill>
                        <a:effectLst/>
                        <a:latin typeface="Google Sans Text"/>
                      </a:endParaRPr>
                    </a:p>
                  </a:txBody>
                  <a:tcPr marL="95269" marR="95269" marT="63513" marB="63513" anchor="ctr"/>
                </a:tc>
                <a:extLst>
                  <a:ext uri="{0D108BD9-81ED-4DB2-BD59-A6C34878D82A}">
                    <a16:rowId xmlns:a16="http://schemas.microsoft.com/office/drawing/2014/main" val="2501914945"/>
                  </a:ext>
                </a:extLst>
              </a:tr>
              <a:tr h="1131375">
                <a:tc>
                  <a:txBody>
                    <a:bodyPr/>
                    <a:lstStyle/>
                    <a:p>
                      <a:pPr rtl="0">
                        <a:buNone/>
                      </a:pPr>
                      <a:r>
                        <a:rPr lang="en-US" sz="1500" b="1" dirty="0">
                          <a:solidFill>
                            <a:srgbClr val="1F1F1F"/>
                          </a:solidFill>
                          <a:effectLst/>
                        </a:rPr>
                        <a:t>S&amp;P 500 (Benchmark)</a:t>
                      </a:r>
                      <a:endParaRPr lang="en-US" sz="1500" dirty="0">
                        <a:solidFill>
                          <a:srgbClr val="1F1F1F"/>
                        </a:solidFill>
                        <a:effectLst/>
                        <a:latin typeface="Google Sans Text"/>
                      </a:endParaRPr>
                    </a:p>
                  </a:txBody>
                  <a:tcPr marL="95269" marR="95269" marT="63513" marB="63513" anchor="ctr"/>
                </a:tc>
                <a:tc>
                  <a:txBody>
                    <a:bodyPr/>
                    <a:lstStyle/>
                    <a:p>
                      <a:pPr rtl="0">
                        <a:buNone/>
                      </a:pPr>
                      <a:r>
                        <a:rPr lang="en-US" sz="1500">
                          <a:solidFill>
                            <a:srgbClr val="1F1F1F"/>
                          </a:solidFill>
                          <a:effectLst/>
                        </a:rPr>
                        <a:t>~0.8%</a:t>
                      </a:r>
                      <a:endParaRPr lang="en-US" sz="1500">
                        <a:solidFill>
                          <a:srgbClr val="1F1F1F"/>
                        </a:solidFill>
                        <a:effectLst/>
                        <a:latin typeface="Google Sans Text"/>
                      </a:endParaRPr>
                    </a:p>
                  </a:txBody>
                  <a:tcPr marL="95269" marR="95269" marT="63513" marB="63513" anchor="ctr"/>
                </a:tc>
                <a:tc>
                  <a:txBody>
                    <a:bodyPr/>
                    <a:lstStyle/>
                    <a:p>
                      <a:pPr rtl="0">
                        <a:buNone/>
                      </a:pPr>
                      <a:r>
                        <a:rPr lang="en-US" sz="1500" b="1">
                          <a:solidFill>
                            <a:srgbClr val="1F1F1F"/>
                          </a:solidFill>
                          <a:effectLst/>
                        </a:rPr>
                        <a:t>~10%</a:t>
                      </a:r>
                      <a:endParaRPr lang="en-US" sz="1500">
                        <a:solidFill>
                          <a:srgbClr val="1F1F1F"/>
                        </a:solidFill>
                        <a:effectLst/>
                        <a:latin typeface="Google Sans Text"/>
                      </a:endParaRPr>
                    </a:p>
                  </a:txBody>
                  <a:tcPr marL="95269" marR="95269" marT="63513" marB="63513" anchor="ctr"/>
                </a:tc>
                <a:extLst>
                  <a:ext uri="{0D108BD9-81ED-4DB2-BD59-A6C34878D82A}">
                    <a16:rowId xmlns:a16="http://schemas.microsoft.com/office/drawing/2014/main" val="2117348785"/>
                  </a:ext>
                </a:extLst>
              </a:tr>
              <a:tr h="1131375">
                <a:tc>
                  <a:txBody>
                    <a:bodyPr/>
                    <a:lstStyle/>
                    <a:p>
                      <a:pPr rtl="0">
                        <a:buNone/>
                      </a:pPr>
                      <a:r>
                        <a:rPr lang="en-US" sz="1500" b="1" dirty="0" err="1">
                          <a:solidFill>
                            <a:srgbClr val="1F1F1F"/>
                          </a:solidFill>
                          <a:effectLst/>
                        </a:rPr>
                        <a:t>ViperQ</a:t>
                      </a:r>
                      <a:r>
                        <a:rPr lang="en-US" sz="1500" b="1" dirty="0">
                          <a:solidFill>
                            <a:srgbClr val="1F1F1F"/>
                          </a:solidFill>
                          <a:effectLst/>
                        </a:rPr>
                        <a:t> Target </a:t>
                      </a:r>
                      <a:endParaRPr lang="en-US" sz="1500" dirty="0">
                        <a:solidFill>
                          <a:srgbClr val="1F1F1F"/>
                        </a:solidFill>
                        <a:effectLst/>
                        <a:latin typeface="Google Sans Text"/>
                      </a:endParaRPr>
                    </a:p>
                  </a:txBody>
                  <a:tcPr marL="95269" marR="95269" marT="63513" marB="63513" anchor="ctr"/>
                </a:tc>
                <a:tc>
                  <a:txBody>
                    <a:bodyPr/>
                    <a:lstStyle/>
                    <a:p>
                      <a:pPr rtl="0">
                        <a:buNone/>
                      </a:pPr>
                      <a:r>
                        <a:rPr lang="en-US" sz="1500" b="1">
                          <a:solidFill>
                            <a:srgbClr val="1F1F1F"/>
                          </a:solidFill>
                          <a:effectLst/>
                        </a:rPr>
                        <a:t>5%</a:t>
                      </a:r>
                      <a:endParaRPr lang="en-US" sz="1500">
                        <a:solidFill>
                          <a:srgbClr val="1F1F1F"/>
                        </a:solidFill>
                        <a:effectLst/>
                        <a:latin typeface="Google Sans Text"/>
                      </a:endParaRPr>
                    </a:p>
                  </a:txBody>
                  <a:tcPr marL="95269" marR="95269" marT="63513" marB="63513" anchor="ctr"/>
                </a:tc>
                <a:tc>
                  <a:txBody>
                    <a:bodyPr/>
                    <a:lstStyle/>
                    <a:p>
                      <a:pPr rtl="0">
                        <a:buNone/>
                      </a:pPr>
                      <a:r>
                        <a:rPr lang="en-US" sz="1500" b="1" dirty="0">
                          <a:solidFill>
                            <a:srgbClr val="1F1F1F"/>
                          </a:solidFill>
                          <a:effectLst/>
                        </a:rPr>
                        <a:t>+80%</a:t>
                      </a:r>
                      <a:endParaRPr lang="en-US" sz="1500" dirty="0">
                        <a:solidFill>
                          <a:srgbClr val="1F1F1F"/>
                        </a:solidFill>
                        <a:effectLst/>
                        <a:latin typeface="Google Sans Text"/>
                      </a:endParaRPr>
                    </a:p>
                  </a:txBody>
                  <a:tcPr marL="95269" marR="95269" marT="63513" marB="63513" anchor="ctr"/>
                </a:tc>
                <a:extLst>
                  <a:ext uri="{0D108BD9-81ED-4DB2-BD59-A6C34878D82A}">
                    <a16:rowId xmlns:a16="http://schemas.microsoft.com/office/drawing/2014/main" val="386434108"/>
                  </a:ext>
                </a:extLst>
              </a:tr>
              <a:tr h="1131375">
                <a:tc>
                  <a:txBody>
                    <a:bodyPr/>
                    <a:lstStyle/>
                    <a:p>
                      <a:pPr rtl="0">
                        <a:buNone/>
                      </a:pPr>
                      <a:r>
                        <a:rPr lang="en-US" sz="1500" b="1" dirty="0" err="1">
                          <a:solidFill>
                            <a:srgbClr val="1F1F1F"/>
                          </a:solidFill>
                          <a:effectLst/>
                        </a:rPr>
                        <a:t>ViperQ</a:t>
                      </a:r>
                      <a:r>
                        <a:rPr lang="en-US" sz="1500" b="1" dirty="0">
                          <a:solidFill>
                            <a:srgbClr val="1F1F1F"/>
                          </a:solidFill>
                          <a:effectLst/>
                        </a:rPr>
                        <a:t> Target (Ideal)</a:t>
                      </a:r>
                      <a:endParaRPr lang="en-US" sz="1500" dirty="0">
                        <a:solidFill>
                          <a:srgbClr val="1F1F1F"/>
                        </a:solidFill>
                        <a:effectLst/>
                        <a:latin typeface="Google Sans Text"/>
                      </a:endParaRPr>
                    </a:p>
                  </a:txBody>
                  <a:tcPr marL="95269" marR="95269" marT="63513" marB="63513" anchor="ctr"/>
                </a:tc>
                <a:tc>
                  <a:txBody>
                    <a:bodyPr/>
                    <a:lstStyle/>
                    <a:p>
                      <a:pPr rtl="0">
                        <a:buNone/>
                      </a:pPr>
                      <a:r>
                        <a:rPr lang="en-US" sz="1500" b="1" dirty="0">
                          <a:solidFill>
                            <a:srgbClr val="1F1F1F"/>
                          </a:solidFill>
                          <a:effectLst/>
                        </a:rPr>
                        <a:t>10%</a:t>
                      </a:r>
                      <a:endParaRPr lang="en-US" sz="1500" dirty="0">
                        <a:solidFill>
                          <a:srgbClr val="1F1F1F"/>
                        </a:solidFill>
                        <a:effectLst/>
                        <a:latin typeface="Google Sans Text"/>
                      </a:endParaRPr>
                    </a:p>
                  </a:txBody>
                  <a:tcPr marL="95269" marR="95269" marT="63513" marB="63513" anchor="ctr"/>
                </a:tc>
                <a:tc>
                  <a:txBody>
                    <a:bodyPr/>
                    <a:lstStyle/>
                    <a:p>
                      <a:pPr rtl="0">
                        <a:buNone/>
                      </a:pPr>
                      <a:r>
                        <a:rPr lang="en-US" sz="1500" b="1" dirty="0">
                          <a:solidFill>
                            <a:srgbClr val="1F1F1F"/>
                          </a:solidFill>
                          <a:effectLst/>
                        </a:rPr>
                        <a:t>+213%</a:t>
                      </a:r>
                      <a:endParaRPr lang="en-US" sz="1500" dirty="0">
                        <a:solidFill>
                          <a:srgbClr val="1F1F1F"/>
                        </a:solidFill>
                        <a:effectLst/>
                        <a:latin typeface="Google Sans Text"/>
                      </a:endParaRPr>
                    </a:p>
                  </a:txBody>
                  <a:tcPr marL="95269" marR="95269" marT="63513" marB="63513" anchor="ctr"/>
                </a:tc>
                <a:extLst>
                  <a:ext uri="{0D108BD9-81ED-4DB2-BD59-A6C34878D82A}">
                    <a16:rowId xmlns:a16="http://schemas.microsoft.com/office/drawing/2014/main" val="716129930"/>
                  </a:ext>
                </a:extLst>
              </a:tr>
            </a:tbl>
          </a:graphicData>
        </a:graphic>
      </p:graphicFrame>
    </p:spTree>
    <p:extLst>
      <p:ext uri="{BB962C8B-B14F-4D97-AF65-F5344CB8AC3E}">
        <p14:creationId xmlns:p14="http://schemas.microsoft.com/office/powerpoint/2010/main" val="1974244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AD2ADB8-C69E-7F9E-86C9-D1E0E5EE745A}"/>
              </a:ext>
            </a:extLst>
          </p:cNvPr>
          <p:cNvSpPr>
            <a:spLocks noGrp="1"/>
          </p:cNvSpPr>
          <p:nvPr>
            <p:ph type="title"/>
          </p:nvPr>
        </p:nvSpPr>
        <p:spPr>
          <a:xfrm>
            <a:off x="342254" y="671134"/>
            <a:ext cx="4508946" cy="1325563"/>
          </a:xfrm>
        </p:spPr>
        <p:txBody>
          <a:bodyPr anchor="b">
            <a:normAutofit/>
          </a:bodyPr>
          <a:lstStyle/>
          <a:p>
            <a:pPr algn="r"/>
            <a:r>
              <a:rPr lang="en-US" dirty="0">
                <a:solidFill>
                  <a:schemeClr val="bg1"/>
                </a:solidFill>
              </a:rPr>
              <a:t>Evaluation Metrics</a:t>
            </a:r>
          </a:p>
        </p:txBody>
      </p:sp>
      <p:cxnSp>
        <p:nvCxnSpPr>
          <p:cNvPr id="17" name="Straight Connector 1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8A0E3294-4C81-27D7-13D7-F803B1883A94}"/>
              </a:ext>
            </a:extLst>
          </p:cNvPr>
          <p:cNvSpPr>
            <a:spLocks noGrp="1" noChangeArrowheads="1"/>
          </p:cNvSpPr>
          <p:nvPr>
            <p:ph idx="1"/>
          </p:nvPr>
        </p:nvSpPr>
        <p:spPr bwMode="auto">
          <a:xfrm>
            <a:off x="1268681" y="2141534"/>
            <a:ext cx="9406666" cy="39088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None/>
              <a:tabLst/>
            </a:pPr>
            <a:r>
              <a:rPr kumimoji="0" lang="en-US" altLang="en-US" sz="2200" b="1" i="0" u="none" strike="noStrike" cap="none" normalizeH="0" baseline="0" dirty="0">
                <a:ln>
                  <a:noFill/>
                </a:ln>
                <a:solidFill>
                  <a:schemeClr val="bg1"/>
                </a:solidFill>
                <a:effectLst/>
                <a:latin typeface="Arial" panose="020B0604020202020204" pitchFamily="34" charset="0"/>
              </a:rPr>
              <a:t>1. Sharpe Ratio:</a:t>
            </a:r>
            <a:endParaRPr kumimoji="0" lang="en-US" altLang="en-US" sz="2200"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2200" b="0" i="0" u="none" strike="noStrike" cap="none" normalizeH="0" baseline="0" dirty="0">
                <a:ln>
                  <a:noFill/>
                </a:ln>
                <a:solidFill>
                  <a:schemeClr val="bg1"/>
                </a:solidFill>
                <a:effectLst/>
                <a:latin typeface="Arial" panose="020B0604020202020204" pitchFamily="34" charset="0"/>
              </a:rPr>
              <a:t>Measures Return vs. Risk.</a:t>
            </a:r>
          </a:p>
          <a:p>
            <a:pPr marL="457200" lvl="1" indent="0" eaLnBrk="0" fontAlgn="base" hangingPunct="0">
              <a:spcBef>
                <a:spcPct val="0"/>
              </a:spcBef>
              <a:spcAft>
                <a:spcPts val="600"/>
              </a:spcAft>
              <a:buFontTx/>
              <a:buChar char="•"/>
            </a:pPr>
            <a:r>
              <a:rPr kumimoji="0" lang="en-US" altLang="en-US" sz="2200" b="0" i="1" u="none" strike="noStrike" cap="none" normalizeH="0" baseline="0" dirty="0">
                <a:ln>
                  <a:noFill/>
                </a:ln>
                <a:solidFill>
                  <a:schemeClr val="bg1"/>
                </a:solidFill>
                <a:effectLst/>
                <a:latin typeface="Arial" panose="020B0604020202020204" pitchFamily="34" charset="0"/>
              </a:rPr>
              <a:t>Goal:</a:t>
            </a:r>
            <a:r>
              <a:rPr kumimoji="0" lang="en-US" altLang="en-US" sz="2200" b="0" i="0" u="none" strike="noStrike" cap="none" normalizeH="0" baseline="0" dirty="0">
                <a:ln>
                  <a:noFill/>
                </a:ln>
                <a:solidFill>
                  <a:schemeClr val="bg1"/>
                </a:solidFill>
                <a:effectLst/>
                <a:latin typeface="Arial" panose="020B0604020202020204" pitchFamily="34" charset="0"/>
              </a:rPr>
              <a:t> Sharpe &gt; 2.0 (Indicates skill, not luck).</a:t>
            </a:r>
          </a:p>
          <a:p>
            <a:pPr marL="457200" lvl="1" indent="0" eaLnBrk="0" fontAlgn="base" hangingPunct="0">
              <a:spcBef>
                <a:spcPct val="0"/>
              </a:spcBef>
              <a:spcAft>
                <a:spcPts val="600"/>
              </a:spcAft>
              <a:buFontTx/>
              <a:buChar char="•"/>
            </a:pPr>
            <a:endParaRPr kumimoji="0" lang="en-US" altLang="en-US" sz="22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2200" b="1" i="0" u="none" strike="noStrike" cap="none" normalizeH="0" baseline="0" dirty="0">
                <a:ln>
                  <a:noFill/>
                </a:ln>
                <a:solidFill>
                  <a:schemeClr val="bg1"/>
                </a:solidFill>
                <a:effectLst/>
                <a:latin typeface="Arial" panose="020B0604020202020204" pitchFamily="34" charset="0"/>
              </a:rPr>
              <a:t>2. Maximum Drawdown:</a:t>
            </a:r>
            <a:endParaRPr kumimoji="0" lang="en-US" altLang="en-US" sz="2200"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2200" b="0" i="0" u="none" strike="noStrike" cap="none" normalizeH="0" baseline="0" dirty="0">
                <a:ln>
                  <a:noFill/>
                </a:ln>
                <a:solidFill>
                  <a:schemeClr val="bg1"/>
                </a:solidFill>
                <a:effectLst/>
                <a:latin typeface="Arial" panose="020B0604020202020204" pitchFamily="34" charset="0"/>
              </a:rPr>
              <a:t>The worst peak-to-trough drop.</a:t>
            </a:r>
          </a:p>
          <a:p>
            <a:pPr marL="457200" lvl="1" indent="0" eaLnBrk="0" fontAlgn="base" hangingPunct="0">
              <a:spcBef>
                <a:spcPct val="0"/>
              </a:spcBef>
              <a:spcAft>
                <a:spcPts val="600"/>
              </a:spcAft>
              <a:buFontTx/>
              <a:buChar char="•"/>
            </a:pPr>
            <a:r>
              <a:rPr kumimoji="0" lang="en-US" altLang="en-US" sz="2200" b="0" i="1" u="none" strike="noStrike" cap="none" normalizeH="0" baseline="0" dirty="0">
                <a:ln>
                  <a:noFill/>
                </a:ln>
                <a:solidFill>
                  <a:schemeClr val="bg1"/>
                </a:solidFill>
                <a:effectLst/>
                <a:latin typeface="Arial" panose="020B0604020202020204" pitchFamily="34" charset="0"/>
              </a:rPr>
              <a:t>Hard Rule:</a:t>
            </a:r>
            <a:r>
              <a:rPr kumimoji="0" lang="en-US" altLang="en-US" sz="2200" b="0" i="0" u="none" strike="noStrike" cap="none" normalizeH="0" baseline="0" dirty="0">
                <a:ln>
                  <a:noFill/>
                </a:ln>
                <a:solidFill>
                  <a:schemeClr val="bg1"/>
                </a:solidFill>
                <a:effectLst/>
                <a:latin typeface="Arial" panose="020B0604020202020204" pitchFamily="34" charset="0"/>
              </a:rPr>
              <a:t> If Drawdown &gt; 20%, the model fails.</a:t>
            </a:r>
          </a:p>
          <a:p>
            <a:pPr marL="457200" lvl="1" indent="0" eaLnBrk="0" fontAlgn="base" hangingPunct="0">
              <a:spcBef>
                <a:spcPct val="0"/>
              </a:spcBef>
              <a:spcAft>
                <a:spcPts val="600"/>
              </a:spcAft>
              <a:buFontTx/>
              <a:buChar char="•"/>
            </a:pPr>
            <a:endParaRPr kumimoji="0" lang="en-US" altLang="en-US" sz="2200" b="0" i="0" u="none" strike="noStrike" cap="none" normalizeH="0" baseline="0" dirty="0">
              <a:ln>
                <a:noFill/>
              </a:ln>
              <a:solidFill>
                <a:schemeClr val="bg1"/>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None/>
              <a:tabLst/>
            </a:pPr>
            <a:r>
              <a:rPr kumimoji="0" lang="en-US" altLang="en-US" sz="2200" b="1" i="0" u="none" strike="noStrike" cap="none" normalizeH="0" baseline="0" dirty="0">
                <a:ln>
                  <a:noFill/>
                </a:ln>
                <a:solidFill>
                  <a:schemeClr val="bg1"/>
                </a:solidFill>
                <a:effectLst/>
                <a:latin typeface="Arial" panose="020B0604020202020204" pitchFamily="34" charset="0"/>
              </a:rPr>
              <a:t>3. Win Rate vs. Risk/Reward:</a:t>
            </a:r>
            <a:endParaRPr kumimoji="0" lang="en-US" altLang="en-US" sz="2200" b="0" i="0" u="none" strike="noStrike" cap="none" normalizeH="0" baseline="0" dirty="0">
              <a:ln>
                <a:noFill/>
              </a:ln>
              <a:solidFill>
                <a:schemeClr val="bg1"/>
              </a:solidFill>
              <a:effectLst/>
              <a:latin typeface="Arial" panose="020B0604020202020204" pitchFamily="34" charset="0"/>
            </a:endParaRPr>
          </a:p>
          <a:p>
            <a:pPr marL="457200" lvl="1" indent="0" eaLnBrk="0" fontAlgn="base" hangingPunct="0">
              <a:spcBef>
                <a:spcPct val="0"/>
              </a:spcBef>
              <a:spcAft>
                <a:spcPts val="600"/>
              </a:spcAft>
              <a:buFontTx/>
              <a:buChar char="•"/>
            </a:pPr>
            <a:r>
              <a:rPr kumimoji="0" lang="en-US" altLang="en-US" sz="2200" b="0" i="0" u="none" strike="noStrike" cap="none" normalizeH="0" baseline="0" dirty="0">
                <a:ln>
                  <a:noFill/>
                </a:ln>
                <a:solidFill>
                  <a:schemeClr val="bg1"/>
                </a:solidFill>
                <a:effectLst/>
                <a:latin typeface="Arial" panose="020B0604020202020204" pitchFamily="34" charset="0"/>
              </a:rPr>
              <a:t>We don't need a 90% win rate.</a:t>
            </a:r>
          </a:p>
          <a:p>
            <a:pPr marL="457200" lvl="1" indent="0" eaLnBrk="0" fontAlgn="base" hangingPunct="0">
              <a:spcBef>
                <a:spcPct val="0"/>
              </a:spcBef>
              <a:spcAft>
                <a:spcPts val="600"/>
              </a:spcAft>
              <a:buFontTx/>
              <a:buChar char="•"/>
            </a:pPr>
            <a:r>
              <a:rPr kumimoji="0" lang="en-US" altLang="en-US" sz="2200" b="0" i="0" u="none" strike="noStrike" cap="none" normalizeH="0" baseline="0" dirty="0">
                <a:ln>
                  <a:noFill/>
                </a:ln>
                <a:solidFill>
                  <a:schemeClr val="bg1"/>
                </a:solidFill>
                <a:effectLst/>
                <a:latin typeface="Arial" panose="020B0604020202020204" pitchFamily="34" charset="0"/>
              </a:rPr>
              <a:t>We need small losses and big wins (Asymmetric Returns).</a:t>
            </a:r>
          </a:p>
          <a:p>
            <a:pPr marL="0" marR="0" lvl="0" indent="0" defTabSz="914400" rtl="0" eaLnBrk="0" fontAlgn="base" latinLnBrk="0" hangingPunct="0">
              <a:spcBef>
                <a:spcPct val="0"/>
              </a:spcBef>
              <a:spcAft>
                <a:spcPts val="600"/>
              </a:spcAft>
              <a:buClrTx/>
              <a:buSzTx/>
              <a:buFontTx/>
              <a:buNone/>
              <a:tabLst/>
            </a:pPr>
            <a:endParaRPr kumimoji="0" lang="en-US" altLang="en-US" sz="2200" b="0" i="0" u="none" strike="noStrike" cap="none" normalizeH="0" baseline="0" dirty="0">
              <a:ln>
                <a:noFill/>
              </a:ln>
              <a:solidFill>
                <a:schemeClr val="bg1"/>
              </a:solidFill>
              <a:effectLst/>
              <a:latin typeface="Arial" panose="020B0604020202020204" pitchFamily="34" charset="0"/>
            </a:endParaRPr>
          </a:p>
        </p:txBody>
      </p:sp>
      <p:sp>
        <p:nvSpPr>
          <p:cNvPr id="18" name="Rectangle 17">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4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039B92-E1B5-EB98-B9E8-E6FCBF605EFC}"/>
              </a:ext>
            </a:extLst>
          </p:cNvPr>
          <p:cNvSpPr>
            <a:spLocks noGrp="1"/>
          </p:cNvSpPr>
          <p:nvPr>
            <p:ph type="title"/>
          </p:nvPr>
        </p:nvSpPr>
        <p:spPr>
          <a:xfrm>
            <a:off x="838200" y="1195697"/>
            <a:ext cx="3200400" cy="4238118"/>
          </a:xfrm>
        </p:spPr>
        <p:txBody>
          <a:bodyPr>
            <a:normAutofit/>
          </a:bodyPr>
          <a:lstStyle/>
          <a:p>
            <a:r>
              <a:rPr lang="en-US" dirty="0">
                <a:solidFill>
                  <a:schemeClr val="bg1"/>
                </a:solidFill>
              </a:rPr>
              <a:t>Conclusion &amp; Goal</a:t>
            </a:r>
          </a:p>
        </p:txBody>
      </p:sp>
      <p:grpSp>
        <p:nvGrpSpPr>
          <p:cNvPr id="14"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3" name="Freeform: Shape 14">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7" name="Freeform: Shape 15">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8" name="Oval 17">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2"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19" name="Freeform: Shape 22">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1" name="Freeform: Shape 23">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7" name="Freeform: Shape 24">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38" name="Freeform: Shape 25">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9" name="Freeform: Shape 26">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0" name="Freeform: Shape 27">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1" name="Freeform: Shape 28">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2" name="Freeform: Shape 29">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3" name="Freeform: Shape 30">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4" name="Freeform: Shape 31">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5" name="Freeform: Shape 32">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6" name="Freeform: Shape 33">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7" name="Freeform: Shape 34">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6" name="Rectangle 1">
            <a:extLst>
              <a:ext uri="{FF2B5EF4-FFF2-40B4-BE49-F238E27FC236}">
                <a16:creationId xmlns:a16="http://schemas.microsoft.com/office/drawing/2014/main" id="{0F0933E7-FB45-8156-ECB1-AD4B5CDCE267}"/>
              </a:ext>
            </a:extLst>
          </p:cNvPr>
          <p:cNvGraphicFramePr>
            <a:graphicFrameLocks noGrp="1"/>
          </p:cNvGraphicFramePr>
          <p:nvPr>
            <p:ph idx="1"/>
            <p:extLst>
              <p:ext uri="{D42A27DB-BD31-4B8C-83A1-F6EECF244321}">
                <p14:modId xmlns:p14="http://schemas.microsoft.com/office/powerpoint/2010/main" val="2983396072"/>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9783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Yellow question mark">
            <a:extLst>
              <a:ext uri="{FF2B5EF4-FFF2-40B4-BE49-F238E27FC236}">
                <a16:creationId xmlns:a16="http://schemas.microsoft.com/office/drawing/2014/main" id="{075ED392-8670-DCD6-9C22-BDD7C3AF156F}"/>
              </a:ext>
            </a:extLst>
          </p:cNvPr>
          <p:cNvPicPr>
            <a:picLocks noChangeAspect="1"/>
          </p:cNvPicPr>
          <p:nvPr/>
        </p:nvPicPr>
        <p:blipFill>
          <a:blip r:embed="rId3">
            <a:alphaModFix amt="40000"/>
          </a:blip>
          <a:srcRect b="625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CD1C55E-B1CE-4E9A-B264-46E977D7916B}"/>
              </a:ext>
            </a:extLst>
          </p:cNvPr>
          <p:cNvSpPr>
            <a:spLocks noGrp="1"/>
          </p:cNvSpPr>
          <p:nvPr>
            <p:ph type="title"/>
          </p:nvPr>
        </p:nvSpPr>
        <p:spPr>
          <a:xfrm>
            <a:off x="391762" y="325465"/>
            <a:ext cx="10261600" cy="1925793"/>
          </a:xfrm>
        </p:spPr>
        <p:txBody>
          <a:bodyPr vert="horz" lIns="91440" tIns="45720" rIns="91440" bIns="45720" rtlCol="0" anchor="b">
            <a:normAutofit/>
          </a:bodyPr>
          <a:lstStyle/>
          <a:p>
            <a:r>
              <a:rPr lang="en-US" sz="11500" dirty="0">
                <a:ln w="22225">
                  <a:solidFill>
                    <a:schemeClr val="tx1"/>
                  </a:solidFill>
                  <a:miter lim="800000"/>
                </a:ln>
                <a:noFill/>
              </a:rPr>
              <a:t>Questions</a:t>
            </a:r>
          </a:p>
        </p:txBody>
      </p:sp>
    </p:spTree>
    <p:extLst>
      <p:ext uri="{BB962C8B-B14F-4D97-AF65-F5344CB8AC3E}">
        <p14:creationId xmlns:p14="http://schemas.microsoft.com/office/powerpoint/2010/main" val="238296252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DC397-19C0-A686-78B0-49424F29AF35}"/>
              </a:ext>
            </a:extLst>
          </p:cNvPr>
          <p:cNvSpPr>
            <a:spLocks noGrp="1"/>
          </p:cNvSpPr>
          <p:nvPr>
            <p:ph idx="1"/>
          </p:nvPr>
        </p:nvSpPr>
        <p:spPr>
          <a:xfrm>
            <a:off x="-1" y="1"/>
            <a:ext cx="11972925" cy="6857999"/>
          </a:xfrm>
        </p:spPr>
        <p:txBody>
          <a:bodyPr>
            <a:noAutofit/>
          </a:bodyPr>
          <a:lstStyle/>
          <a:p>
            <a:pPr marL="0" indent="0">
              <a:buNone/>
            </a:pPr>
            <a:r>
              <a:rPr lang="en-US" sz="1600" dirty="0"/>
              <a:t>These represent the "state" of the market at any given second, mostly normalized as Z-Scores or ratios so the model can read them easily across any price range:</a:t>
            </a:r>
          </a:p>
          <a:p>
            <a:pPr marL="342900" indent="-342900">
              <a:buFont typeface="+mj-lt"/>
              <a:buAutoNum type="arabicPeriod"/>
            </a:pPr>
            <a:r>
              <a:rPr lang="en-US" sz="1600" dirty="0" err="1"/>
              <a:t>z_price_vwap</a:t>
            </a:r>
            <a:r>
              <a:rPr lang="en-US" sz="1600" dirty="0"/>
              <a:t> (How far the current price is from VWAP, normalized)</a:t>
            </a:r>
          </a:p>
          <a:p>
            <a:pPr marL="342900" indent="-342900">
              <a:buFont typeface="+mj-lt"/>
              <a:buAutoNum type="arabicPeriod"/>
            </a:pPr>
            <a:r>
              <a:rPr lang="en-US" sz="1600" dirty="0" err="1"/>
              <a:t>z_price_vpoc</a:t>
            </a:r>
            <a:r>
              <a:rPr lang="en-US" sz="1600" dirty="0"/>
              <a:t> (How far the price is from the Volume Point of Control)</a:t>
            </a:r>
          </a:p>
          <a:p>
            <a:pPr marL="342900" indent="-342900">
              <a:buFont typeface="+mj-lt"/>
              <a:buAutoNum type="arabicPeriod"/>
            </a:pPr>
            <a:r>
              <a:rPr lang="en-US" sz="1600" dirty="0" err="1"/>
              <a:t>dist_to_wall</a:t>
            </a:r>
            <a:r>
              <a:rPr lang="en-US" sz="1600" dirty="0"/>
              <a:t> (Distance to the nearest large resting limit order / liquidity wall)</a:t>
            </a:r>
          </a:p>
          <a:p>
            <a:pPr marL="342900" indent="-342900">
              <a:buFont typeface="+mj-lt"/>
              <a:buAutoNum type="arabicPeriod"/>
            </a:pPr>
            <a:r>
              <a:rPr lang="en-US" sz="1600" dirty="0" err="1"/>
              <a:t>cvd_slope</a:t>
            </a:r>
            <a:r>
              <a:rPr lang="en-US" sz="1600" dirty="0"/>
              <a:t> (The trajectory/slope of the Cumulative Volume Delta) (tells us if that aggression is increasing or decreasing right now.)</a:t>
            </a:r>
          </a:p>
          <a:p>
            <a:pPr marL="342900" indent="-342900">
              <a:buFont typeface="+mj-lt"/>
              <a:buAutoNum type="arabicPeriod"/>
            </a:pPr>
            <a:r>
              <a:rPr lang="en-US" sz="1600" dirty="0" err="1"/>
              <a:t>cvd_divergence</a:t>
            </a:r>
            <a:r>
              <a:rPr lang="en-US" sz="1600" dirty="0"/>
              <a:t> (Difference between price trend and CVD trend) (This happens when Price goes UP, but the CVD (Aggressive Buying) goes DOWN. It means the price move is fake.)</a:t>
            </a:r>
          </a:p>
          <a:p>
            <a:pPr marL="342900" indent="-342900">
              <a:buFont typeface="+mj-lt"/>
              <a:buAutoNum type="arabicPeriod"/>
            </a:pPr>
            <a:r>
              <a:rPr lang="en-US" sz="1600" dirty="0" err="1"/>
              <a:t>tape_velocity</a:t>
            </a:r>
            <a:r>
              <a:rPr lang="en-US" sz="1600" dirty="0"/>
              <a:t> (Speed of incoming market orders) (Speedometer)</a:t>
            </a:r>
          </a:p>
          <a:p>
            <a:pPr marL="342900" indent="-342900">
              <a:buFont typeface="+mj-lt"/>
              <a:buAutoNum type="arabicPeriod"/>
            </a:pPr>
            <a:r>
              <a:rPr lang="en-US" sz="1600" dirty="0" err="1"/>
              <a:t>trade_size_z</a:t>
            </a:r>
            <a:r>
              <a:rPr lang="en-US" sz="1600" dirty="0"/>
              <a:t> (Normalized size of recent trades to spot institutional activity) (Whales Activity)</a:t>
            </a:r>
          </a:p>
          <a:p>
            <a:pPr marL="342900" indent="-342900">
              <a:buFont typeface="+mj-lt"/>
              <a:buAutoNum type="arabicPeriod"/>
            </a:pPr>
            <a:r>
              <a:rPr lang="en-US" sz="1600" dirty="0" err="1"/>
              <a:t>imbalance_ratio</a:t>
            </a:r>
            <a:r>
              <a:rPr lang="en-US" sz="1600" dirty="0"/>
              <a:t> (Order book pressure: Bid size vs Ask size)</a:t>
            </a:r>
          </a:p>
          <a:p>
            <a:pPr marL="342900" indent="-342900">
              <a:buFont typeface="+mj-lt"/>
              <a:buAutoNum type="arabicPeriod"/>
            </a:pPr>
            <a:r>
              <a:rPr lang="en-US" sz="1600" dirty="0" err="1"/>
              <a:t>in_lvn_zone</a:t>
            </a:r>
            <a:r>
              <a:rPr lang="en-US" sz="1600" dirty="0"/>
              <a:t> (Is price currently in a Low Volume Node / fast moving zone)</a:t>
            </a:r>
          </a:p>
          <a:p>
            <a:pPr marL="342900" indent="-342900">
              <a:buFont typeface="+mj-lt"/>
              <a:buAutoNum type="arabicPeriod"/>
            </a:pPr>
            <a:r>
              <a:rPr lang="en-US" sz="1600" dirty="0" err="1"/>
              <a:t>unrealized_pnl</a:t>
            </a:r>
            <a:r>
              <a:rPr lang="en-US" sz="1600" dirty="0"/>
              <a:t> (The agent's current open profit/loss, so it knows when to hold or fold)</a:t>
            </a:r>
          </a:p>
          <a:p>
            <a:pPr marL="342900" indent="-342900">
              <a:buFont typeface="+mj-lt"/>
              <a:buAutoNum type="arabicPeriod"/>
            </a:pPr>
            <a:r>
              <a:rPr lang="en-US" sz="1600" dirty="0" err="1"/>
              <a:t>time_in_trade</a:t>
            </a:r>
            <a:r>
              <a:rPr lang="en-US" sz="1600" dirty="0"/>
              <a:t> (Seconds elapsed since the trade was opened)</a:t>
            </a:r>
          </a:p>
          <a:p>
            <a:pPr marL="342900" indent="-342900">
              <a:buFont typeface="+mj-lt"/>
              <a:buAutoNum type="arabicPeriod"/>
            </a:pPr>
            <a:r>
              <a:rPr lang="en-US" sz="1600" dirty="0"/>
              <a:t>lag_1 (The previous second's price/feature state)</a:t>
            </a:r>
          </a:p>
          <a:p>
            <a:pPr marL="342900" indent="-342900">
              <a:buFont typeface="+mj-lt"/>
              <a:buAutoNum type="arabicPeriod"/>
            </a:pPr>
            <a:r>
              <a:rPr lang="en-US" sz="1600" dirty="0"/>
              <a:t>lag_2 (State from 2 seconds ago)</a:t>
            </a:r>
          </a:p>
          <a:p>
            <a:pPr marL="342900" indent="-342900">
              <a:buFont typeface="+mj-lt"/>
              <a:buAutoNum type="arabicPeriod"/>
            </a:pPr>
            <a:r>
              <a:rPr lang="en-US" sz="1600" dirty="0"/>
              <a:t>lag_3 (State from 3 seconds ago)</a:t>
            </a:r>
          </a:p>
          <a:p>
            <a:pPr marL="342900" indent="-342900">
              <a:buFont typeface="+mj-lt"/>
              <a:buAutoNum type="arabicPeriod"/>
            </a:pPr>
            <a:r>
              <a:rPr lang="en-US" sz="1600" dirty="0"/>
              <a:t>lag_4 (State from 4 seconds ago)</a:t>
            </a:r>
          </a:p>
          <a:p>
            <a:pPr marL="342900" indent="-342900">
              <a:buFont typeface="+mj-lt"/>
              <a:buAutoNum type="arabicPeriod"/>
            </a:pPr>
            <a:r>
              <a:rPr lang="en-US" sz="1600" dirty="0"/>
              <a:t>lag_5 (State from 5 seconds ago) 17. lag_6 (State from 6 seconds ago) 18. lag_7 (State from 7 seconds ago) </a:t>
            </a:r>
          </a:p>
          <a:p>
            <a:pPr marL="0" indent="0">
              <a:buNone/>
            </a:pPr>
            <a:r>
              <a:rPr lang="en-US" sz="1600" dirty="0"/>
              <a:t>19. lag_8 (State from 8 seconds ago) 20. lag_9 (State from 9 seconds ago)</a:t>
            </a:r>
          </a:p>
        </p:txBody>
      </p:sp>
    </p:spTree>
    <p:extLst>
      <p:ext uri="{BB962C8B-B14F-4D97-AF65-F5344CB8AC3E}">
        <p14:creationId xmlns:p14="http://schemas.microsoft.com/office/powerpoint/2010/main" val="1119963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354</TotalTime>
  <Words>2352</Words>
  <Application>Microsoft Macintosh PowerPoint</Application>
  <PresentationFormat>Widescreen</PresentationFormat>
  <Paragraphs>144</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Google Sans Text</vt:lpstr>
      <vt:lpstr>Wingdings</vt:lpstr>
      <vt:lpstr>Office Theme</vt:lpstr>
      <vt:lpstr>ViperQ: Order Flow &amp; Auction Market Theory Trading via Reinforcement Learning</vt:lpstr>
      <vt:lpstr>Agenda</vt:lpstr>
      <vt:lpstr>Motivation &amp; Related Work</vt:lpstr>
      <vt:lpstr>Market Physics (Order Flow 101)</vt:lpstr>
      <vt:lpstr>PowerPoint Presentation</vt:lpstr>
      <vt:lpstr>The Strategy (Auction Market Theory)</vt:lpstr>
      <vt:lpstr>System Architecture &amp; Data</vt:lpstr>
      <vt:lpstr>The RL Agent (PPO)</vt:lpstr>
      <vt:lpstr>Performance Goals </vt:lpstr>
      <vt:lpstr>Evaluation Metrics</vt:lpstr>
      <vt:lpstr>Conclusion &amp; Goal</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Asser Moustafa</dc:creator>
  <cp:lastModifiedBy>Asser Moustafa</cp:lastModifiedBy>
  <cp:revision>17</cp:revision>
  <dcterms:created xsi:type="dcterms:W3CDTF">2026-02-14T19:41:40Z</dcterms:created>
  <dcterms:modified xsi:type="dcterms:W3CDTF">2026-02-19T22:32:04Z</dcterms:modified>
</cp:coreProperties>
</file>