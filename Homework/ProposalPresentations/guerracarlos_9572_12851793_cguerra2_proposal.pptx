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0" r:id="rId4"/>
    <p:sldId id="280" r:id="rId5"/>
    <p:sldId id="275" r:id="rId6"/>
    <p:sldId id="272" r:id="rId7"/>
    <p:sldId id="271" r:id="rId8"/>
    <p:sldId id="274" r:id="rId9"/>
    <p:sldId id="273" r:id="rId10"/>
    <p:sldId id="278" r:id="rId11"/>
    <p:sldId id="279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879"/>
    <a:srgbClr val="D3B979"/>
    <a:srgbClr val="D2C121"/>
    <a:srgbClr val="D2B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67387-9832-611E-E7A6-A923E20181F9}" v="1111" dt="2026-02-17T19:42:04.106"/>
    <p1510:client id="{B2ACB09C-BE2E-FA4A-B2EA-FD4EFDE1782A}" v="22" dt="2026-02-17T13:38:25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CCS Signature - Revers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2438400"/>
            <a:ext cx="7391400" cy="1023257"/>
          </a:xfrm>
          <a:prstGeom prst="rect">
            <a:avLst/>
          </a:prstGeom>
        </p:spPr>
      </p:pic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B9DF502-3D08-9010-9FF0-CBE27D2101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84374"/>
            <a:ext cx="5029200" cy="95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9ADDE-98E8-4149-84E6-9A28F99CE161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CCS Signature - Reverse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51379"/>
            <a:ext cx="2581774" cy="354221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B121863-F0DA-266E-C438-314C66C7B65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6286093"/>
            <a:ext cx="2209800" cy="41950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 Black"/>
          <a:ea typeface="+mn-ea"/>
          <a:cs typeface="Arial Black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05050"/>
          </a:xfrm>
        </p:spPr>
        <p:txBody>
          <a:bodyPr>
            <a:normAutofit fontScale="90000"/>
          </a:bodyPr>
          <a:lstStyle/>
          <a:p>
            <a:r>
              <a:rPr lang="en-US"/>
              <a:t>Using Historical Financial Data and Sentiment Analysis with Reinforcement Learning for Day Trading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772400" cy="175260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/>
              <a:t>Carlos R Guerra</a:t>
            </a:r>
          </a:p>
          <a:p>
            <a:r>
              <a:rPr lang="en-US" dirty="0"/>
              <a:t>Department of Computer </a:t>
            </a:r>
            <a:r>
              <a:rPr lang="en-US"/>
              <a:t>Science</a:t>
            </a:r>
            <a:endParaRPr lang="en-US" dirty="0"/>
          </a:p>
          <a:p>
            <a:r>
              <a:rPr lang="en-US" dirty="0"/>
              <a:t>University of Colorado </a:t>
            </a:r>
            <a:r>
              <a:rPr lang="en-US" dirty="0" err="1"/>
              <a:t>Colorado</a:t>
            </a:r>
            <a:r>
              <a:rPr lang="en-US" dirty="0"/>
              <a:t> Springs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19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Inspiration and Sentiment Analysis</a:t>
            </a:r>
          </a:p>
          <a:p>
            <a:r>
              <a:rPr lang="en-US"/>
              <a:t>Data Sets and Tools</a:t>
            </a:r>
          </a:p>
          <a:p>
            <a:r>
              <a:rPr lang="en-US"/>
              <a:t>Goals and Reinforcement Learning</a:t>
            </a:r>
            <a:endParaRPr lang="en-US" dirty="0"/>
          </a:p>
          <a:p>
            <a:r>
              <a:rPr lang="en-US"/>
              <a:t>States, Actions, and Rewards</a:t>
            </a:r>
          </a:p>
          <a:p>
            <a:r>
              <a:rPr lang="en-US"/>
              <a:t>Plan and Expectations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of a company&#10;&#10;AI-generated content may be incorrect.">
            <a:extLst>
              <a:ext uri="{FF2B5EF4-FFF2-40B4-BE49-F238E27FC236}">
                <a16:creationId xmlns:a16="http://schemas.microsoft.com/office/drawing/2014/main" id="{6B220782-1FC8-E797-2B57-4DC47062F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53" t="15874" r="32353" b="16900"/>
          <a:stretch>
            <a:fillRect/>
          </a:stretch>
        </p:blipFill>
        <p:spPr>
          <a:xfrm>
            <a:off x="7838335" y="658585"/>
            <a:ext cx="1295400" cy="12954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Inspiration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1"/>
            <a:ext cx="6553200" cy="44957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influence of social media</a:t>
            </a:r>
          </a:p>
          <a:p>
            <a:r>
              <a:rPr lang="en-US"/>
              <a:t>Information availability and ease of trade</a:t>
            </a:r>
          </a:p>
          <a:p>
            <a:r>
              <a:rPr lang="en-US"/>
              <a:t>The Efficient Market Hypothesis</a:t>
            </a:r>
          </a:p>
          <a:p>
            <a:pPr lvl="1"/>
            <a:r>
              <a:rPr lang="en-US"/>
              <a:t>Prices of trade assets reflect ALL the publicly available information of the market</a:t>
            </a:r>
          </a:p>
        </p:txBody>
      </p:sp>
      <p:pic>
        <p:nvPicPr>
          <p:cNvPr id="3" name="Picture 2" descr="A white feather on a green background&#10;&#10;AI-generated content may be incorrect.">
            <a:extLst>
              <a:ext uri="{FF2B5EF4-FFF2-40B4-BE49-F238E27FC236}">
                <a16:creationId xmlns:a16="http://schemas.microsoft.com/office/drawing/2014/main" id="{26A11434-A7AA-592D-FD2C-2AB00284F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417638"/>
            <a:ext cx="1295400" cy="1295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green square with white text&#10;&#10;AI-generated content may be incorrect.">
            <a:extLst>
              <a:ext uri="{FF2B5EF4-FFF2-40B4-BE49-F238E27FC236}">
                <a16:creationId xmlns:a16="http://schemas.microsoft.com/office/drawing/2014/main" id="{ABD7E02E-3E90-2218-B28F-1A0AB55DBE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7" t="7202" r="17647" b="6764"/>
          <a:stretch>
            <a:fillRect/>
          </a:stretch>
        </p:blipFill>
        <p:spPr>
          <a:xfrm>
            <a:off x="6444755" y="2580972"/>
            <a:ext cx="1524001" cy="15009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A blue background with white circles and text&#10;&#10;AI-generated content may be incorrect.">
            <a:extLst>
              <a:ext uri="{FF2B5EF4-FFF2-40B4-BE49-F238E27FC236}">
                <a16:creationId xmlns:a16="http://schemas.microsoft.com/office/drawing/2014/main" id="{D628C5A9-E034-2E6D-6FE1-FDB0FBB6DB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959" y="3837214"/>
            <a:ext cx="1189038" cy="11890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039C98-4CB2-582B-82FF-4722204296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817" y="2469402"/>
            <a:ext cx="1536032" cy="160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30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6A59-B02E-5658-3A90-373C631F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pic>
        <p:nvPicPr>
          <p:cNvPr id="5" name="Content Placeholder 4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F5EAED05-323A-4D77-70C2-CAF6B19BD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39" r="404" b="15319"/>
          <a:stretch>
            <a:fillRect/>
          </a:stretch>
        </p:blipFill>
        <p:spPr>
          <a:xfrm>
            <a:off x="0" y="1356766"/>
            <a:ext cx="5357285" cy="2992493"/>
          </a:xfrm>
          <a:prstGeom prst="rect">
            <a:avLst/>
          </a:prstGeom>
        </p:spPr>
      </p:pic>
      <p:pic>
        <p:nvPicPr>
          <p:cNvPr id="9" name="Picture 8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8D46745E-E032-3F86-F411-0FDC32AB2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014" y="533400"/>
            <a:ext cx="3365500" cy="2806700"/>
          </a:xfrm>
          <a:prstGeom prst="rect">
            <a:avLst/>
          </a:prstGeom>
        </p:spPr>
      </p:pic>
      <p:pic>
        <p:nvPicPr>
          <p:cNvPr id="11" name="Picture 10" descr="A graph of a stock price&#10;&#10;AI-generated content may be incorrect.">
            <a:extLst>
              <a:ext uri="{FF2B5EF4-FFF2-40B4-BE49-F238E27FC236}">
                <a16:creationId xmlns:a16="http://schemas.microsoft.com/office/drawing/2014/main" id="{63AA8E24-B88E-E073-AF1B-59FD6042D4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214" y="4038600"/>
            <a:ext cx="3733800" cy="2102596"/>
          </a:xfrm>
          <a:prstGeom prst="rect">
            <a:avLst/>
          </a:prstGeom>
        </p:spPr>
      </p:pic>
      <p:pic>
        <p:nvPicPr>
          <p:cNvPr id="7" name="Picture 6" descr="A store front with a sign&#10;&#10;AI-generated content may be incorrect.">
            <a:extLst>
              <a:ext uri="{FF2B5EF4-FFF2-40B4-BE49-F238E27FC236}">
                <a16:creationId xmlns:a16="http://schemas.microsoft.com/office/drawing/2014/main" id="{F0998E0C-A9E4-B4BB-A589-C0FA06C82A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285" y="3754892"/>
            <a:ext cx="3759441" cy="21153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720575-72CA-FC0F-1CD7-8DE99EA28A3D}"/>
              </a:ext>
            </a:extLst>
          </p:cNvPr>
          <p:cNvSpPr txBox="1"/>
          <p:nvPr/>
        </p:nvSpPr>
        <p:spPr>
          <a:xfrm rot="2916154">
            <a:off x="4062105" y="1752083"/>
            <a:ext cx="679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$4B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40E42C-B5A7-C9E9-F75A-9A123F231446}"/>
              </a:ext>
            </a:extLst>
          </p:cNvPr>
          <p:cNvSpPr txBox="1"/>
          <p:nvPr/>
        </p:nvSpPr>
        <p:spPr>
          <a:xfrm rot="2916154">
            <a:off x="8156943" y="1134665"/>
            <a:ext cx="731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$14B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BE1C12-3639-B818-F993-1390205567AC}"/>
              </a:ext>
            </a:extLst>
          </p:cNvPr>
          <p:cNvSpPr txBox="1"/>
          <p:nvPr/>
        </p:nvSpPr>
        <p:spPr>
          <a:xfrm rot="2916154">
            <a:off x="4458297" y="4439734"/>
            <a:ext cx="915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$17B?</a:t>
            </a:r>
          </a:p>
        </p:txBody>
      </p:sp>
    </p:spTree>
    <p:extLst>
      <p:ext uri="{BB962C8B-B14F-4D97-AF65-F5344CB8AC3E}">
        <p14:creationId xmlns:p14="http://schemas.microsoft.com/office/powerpoint/2010/main" val="3320425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4A38-230F-FFE6-8904-8A9267567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51F18F-03FC-D3F1-64B5-DFCA9076D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Sentiment Analysis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5D61A0-D72C-DEC1-A446-98E9DD74C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196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“Sentiment analysis, or opinion mining, is the process of analyzing large volumes of text to determine whether it expresses a positive sentiment, a negative sentiment or a neutral sentiment” – IBM</a:t>
            </a:r>
          </a:p>
          <a:p>
            <a:r>
              <a:rPr lang="en-US"/>
              <a:t>Can be gathered from many sources</a:t>
            </a:r>
          </a:p>
          <a:p>
            <a:pPr lvl="1"/>
            <a:r>
              <a:rPr lang="en-US"/>
              <a:t>News articles, blogs, financial reports, interview transcripts, product reviews, social media interactions, etc.</a:t>
            </a:r>
          </a:p>
          <a:p>
            <a:r>
              <a:rPr lang="en-US"/>
              <a:t>Natural Language libraries trained on financial scenarios specifically</a:t>
            </a:r>
          </a:p>
        </p:txBody>
      </p:sp>
    </p:spTree>
    <p:extLst>
      <p:ext uri="{BB962C8B-B14F-4D97-AF65-F5344CB8AC3E}">
        <p14:creationId xmlns:p14="http://schemas.microsoft.com/office/powerpoint/2010/main" val="6482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62E82-C3E1-8156-2033-DA58F0DA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BCAAA3-1257-DEE9-33E3-E2F52258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Sets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5026719-A264-F206-1D54-9BC6C738D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428838" cy="44196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Sources of stock market data</a:t>
            </a:r>
          </a:p>
          <a:p>
            <a:pPr lvl="1"/>
            <a:r>
              <a:rPr lang="en-US">
                <a:cs typeface="Arial"/>
              </a:rPr>
              <a:t>End-of-Day Historical Data API</a:t>
            </a:r>
          </a:p>
          <a:p>
            <a:pPr lvl="1"/>
            <a:r>
              <a:rPr lang="en-US"/>
              <a:t>Yahoo Finance API</a:t>
            </a:r>
            <a:endParaRPr lang="en-US">
              <a:cs typeface="Arial"/>
            </a:endParaRPr>
          </a:p>
          <a:p>
            <a:pPr lvl="1"/>
            <a:r>
              <a:rPr lang="en-US" err="1"/>
              <a:t>Finviz</a:t>
            </a:r>
            <a:endParaRPr lang="en-US" err="1">
              <a:cs typeface="Arial"/>
            </a:endParaRPr>
          </a:p>
          <a:p>
            <a:pPr lvl="1"/>
            <a:r>
              <a:rPr lang="en-US" err="1">
                <a:cs typeface="Arial"/>
              </a:rPr>
              <a:t>FinnHub</a:t>
            </a:r>
          </a:p>
          <a:p>
            <a:pPr lvl="1"/>
            <a:r>
              <a:rPr lang="en-US">
                <a:cs typeface="Arial"/>
              </a:rPr>
              <a:t>Alpaca</a:t>
            </a:r>
          </a:p>
          <a:p>
            <a:r>
              <a:rPr lang="en-US"/>
              <a:t>Sources of sentiment analysis</a:t>
            </a:r>
          </a:p>
          <a:p>
            <a:pPr lvl="1"/>
            <a:r>
              <a:rPr lang="en-US"/>
              <a:t>Yahoo Finance API</a:t>
            </a:r>
          </a:p>
          <a:p>
            <a:pPr lvl="1"/>
            <a:r>
              <a:rPr lang="en-US"/>
              <a:t>BBC news API</a:t>
            </a:r>
            <a:endParaRPr lang="en-US">
              <a:cs typeface="Arial"/>
            </a:endParaRPr>
          </a:p>
          <a:p>
            <a:pPr lvl="1"/>
            <a:r>
              <a:rPr lang="en-US">
                <a:cs typeface="Arial"/>
              </a:rPr>
              <a:t>Other news feeds</a:t>
            </a:r>
          </a:p>
          <a:p>
            <a:pPr lvl="1"/>
            <a:endParaRPr lang="en-US">
              <a:cs typeface="Arial"/>
            </a:endParaRPr>
          </a:p>
          <a:p>
            <a:pPr lvl="1"/>
            <a:endParaRPr lang="en-US">
              <a:cs typeface="Arial"/>
            </a:endParaRPr>
          </a:p>
          <a:p>
            <a:pPr lvl="1"/>
            <a:endParaRPr lang="en-US">
              <a:cs typeface="Arial"/>
            </a:endParaRPr>
          </a:p>
          <a:p>
            <a:pPr lvl="1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381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8BD28-73BB-5968-E5D4-02C49560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E342D4-BBFC-1315-CCAE-AAA447E3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and Reinforcement Learning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85F74B-5133-61F3-A1B2-258973511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19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Get a consistent set of data</a:t>
            </a:r>
            <a:endParaRPr lang="en-US" dirty="0"/>
          </a:p>
          <a:p>
            <a:r>
              <a:rPr lang="en-US" dirty="0"/>
              <a:t>Simplify the comple</a:t>
            </a:r>
            <a:r>
              <a:rPr lang="en-US"/>
              <a:t>xity of the market info; Focus on a small subset of markers</a:t>
            </a:r>
            <a:endParaRPr lang="en-US" dirty="0"/>
          </a:p>
          <a:p>
            <a:r>
              <a:rPr lang="en-US" dirty="0"/>
              <a:t>Make the sentiment </a:t>
            </a:r>
            <a:r>
              <a:rPr lang="en-US"/>
              <a:t>analysis a part of a state</a:t>
            </a:r>
          </a:p>
          <a:p>
            <a:r>
              <a:rPr lang="en-US"/>
              <a:t>Will the resulting policy be beneficial and actionable?</a:t>
            </a:r>
          </a:p>
        </p:txBody>
      </p:sp>
    </p:spTree>
    <p:extLst>
      <p:ext uri="{BB962C8B-B14F-4D97-AF65-F5344CB8AC3E}">
        <p14:creationId xmlns:p14="http://schemas.microsoft.com/office/powerpoint/2010/main" val="3136666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0ACEA-983C-20A9-C872-1E80D6278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AF01E9A-7BCE-49E9-348C-57A907C0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States, Actions, and Rewards</a:t>
            </a:r>
            <a:br>
              <a:rPr lang="en-US"/>
            </a:br>
            <a:r>
              <a:rPr lang="en-US" sz="3100"/>
              <a:t>Keeping it simple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BDD554-86BA-76DC-11DA-BFD2CD02A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1960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/>
              <a:t>States</a:t>
            </a:r>
          </a:p>
          <a:p>
            <a:pPr lvl="1"/>
            <a:r>
              <a:rPr lang="en-US" dirty="0"/>
              <a:t>What combination of data points would yield </a:t>
            </a:r>
            <a:r>
              <a:rPr lang="en-US"/>
              <a:t>the best policy</a:t>
            </a:r>
            <a:endParaRPr lang="en-US" dirty="0">
              <a:cs typeface="Arial"/>
            </a:endParaRPr>
          </a:p>
          <a:p>
            <a:pPr lvl="1"/>
            <a:r>
              <a:rPr lang="en-US"/>
              <a:t>Defining the scope will be critical</a:t>
            </a:r>
          </a:p>
          <a:p>
            <a:pPr lvl="2"/>
            <a:r>
              <a:rPr lang="en-US"/>
              <a:t>Large data volume; historical, current, and sentiment data</a:t>
            </a:r>
          </a:p>
          <a:p>
            <a:r>
              <a:rPr lang="en-US"/>
              <a:t>Actions</a:t>
            </a:r>
          </a:p>
          <a:p>
            <a:pPr lvl="1"/>
            <a:r>
              <a:rPr lang="en-US" dirty="0"/>
              <a:t>Limit the </a:t>
            </a:r>
            <a:r>
              <a:rPr lang="en-US"/>
              <a:t> time: days or even hours</a:t>
            </a:r>
            <a:endParaRPr lang="en-US">
              <a:cs typeface="Arial"/>
            </a:endParaRPr>
          </a:p>
          <a:p>
            <a:pPr lvl="1"/>
            <a:r>
              <a:rPr lang="en-US"/>
              <a:t>Buy vs Sell vs Hold</a:t>
            </a:r>
          </a:p>
          <a:p>
            <a:pPr lvl="2"/>
            <a:r>
              <a:rPr lang="en-US" dirty="0"/>
              <a:t>Defining what would indicate a good time to buy a stock vs selling it</a:t>
            </a:r>
            <a:endParaRPr lang="en-US" dirty="0">
              <a:cs typeface="Arial"/>
            </a:endParaRPr>
          </a:p>
          <a:p>
            <a:pPr lvl="2"/>
            <a:r>
              <a:rPr lang="en-US"/>
              <a:t>If holding a stock, the time needs to be limited, this is not for portfolio management.</a:t>
            </a:r>
          </a:p>
          <a:p>
            <a:r>
              <a:rPr lang="en-US"/>
              <a:t>Rewards</a:t>
            </a:r>
          </a:p>
          <a:p>
            <a:pPr lvl="1"/>
            <a:r>
              <a:rPr lang="en-US"/>
              <a:t>Positive or negative</a:t>
            </a:r>
          </a:p>
          <a:p>
            <a:pPr lvl="1"/>
            <a:r>
              <a:rPr lang="en-US"/>
              <a:t>When all trades are done and not holding any stocks</a:t>
            </a:r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4597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50B3-C678-D224-3FB2-5D41E795E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D01C89F-E201-D186-2F07-995C96F2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D57F75-A341-AA1B-593A-43BF103C7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418352" cy="441960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Narrowing down the datapoints from such large data sets</a:t>
            </a:r>
          </a:p>
          <a:p>
            <a:pPr lvl="1">
              <a:buFont typeface="Calibri" pitchFamily="34" charset="0"/>
              <a:buChar char="-"/>
            </a:pPr>
            <a:r>
              <a:rPr lang="en-US" dirty="0">
                <a:latin typeface="Arial"/>
                <a:cs typeface="Arial"/>
              </a:rPr>
              <a:t>Historical price, returns, price changes, inventory information, volume, relative </a:t>
            </a:r>
            <a:r>
              <a:rPr lang="en-US">
                <a:latin typeface="Arial"/>
                <a:cs typeface="Arial"/>
              </a:rPr>
              <a:t>strength</a:t>
            </a:r>
            <a:r>
              <a:rPr lang="en-US" dirty="0">
                <a:latin typeface="Arial"/>
                <a:cs typeface="Arial"/>
              </a:rPr>
              <a:t> index, moving averages, P/E ratio, dividends, market capitalizations, </a:t>
            </a:r>
            <a:r>
              <a:rPr lang="en-US">
                <a:latin typeface="Arial"/>
                <a:cs typeface="Arial"/>
              </a:rPr>
              <a:t>bid-ask indicators, order limits, volatility, time indexes, etc.</a:t>
            </a:r>
            <a:endParaRPr lang="en-US" dirty="0">
              <a:latin typeface="Arial"/>
              <a:cs typeface="Arial"/>
            </a:endParaRPr>
          </a:p>
          <a:p>
            <a:r>
              <a:rPr lang="en-US"/>
              <a:t>Defining</a:t>
            </a:r>
            <a:r>
              <a:rPr lang="en-US">
                <a:latin typeface="Arial Black"/>
              </a:rPr>
              <a:t> the scope of states</a:t>
            </a:r>
          </a:p>
          <a:p>
            <a:pPr lvl="1">
              <a:buFont typeface="Calibri" pitchFamily="34" charset="0"/>
              <a:buChar char="-"/>
            </a:pPr>
            <a:r>
              <a:rPr lang="en-US" dirty="0">
                <a:latin typeface="Arial"/>
                <a:cs typeface="Arial"/>
              </a:rPr>
              <a:t>How do you define the initial state</a:t>
            </a:r>
          </a:p>
          <a:p>
            <a:pPr lvl="1">
              <a:buFont typeface="Calibri" pitchFamily="34" charset="0"/>
              <a:buChar char="-"/>
            </a:pPr>
            <a:r>
              <a:rPr lang="en-US" sz="2400">
                <a:latin typeface="Arial"/>
                <a:cs typeface="Arial"/>
              </a:rPr>
              <a:t>If the end state is defined as having nothing to trade, how do you stop it from ending early</a:t>
            </a:r>
          </a:p>
          <a:p>
            <a:r>
              <a:rPr lang="en-US"/>
              <a:t>How long is an episode</a:t>
            </a:r>
          </a:p>
          <a:p>
            <a:r>
              <a:rPr lang="en-US"/>
              <a:t>Simulations and using tools like Gymnasium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6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CF969-B4D3-E09E-B66A-4BB58603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0AA788-58FC-1E0C-E9E7-853F4EA8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A57431-0279-03C8-FF36-2C84753DF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744673"/>
          </a:xfrm>
        </p:spPr>
        <p:txBody>
          <a:bodyPr vert="horz" lIns="91440" tIns="45720" rIns="91440" bIns="45720" rtlCol="0" anchor="t">
            <a:normAutofit fontScale="32500" lnSpcReduction="20000"/>
          </a:bodyPr>
          <a:lstStyle/>
          <a:p>
            <a:r>
              <a:rPr lang="en-US" b="1"/>
              <a:t>Reinforcement Learning, second edition: An Introduction</a:t>
            </a:r>
            <a:endParaRPr lang="en-US"/>
          </a:p>
          <a:p>
            <a:r>
              <a:rPr lang="en-US" b="1"/>
              <a:t>Grokking Deep Reinforcement Learning </a:t>
            </a:r>
          </a:p>
          <a:p>
            <a:r>
              <a:rPr lang="en-US" b="1"/>
              <a:t>Deep Reinforcement Learning Hands-On: A practical and easy-to-follow guide to RL from Q-learning and DQNs to PPO and RLHF 3rd ed. Edition </a:t>
            </a:r>
          </a:p>
          <a:p>
            <a:r>
              <a:rPr lang="en-US" b="1"/>
              <a:t>Machine Learning for Algorithmic Trading: Predictive models to extract signals from market and alternative data for systematic trading strategies with Python 2nd ed. Edition </a:t>
            </a:r>
          </a:p>
          <a:p>
            <a:r>
              <a:rPr lang="en-US" b="1"/>
              <a:t>Artificial Intelligence in Finance: A Python-Based Guide 1st Edition </a:t>
            </a:r>
          </a:p>
          <a:p>
            <a:r>
              <a:rPr lang="en-US" b="1"/>
              <a:t>Python for Algorithmic Trading: From Idea to Cloud Deployment 1st Edition </a:t>
            </a:r>
          </a:p>
          <a:p>
            <a:r>
              <a:rPr lang="en-US" b="1"/>
              <a:t>Reinforcement Learning for Finance: A Python-Based Introduction 1st Edition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/>
              <a:t>Liu, Xiao-Yang, et al. "Dynamic datasets and market environments for financial reinforcement learning." </a:t>
            </a:r>
            <a:r>
              <a:rPr lang="en-US" i="1"/>
              <a:t>Machine Learning</a:t>
            </a:r>
            <a:r>
              <a:rPr lang="en-US" dirty="0"/>
              <a:t> </a:t>
            </a:r>
            <a:r>
              <a:rPr lang="en-US"/>
              <a:t>113.5 (2024): 2795-2839.</a:t>
            </a:r>
            <a:endParaRPr lang="en-US" b="1"/>
          </a:p>
          <a:p>
            <a:r>
              <a:rPr lang="en-US" b="1"/>
              <a:t>﻿</a:t>
            </a:r>
            <a:r>
              <a:rPr lang="en-US"/>
              <a:t>Millea, Adrian. "Deep reinforcement learning for trading—A critical survey." </a:t>
            </a:r>
            <a:r>
              <a:rPr lang="en-US" i="1"/>
              <a:t>Data</a:t>
            </a:r>
            <a:r>
              <a:rPr lang="en-US"/>
              <a:t> 6.11 (2021): 119.</a:t>
            </a:r>
          </a:p>
          <a:p>
            <a:r>
              <a:rPr lang="en-US"/>
              <a:t>Pricope, </a:t>
            </a:r>
            <a:r>
              <a:rPr lang="en-US" err="1"/>
              <a:t>Tidor</a:t>
            </a:r>
            <a:r>
              <a:rPr lang="en-US"/>
              <a:t>-Vlad. "Deep reinforcement learning in quantitative algorithmic trading: A review." </a:t>
            </a:r>
            <a:r>
              <a:rPr lang="en-US" i="1" err="1"/>
              <a:t>arXiv</a:t>
            </a:r>
            <a:r>
              <a:rPr lang="en-US" i="1"/>
              <a:t> preprint arXiv:2106.00123</a:t>
            </a:r>
            <a:r>
              <a:rPr lang="en-US"/>
              <a:t> (2021).</a:t>
            </a:r>
            <a:endParaRPr lang="en-US" b="1" dirty="0"/>
          </a:p>
          <a:p>
            <a:r>
              <a:rPr lang="en-US"/>
              <a:t>﻿Zhang, Zihao, Stefan Zohren, and Stephen Roberts. "Deep reinforcement learning for trading." </a:t>
            </a:r>
            <a:r>
              <a:rPr lang="en-US" i="1"/>
              <a:t>arXiv preprint arXiv:1911.10107</a:t>
            </a:r>
            <a:r>
              <a:rPr lang="en-US"/>
              <a:t> (2019).</a:t>
            </a:r>
          </a:p>
          <a:p>
            <a:r>
              <a:rPr lang="en-US"/>
              <a:t>﻿Goluža, Sven, et al. "Deep reinforcement learning with positional context for intraday trading." </a:t>
            </a:r>
            <a:r>
              <a:rPr lang="en-US" i="1"/>
              <a:t>Evolving systems</a:t>
            </a:r>
            <a:r>
              <a:rPr lang="en-US"/>
              <a:t> 15.5 (2024): 1865-1880.</a:t>
            </a:r>
          </a:p>
          <a:p>
            <a:r>
              <a:rPr lang="en-US"/>
              <a:t>﻿Conegundes, Leonardo, and Adriano C. Machado Pereira. "Beating the stock market with a deep reinforcement learning day trading system." </a:t>
            </a:r>
            <a:r>
              <a:rPr lang="en-US" i="1"/>
              <a:t>2020 International Joint Conference on Neural Networks (IJCNN)</a:t>
            </a:r>
            <a:r>
              <a:rPr lang="en-US"/>
              <a:t>. IEEE, 2020.</a:t>
            </a:r>
          </a:p>
          <a:p>
            <a:r>
              <a:rPr lang="en-US"/>
              <a:t>﻿Li, Daifeng, et al. "Analyzing stock market trends using social media user moods and social influence." </a:t>
            </a:r>
            <a:r>
              <a:rPr lang="en-US" i="1"/>
              <a:t>Journal of the Association for Information Science and Technology</a:t>
            </a:r>
            <a:r>
              <a:rPr lang="en-US"/>
              <a:t> 70.9 (2019): 1000-1013.</a:t>
            </a:r>
          </a:p>
          <a:p>
            <a:r>
              <a:rPr lang="en-US"/>
              <a:t>﻿Théate, Thibaut, and Damien Ernst. "An application of deep reinforcement learning to algorithmic trading." </a:t>
            </a:r>
            <a:r>
              <a:rPr lang="en-US" i="1"/>
              <a:t>Expert systems with applications</a:t>
            </a:r>
            <a:r>
              <a:rPr lang="en-US"/>
              <a:t> 173 (2021): 114632.</a:t>
            </a:r>
          </a:p>
          <a:p>
            <a:r>
              <a:rPr lang="en-US"/>
              <a:t>﻿Wu, Xing, et al. "Adaptive stock trading strategies with deep reinforcement learning methods." </a:t>
            </a:r>
            <a:r>
              <a:rPr lang="en-US" i="1"/>
              <a:t>Information Sciences</a:t>
            </a:r>
            <a:r>
              <a:rPr lang="en-US"/>
              <a:t> 538 (2020): 142-158.</a:t>
            </a:r>
          </a:p>
          <a:p>
            <a:r>
              <a:rPr lang="en-US"/>
              <a:t>Liu, Yang, et al. "Adaptive quantitative trading: An imitative deep reinforcement learning approach." </a:t>
            </a:r>
            <a:r>
              <a:rPr lang="en-US" i="1"/>
              <a:t>Proceedings of the AAAI conference on artificial intelligence</a:t>
            </a:r>
            <a:r>
              <a:rPr lang="en-US"/>
              <a:t>. Vol. 34. No. 02. 2020.</a:t>
            </a:r>
            <a:endParaRPr lang="en-US" dirty="0"/>
          </a:p>
          <a:p>
            <a:r>
              <a:rPr lang="en-US"/>
              <a:t>﻿Bai, Yahui, et al. "A review of reinforcement learning in financial applications." </a:t>
            </a:r>
            <a:r>
              <a:rPr lang="en-US" i="1"/>
              <a:t>Annual Review of Statistics and Its Application</a:t>
            </a:r>
            <a:r>
              <a:rPr lang="en-US"/>
              <a:t> 12.1 (2025): 209-232.</a:t>
            </a:r>
          </a:p>
        </p:txBody>
      </p:sp>
    </p:spTree>
    <p:extLst>
      <p:ext uri="{BB962C8B-B14F-4D97-AF65-F5344CB8AC3E}">
        <p14:creationId xmlns:p14="http://schemas.microsoft.com/office/powerpoint/2010/main" val="2148447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16E86-B388-1656-A1A0-DB7103231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2EBB3D0-E2C4-64F8-79A2-B4F09C53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2908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uccs-powerpoint-template-2014-cobrand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uccs-powerpoint-template-2014-cobranded</Template>
  <Application>Microsoft Office PowerPoint</Application>
  <PresentationFormat>On-screen Show (4:3)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uccs-powerpoint-template-2014-cobranded</vt:lpstr>
      <vt:lpstr>Using Historical Financial Data and Sentiment Analysis with Reinforcement Learning for Day Trading</vt:lpstr>
      <vt:lpstr>Agenda</vt:lpstr>
      <vt:lpstr>Inspiration</vt:lpstr>
      <vt:lpstr>Examples</vt:lpstr>
      <vt:lpstr>Sentiment Analysis</vt:lpstr>
      <vt:lpstr>Data Sets</vt:lpstr>
      <vt:lpstr>Goals and Reinforcement Learning</vt:lpstr>
      <vt:lpstr>States, Actions, and Rewards Keeping it simple</vt:lpstr>
      <vt:lpstr>Challenges</vt:lpstr>
      <vt:lpstr>Resources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Schaming</dc:creator>
  <cp:revision>189</cp:revision>
  <dcterms:created xsi:type="dcterms:W3CDTF">2021-01-22T16:40:50Z</dcterms:created>
  <dcterms:modified xsi:type="dcterms:W3CDTF">2026-02-17T20:04:17Z</dcterms:modified>
</cp:coreProperties>
</file>