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2579" autoAdjust="0"/>
  </p:normalViewPr>
  <p:slideViewPr>
    <p:cSldViewPr snapToGrid="0">
      <p:cViewPr varScale="1">
        <p:scale>
          <a:sx n="53" d="100"/>
          <a:sy n="53" d="100"/>
        </p:scale>
        <p:origin x="18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" userId="7ba637af-97a9-4354-8b69-a5ce53866f00" providerId="ADAL" clId="{A419E2A6-3F69-4BEE-8D7F-EA29B800D9B8}"/>
    <pc:docChg chg="modSld">
      <pc:chgData name="Hemant" userId="7ba637af-97a9-4354-8b69-a5ce53866f00" providerId="ADAL" clId="{A419E2A6-3F69-4BEE-8D7F-EA29B800D9B8}" dt="2026-02-20T02:14:51.304" v="5" actId="20577"/>
      <pc:docMkLst>
        <pc:docMk/>
      </pc:docMkLst>
      <pc:sldChg chg="modNotesTx">
        <pc:chgData name="Hemant" userId="7ba637af-97a9-4354-8b69-a5ce53866f00" providerId="ADAL" clId="{A419E2A6-3F69-4BEE-8D7F-EA29B800D9B8}" dt="2026-02-20T02:14:37.014" v="0" actId="20577"/>
        <pc:sldMkLst>
          <pc:docMk/>
          <pc:sldMk cId="2427079710" sldId="257"/>
        </pc:sldMkLst>
      </pc:sldChg>
      <pc:sldChg chg="modNotesTx">
        <pc:chgData name="Hemant" userId="7ba637af-97a9-4354-8b69-a5ce53866f00" providerId="ADAL" clId="{A419E2A6-3F69-4BEE-8D7F-EA29B800D9B8}" dt="2026-02-20T02:14:39.907" v="1" actId="20577"/>
        <pc:sldMkLst>
          <pc:docMk/>
          <pc:sldMk cId="1965487843" sldId="258"/>
        </pc:sldMkLst>
      </pc:sldChg>
      <pc:sldChg chg="modNotesTx">
        <pc:chgData name="Hemant" userId="7ba637af-97a9-4354-8b69-a5ce53866f00" providerId="ADAL" clId="{A419E2A6-3F69-4BEE-8D7F-EA29B800D9B8}" dt="2026-02-20T02:14:42.355" v="2" actId="20577"/>
        <pc:sldMkLst>
          <pc:docMk/>
          <pc:sldMk cId="4002467399" sldId="259"/>
        </pc:sldMkLst>
      </pc:sldChg>
      <pc:sldChg chg="modNotesTx">
        <pc:chgData name="Hemant" userId="7ba637af-97a9-4354-8b69-a5ce53866f00" providerId="ADAL" clId="{A419E2A6-3F69-4BEE-8D7F-EA29B800D9B8}" dt="2026-02-20T02:14:44.684" v="3" actId="20577"/>
        <pc:sldMkLst>
          <pc:docMk/>
          <pc:sldMk cId="3240641928" sldId="261"/>
        </pc:sldMkLst>
      </pc:sldChg>
      <pc:sldChg chg="modNotesTx">
        <pc:chgData name="Hemant" userId="7ba637af-97a9-4354-8b69-a5ce53866f00" providerId="ADAL" clId="{A419E2A6-3F69-4BEE-8D7F-EA29B800D9B8}" dt="2026-02-20T02:14:48.448" v="4" actId="20577"/>
        <pc:sldMkLst>
          <pc:docMk/>
          <pc:sldMk cId="1915545157" sldId="262"/>
        </pc:sldMkLst>
      </pc:sldChg>
      <pc:sldChg chg="modNotesTx">
        <pc:chgData name="Hemant" userId="7ba637af-97a9-4354-8b69-a5ce53866f00" providerId="ADAL" clId="{A419E2A6-3F69-4BEE-8D7F-EA29B800D9B8}" dt="2026-02-20T02:14:51.304" v="5" actId="20577"/>
        <pc:sldMkLst>
          <pc:docMk/>
          <pc:sldMk cId="96939367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20D6B-D07E-497A-9D9E-19F0372EC693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583D6-D3F2-40C2-9813-FED06F508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8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83D6-D3F2-40C2-9813-FED06F508F8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04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83D6-D3F2-40C2-9813-FED06F508F8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58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83D6-D3F2-40C2-9813-FED06F508F8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7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83D6-D3F2-40C2-9813-FED06F508F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8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83D6-D3F2-40C2-9813-FED06F508F8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78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C7C7C7"/>
              </a:solidFill>
              <a:effectLst/>
              <a:latin typeface="Google Sans Tex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83D6-D3F2-40C2-9813-FED06F508F8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30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83D6-D3F2-40C2-9813-FED06F508F8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3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583D6-D3F2-40C2-9813-FED06F508F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8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1A02-8F32-4701-9662-F7737F647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76CB0-65A9-4B1B-A9FE-7F6355DC2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5C69D-B63C-4923-BDD6-8D025A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89219-8AD2-4E41-978A-457F5297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65307-51FD-444B-9F61-F0B304A8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14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6039-A722-45AE-8C77-0A3F1A71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0848E-AA44-4D46-9437-85976F4F7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FAE9E-8E9D-4FB1-88A4-A118F4DF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B4170-25FB-4CE5-8744-30524ED9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72FC8-BB24-4503-90CE-4F4821A2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4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7860-CC74-4645-ADE4-49239778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DE40C-B636-498F-B1E2-17CED7B53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A24E4-42F8-4FAD-AD4A-23427439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B2B31-03DF-48C0-8D85-9347E95FC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CD2B0-C521-4667-B814-35BE2661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6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0D94-228F-4ABB-AAB2-C56333797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4977B-89E9-40AF-B878-83BEF5DE2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7A96C-CEC0-43EF-98A3-E91F90573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EA21B-C3F0-41B6-90CF-8D6603B9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C4F31-2FB0-46B4-A39E-B8157AD65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FDAD6-BAFC-4435-86A2-132381ED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3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FB6A-F51F-4942-860F-A6994885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CC99F-6A89-4C3B-814D-5EF7C16F1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6930F-4217-4E67-85CB-B3DACABB8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7F7566-957B-45C4-9093-AD8C1B4CD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FED40-B779-4FDD-88F2-A0078DB002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3E1D3A-50B2-4C8A-B567-C3079B42C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54C092-F3DC-4E3D-ABBF-08AE74DDB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7FC012-B695-4F26-BBB7-55915953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41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5948-1A8A-4654-BA1A-88CF4DE3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5157E-566F-449A-8643-663590F47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A0CB9F-A74C-45C1-B839-476DBE9F2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96615-A8E8-467B-B39B-DBE302DB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6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C5A41E-8761-490C-AE60-0FD1A2DE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8956F3-A310-49A0-A63C-D555A1B46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B6287-F4D2-4E40-B0E9-ABCD1F32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0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7F13D-4A59-47B1-8722-A826B5772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E5C0-C5C2-462F-BAED-68A2C0B27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08132-95E4-48F2-A606-6A903C525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2915C-BD56-4F5F-86CF-776C15AA6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3E4C4-DB94-41A0-A9A2-C136D678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80AA2-137A-4B3C-89EE-FB2294EF9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57CE-D9E7-416C-AACF-E3EC718CC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DF2E59-647A-4032-B43C-EC85F32D0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89AF8-7406-4861-82AD-391222B9E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1EAC2-2D9A-46E9-88EB-3F9D3ABF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46330-33C1-4096-84B0-1F01F85E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D00BF-093B-4A8C-9F70-16D0F858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89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56B6-4B0D-4B44-AC17-CDFC6E46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16A0B-78C8-4B1A-B639-3592B0545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678BD-BB63-4A70-97BD-BF14D93F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799A8-2514-4A6B-AB7F-D8856A51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B665F-03A6-4F70-9456-FE13263E0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2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AF945-554A-4529-90D6-6FE642ABE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FEB1A-A2E2-40B6-8DC6-30A6C9696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FE78D-9BF2-4EDF-83F0-85F479061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25B53-F0D2-4DE8-A627-8E6DDF8EF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3B315-26EE-463F-A9AC-CE3D5F2E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028C0-65D6-4A4E-A7C3-88B1F7AE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1BAFA-FE89-4AFF-916D-5E6909E0B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38B73-83D4-49D3-93BB-5401E94A3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A541D-5B82-4F85-867D-F300414BDF1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C79DC-CFDF-436E-A073-B66415EAE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CEE94-BB1F-40A5-AE39-8019D40EC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A77BE-3245-4089-BF24-05CFE528C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6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CC16D-21E5-4E1B-ABAA-FA88E1C41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379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Online-Offline Reinforcement Learning For Carbon-Aware Data Centers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2923D5-5731-4A4B-B4F8-C61D02025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9897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Hemant Khatiwada</a:t>
            </a:r>
          </a:p>
          <a:p>
            <a:r>
              <a:rPr lang="en-US" dirty="0"/>
              <a:t>hkhatiwa@uccs.edu </a:t>
            </a:r>
          </a:p>
          <a:p>
            <a:r>
              <a:rPr lang="en-US" dirty="0"/>
              <a:t>CS PhD Student</a:t>
            </a:r>
          </a:p>
          <a:p>
            <a:r>
              <a:rPr lang="en-US" dirty="0"/>
              <a:t>University of Colorado </a:t>
            </a:r>
            <a:r>
              <a:rPr lang="en-US" dirty="0" err="1"/>
              <a:t>Colorado</a:t>
            </a:r>
            <a:r>
              <a:rPr lang="en-US" dirty="0"/>
              <a:t> Springs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954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A769-C757-48A8-A5A0-D08E1D81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Google Sans Text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661C7-AF9D-4407-8C1E-1F6D37C32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Centers are among the biggest consumers of energy today.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0" i="0" dirty="0">
                <a:effectLst/>
                <a:latin typeface="Google Sans Text"/>
              </a:rPr>
              <a:t>Moving from simple "energy efficiency" to "carbon-aware computing"—shifting flexible computational tasks to times when renewable energy (solar, wind) is abundant.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07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7DE9-ED17-4511-9238-DE03B0A0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oogle Sans Tex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C9D23-65C7-4A9F-88AA-8437F54E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Google Sans Text"/>
              </a:rPr>
              <a:t>The Goal:</a:t>
            </a:r>
            <a:r>
              <a:rPr lang="en-US" b="0" i="0" dirty="0">
                <a:effectLst/>
                <a:latin typeface="Google Sans Text"/>
              </a:rPr>
              <a:t> Minimize the data center's carbon footprint by intelligently delaying flexible workloads.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i="0" dirty="0">
                <a:effectLst/>
                <a:latin typeface="Google Sans Text"/>
              </a:rPr>
              <a:t>The Constraint:</a:t>
            </a:r>
            <a:r>
              <a:rPr lang="en-US" b="0" i="0" dirty="0">
                <a:effectLst/>
                <a:latin typeface="Google Sans Text"/>
              </a:rPr>
              <a:t> Must strictly meet Service Level Agreements (SLAs) so user tasks are not delayed unacceptably.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dirty="0">
                <a:latin typeface="Google Sans Text"/>
              </a:rPr>
              <a:t>The Challenge</a:t>
            </a:r>
            <a:r>
              <a:rPr lang="en-US" dirty="0">
                <a:latin typeface="Google Sans Text"/>
              </a:rPr>
              <a:t>: Traditional RL learns by trial-and-error which in this case equals to </a:t>
            </a:r>
            <a:r>
              <a:rPr lang="en-US" b="0" i="0" dirty="0">
                <a:effectLst/>
                <a:latin typeface="Google Sans Text"/>
              </a:rPr>
              <a:t>dropping user data or breaking machines which is costly. (Unacceptable in production) </a:t>
            </a:r>
            <a:r>
              <a:rPr lang="en-US" dirty="0">
                <a:latin typeface="Google Sans Text"/>
              </a:rPr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487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A9ED-2694-4E89-B1EA-AEE90C26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Google Sans Text"/>
              </a:rPr>
              <a:t>Why Offline-to-Online RL?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E4EA5-8B2E-4FA6-93C0-4E9D0E0C7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25" y="1690688"/>
            <a:ext cx="10898275" cy="5032375"/>
          </a:xfrm>
        </p:spPr>
        <p:txBody>
          <a:bodyPr>
            <a:normAutofit lnSpcReduction="10000"/>
          </a:bodyPr>
          <a:lstStyle/>
          <a:p>
            <a:r>
              <a:rPr lang="en-US" b="1" i="0" dirty="0">
                <a:effectLst/>
                <a:latin typeface="Google Sans Text"/>
              </a:rPr>
              <a:t>Offline RL (Safety):</a:t>
            </a:r>
            <a:r>
              <a:rPr lang="en-US" b="0" i="0" dirty="0">
                <a:effectLst/>
                <a:latin typeface="Google Sans Text"/>
              </a:rPr>
              <a:t> Learns a safe baseline policy entirely from historical, static logs (no risky live exploration)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i="0" dirty="0">
                <a:effectLst/>
                <a:latin typeface="Google Sans Text"/>
              </a:rPr>
              <a:t>The Distribution Shift Problem:</a:t>
            </a:r>
            <a:r>
              <a:rPr lang="en-US" b="0" i="0" dirty="0">
                <a:effectLst/>
                <a:latin typeface="Google Sans Text"/>
              </a:rPr>
              <a:t> Pure offline RL struggles to adapt when grid conditions or weather patterns change in the future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i="0" dirty="0">
                <a:effectLst/>
                <a:latin typeface="Google Sans Text"/>
              </a:rPr>
              <a:t>The Hybrid Solution:</a:t>
            </a:r>
            <a:r>
              <a:rPr lang="en-US" b="0" i="0" dirty="0">
                <a:effectLst/>
                <a:latin typeface="Google Sans Text"/>
              </a:rPr>
              <a:t> Pre-train offline for safety, then fine-tune online.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i="0" dirty="0">
                <a:effectLst/>
                <a:latin typeface="Google Sans Text"/>
              </a:rPr>
              <a:t>The Mechanism:</a:t>
            </a:r>
            <a:r>
              <a:rPr lang="en-US" b="0" i="0" dirty="0">
                <a:effectLst/>
                <a:latin typeface="Google Sans Text"/>
              </a:rPr>
              <a:t> Use a constraint (like KL-divergence) to mathematically bind the online agent so it adapts to new weather but doesn't act "too differently" from the safe historical baseline.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46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223F-ADF4-4634-B28A-1A3319B9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Google Sans Text"/>
              </a:rPr>
              <a:t>Recent Works &amp; The Research Gap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28536-7F63-493B-B796-E2A34C649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136" y="1614610"/>
            <a:ext cx="10515600" cy="4878265"/>
          </a:xfrm>
        </p:spPr>
        <p:txBody>
          <a:bodyPr>
            <a:normAutofit fontScale="92500" lnSpcReduction="10000"/>
          </a:bodyPr>
          <a:lstStyle/>
          <a:p>
            <a:r>
              <a:rPr lang="en-US" b="1" i="0" dirty="0">
                <a:effectLst/>
                <a:latin typeface="Google Sans Text"/>
              </a:rPr>
              <a:t>Workload Shifting:</a:t>
            </a:r>
            <a:r>
              <a:rPr lang="en-US" i="0" dirty="0">
                <a:effectLst/>
                <a:latin typeface="Google Sans Text"/>
              </a:rPr>
              <a:t> Frameworks like </a:t>
            </a:r>
            <a:r>
              <a:rPr lang="en-US" i="1" dirty="0">
                <a:effectLst/>
                <a:latin typeface="Google Sans Text"/>
              </a:rPr>
              <a:t>Green-DCC</a:t>
            </a:r>
            <a:r>
              <a:rPr lang="en-US" i="0" dirty="0">
                <a:effectLst/>
                <a:latin typeface="Google Sans Text"/>
              </a:rPr>
              <a:t> and </a:t>
            </a:r>
            <a:r>
              <a:rPr lang="en-US" i="1" dirty="0" err="1">
                <a:effectLst/>
                <a:latin typeface="Google Sans Text"/>
              </a:rPr>
              <a:t>CarbonFlex</a:t>
            </a:r>
            <a:r>
              <a:rPr lang="en-US" i="0" dirty="0">
                <a:effectLst/>
                <a:latin typeface="Google Sans Text"/>
              </a:rPr>
              <a:t> successfully distribute jobs to reduce emissions but often rely on hierarchical or purely online/heuristic methods.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i="0" dirty="0">
                <a:effectLst/>
                <a:latin typeface="Google Sans Text"/>
              </a:rPr>
              <a:t>Safe Offline RL:</a:t>
            </a:r>
            <a:r>
              <a:rPr lang="en-US" i="0" dirty="0">
                <a:effectLst/>
                <a:latin typeface="Google Sans Text"/>
              </a:rPr>
              <a:t> Algorithms like </a:t>
            </a:r>
            <a:r>
              <a:rPr lang="en-US" i="1" dirty="0">
                <a:effectLst/>
                <a:latin typeface="Google Sans Text"/>
              </a:rPr>
              <a:t>CQL</a:t>
            </a:r>
            <a:r>
              <a:rPr lang="en-US" i="0" dirty="0">
                <a:effectLst/>
                <a:latin typeface="Google Sans Text"/>
              </a:rPr>
              <a:t> or </a:t>
            </a:r>
            <a:r>
              <a:rPr lang="en-US" i="1" dirty="0">
                <a:effectLst/>
                <a:latin typeface="Google Sans Text"/>
              </a:rPr>
              <a:t>FISOR</a:t>
            </a:r>
            <a:r>
              <a:rPr lang="en-US" i="0" dirty="0">
                <a:effectLst/>
                <a:latin typeface="Google Sans Text"/>
              </a:rPr>
              <a:t> ensure strict constraints but are heavily conservative and rely purely on offline data.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i="0" dirty="0">
                <a:effectLst/>
                <a:latin typeface="Google Sans Text"/>
              </a:rPr>
              <a:t>Offline-to-Online (O2O) RL:</a:t>
            </a:r>
            <a:r>
              <a:rPr lang="en-US" i="0" dirty="0">
                <a:effectLst/>
                <a:latin typeface="Google Sans Text"/>
              </a:rPr>
              <a:t> Methods like </a:t>
            </a:r>
            <a:r>
              <a:rPr lang="en-US" i="1" dirty="0">
                <a:effectLst/>
                <a:latin typeface="Google Sans Text"/>
              </a:rPr>
              <a:t>H2O</a:t>
            </a:r>
            <a:r>
              <a:rPr lang="en-US" i="0" dirty="0">
                <a:effectLst/>
                <a:latin typeface="Google Sans Text"/>
              </a:rPr>
              <a:t> or </a:t>
            </a:r>
            <a:r>
              <a:rPr lang="en-US" i="1" dirty="0">
                <a:effectLst/>
                <a:latin typeface="Google Sans Text"/>
              </a:rPr>
              <a:t>WSRL</a:t>
            </a:r>
            <a:r>
              <a:rPr lang="en-US" i="0" dirty="0">
                <a:effectLst/>
                <a:latin typeface="Google Sans Text"/>
              </a:rPr>
              <a:t> are tackling sim-to-real gaps and fine-tuning stability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dirty="0">
                <a:latin typeface="Google Sans Text"/>
              </a:rPr>
              <a:t>Proposed Approach</a:t>
            </a:r>
            <a:r>
              <a:rPr lang="en-US" dirty="0">
                <a:latin typeface="Google Sans Text"/>
              </a:rPr>
              <a:t>: </a:t>
            </a:r>
            <a:r>
              <a:rPr lang="en-US" b="0" i="0" dirty="0">
                <a:effectLst/>
                <a:latin typeface="Google Sans Text"/>
              </a:rPr>
              <a:t>Applying KL-constrained fine-tuning explicitly to dynamic, weather-dependent carbon intensity signals.</a:t>
            </a:r>
            <a:r>
              <a:rPr lang="en-US" dirty="0">
                <a:latin typeface="Google Sans Tex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641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3B4BF-526D-48CB-8EB3-860643D4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Google Sans Text"/>
              </a:rPr>
              <a:t>MDP Formulation (High-level)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F3386-CAA3-45FE-B612-623826549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Google Sans Text"/>
              </a:rPr>
              <a:t>State (</a:t>
            </a:r>
            <a:r>
              <a:rPr lang="en-US" b="0" i="1" dirty="0">
                <a:effectLst/>
                <a:latin typeface="KaTeX_Math"/>
              </a:rPr>
              <a:t>S</a:t>
            </a:r>
            <a:r>
              <a:rPr lang="en-US" b="1" i="0" dirty="0">
                <a:effectLst/>
                <a:latin typeface="Google Sans Text"/>
              </a:rPr>
              <a:t>):</a:t>
            </a:r>
            <a:r>
              <a:rPr lang="en-US" b="0" i="0" dirty="0">
                <a:effectLst/>
                <a:latin typeface="Google Sans Text"/>
              </a:rPr>
              <a:t> Current server utilization, queued workloads, and the forecasted grid carbon intensity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i="0" dirty="0">
                <a:effectLst/>
                <a:latin typeface="Google Sans Text"/>
              </a:rPr>
              <a:t>Action (</a:t>
            </a:r>
            <a:r>
              <a:rPr lang="en-US" b="0" i="1" dirty="0">
                <a:effectLst/>
                <a:latin typeface="KaTeX_Math"/>
              </a:rPr>
              <a:t>A</a:t>
            </a:r>
            <a:r>
              <a:rPr lang="en-US" b="1" i="0" dirty="0">
                <a:effectLst/>
                <a:latin typeface="Google Sans Text"/>
              </a:rPr>
              <a:t>):</a:t>
            </a:r>
            <a:r>
              <a:rPr lang="en-US" b="0" i="0" dirty="0">
                <a:effectLst/>
                <a:latin typeface="Google Sans Text"/>
              </a:rPr>
              <a:t> The fraction of data center capacity to allocate (scheduling vs. deferring jobs). 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i="0" dirty="0">
                <a:effectLst/>
                <a:latin typeface="Google Sans Text"/>
              </a:rPr>
              <a:t>Reward (</a:t>
            </a:r>
            <a:r>
              <a:rPr lang="en-US" b="0" i="1" dirty="0">
                <a:effectLst/>
                <a:latin typeface="KaTeX_Math"/>
              </a:rPr>
              <a:t>R</a:t>
            </a:r>
            <a:r>
              <a:rPr lang="en-US" b="1" i="0" dirty="0">
                <a:effectLst/>
                <a:latin typeface="Google Sans Text"/>
              </a:rPr>
              <a:t>):</a:t>
            </a:r>
            <a:r>
              <a:rPr lang="en-US" b="0" i="0" dirty="0">
                <a:effectLst/>
                <a:latin typeface="Google Sans Text"/>
              </a:rPr>
              <a:t> A multi-objective function: Minimizing (Carbon Emissions </a:t>
            </a:r>
            <a:r>
              <a:rPr lang="en-US" b="0" i="0" dirty="0">
                <a:effectLst/>
                <a:latin typeface="KaTeX_Main"/>
              </a:rPr>
              <a:t>×</a:t>
            </a:r>
            <a:r>
              <a:rPr lang="en-US" b="0" i="0" dirty="0">
                <a:effectLst/>
                <a:latin typeface="Google Sans Text"/>
              </a:rPr>
              <a:t> Energy) minus a severe penalty for (SLA Violations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777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2A4B-9463-4882-8C40-76C59E002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Google Sans Text"/>
              </a:rPr>
              <a:t>Datasets &amp; Simulation Environment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6BCEA-20C2-402E-88BE-88BE20208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Google Sans Text"/>
              </a:rPr>
              <a:t>Workload Traces (Demand):</a:t>
            </a:r>
            <a:r>
              <a:rPr lang="en-US" b="0" i="0" dirty="0">
                <a:effectLst/>
                <a:latin typeface="Google Sans Text"/>
              </a:rPr>
              <a:t> Microsoft Azure Public Dataset or Google Cluster Data to simulate realistic, </a:t>
            </a:r>
            <a:r>
              <a:rPr lang="en-US" b="0" i="0" dirty="0" err="1">
                <a:effectLst/>
                <a:latin typeface="Google Sans Text"/>
              </a:rPr>
              <a:t>bursty</a:t>
            </a:r>
            <a:r>
              <a:rPr lang="en-US" b="0" i="0" dirty="0">
                <a:effectLst/>
                <a:latin typeface="Google Sans Text"/>
              </a:rPr>
              <a:t> VM requests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dirty="0"/>
              <a:t>Simulator</a:t>
            </a:r>
            <a:r>
              <a:rPr lang="en-US" dirty="0"/>
              <a:t>: </a:t>
            </a:r>
            <a:r>
              <a:rPr lang="en-US" dirty="0" err="1"/>
              <a:t>SustainGym</a:t>
            </a:r>
            <a:r>
              <a:rPr lang="en-US" dirty="0"/>
              <a:t> (</a:t>
            </a:r>
            <a:r>
              <a:rPr lang="en-US" dirty="0" err="1"/>
              <a:t>DatacenterEnv</a:t>
            </a:r>
            <a:r>
              <a:rPr lang="en-US" dirty="0"/>
              <a:t>), specifically designed to benchmark RL on carbon-aware scheduling under distribution shifts</a:t>
            </a:r>
            <a:r>
              <a:rPr lang="en-US" dirty="0">
                <a:latin typeface="Google Sans Text"/>
              </a:rPr>
              <a:t>.</a:t>
            </a:r>
          </a:p>
          <a:p>
            <a:endParaRPr lang="en-US" dirty="0">
              <a:latin typeface="Google Sans Text"/>
            </a:endParaRPr>
          </a:p>
          <a:p>
            <a:r>
              <a:rPr lang="en-US" b="1" i="0" dirty="0">
                <a:effectLst/>
                <a:latin typeface="Google Sans Text"/>
              </a:rPr>
              <a:t>Carbon Traces (Supply):</a:t>
            </a:r>
            <a:r>
              <a:rPr lang="en-US" b="0" i="0" dirty="0">
                <a:effectLst/>
                <a:latin typeface="Google Sans Text"/>
              </a:rPr>
              <a:t> Historical grid carbon intensity data from </a:t>
            </a:r>
            <a:r>
              <a:rPr lang="en-US" b="0" i="1" dirty="0">
                <a:effectLst/>
                <a:latin typeface="Google Sans Text"/>
              </a:rPr>
              <a:t>Electricity Maps</a:t>
            </a:r>
            <a:r>
              <a:rPr lang="en-US" b="0" i="0" dirty="0">
                <a:effectLst/>
                <a:latin typeface="Google Sans Text"/>
              </a:rPr>
              <a:t> or </a:t>
            </a:r>
            <a:r>
              <a:rPr lang="en-US" b="0" i="1" dirty="0" err="1">
                <a:effectLst/>
                <a:latin typeface="Google Sans Text"/>
              </a:rPr>
              <a:t>WattTime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545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B028-B54C-4565-8C60-0E65B64A6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Google Sans Text"/>
              </a:rPr>
              <a:t>Evaluation Metrics &amp; Success Criteria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2F840-6AF7-4E4B-A89C-653AA407B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62" y="1617175"/>
            <a:ext cx="10515600" cy="1726467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>
                <a:effectLst/>
                <a:latin typeface="Google Sans Text"/>
              </a:rPr>
              <a:t>Environmental Impact</a:t>
            </a:r>
          </a:p>
          <a:p>
            <a:pPr lvl="1"/>
            <a:r>
              <a:rPr lang="en-US" b="1" i="0" dirty="0">
                <a:effectLst/>
                <a:latin typeface="Google Sans Text"/>
              </a:rPr>
              <a:t>Total Carbon Footprint:</a:t>
            </a:r>
            <a:r>
              <a:rPr lang="en-US" b="0" i="0" dirty="0">
                <a:effectLst/>
                <a:latin typeface="Google Sans Text"/>
              </a:rPr>
              <a:t> Measured in kg </a:t>
            </a:r>
            <a:r>
              <a:rPr lang="en-US" b="0" i="1" dirty="0">
                <a:effectLst/>
                <a:latin typeface="KaTeX_Math"/>
              </a:rPr>
              <a:t>CO</a:t>
            </a:r>
            <a:r>
              <a:rPr lang="en-US" b="0" i="0" dirty="0">
                <a:effectLst/>
                <a:latin typeface="KaTeX_Main"/>
              </a:rPr>
              <a:t>2​</a:t>
            </a:r>
            <a:r>
              <a:rPr lang="en-US" b="0" i="0" dirty="0">
                <a:effectLst/>
                <a:latin typeface="Google Sans Text"/>
              </a:rPr>
              <a:t>eq </a:t>
            </a:r>
            <a:endParaRPr lang="en-US" b="1" dirty="0">
              <a:latin typeface="Google Sans Text"/>
            </a:endParaRPr>
          </a:p>
          <a:p>
            <a:pPr lvl="1"/>
            <a:r>
              <a:rPr lang="en-US" b="1" i="0" dirty="0">
                <a:effectLst/>
                <a:latin typeface="Google Sans Text"/>
              </a:rPr>
              <a:t>Carbon-Free Energy (CFE) Score:</a:t>
            </a:r>
            <a:r>
              <a:rPr lang="en-US" b="0" i="0" dirty="0">
                <a:effectLst/>
                <a:latin typeface="Google Sans Text"/>
              </a:rPr>
              <a:t> The percentage of energy consumption successfully matched with carbon-free sources.</a:t>
            </a:r>
          </a:p>
          <a:p>
            <a:pPr marL="457200" lvl="1" indent="0">
              <a:buNone/>
            </a:pPr>
            <a:endParaRPr lang="en-US" dirty="0">
              <a:latin typeface="Google Sans Tex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EA4111-E77F-4B0E-97B9-C7400EC84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62" y="3886608"/>
            <a:ext cx="11658600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Service Reliability (The "Safety" Constraint):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SLA Violation Rate / Task Failure Rate: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percentage of jobs that missed their deadlines or were dropped.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Job Completion Time (JCT) &amp; Latency: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Tracking average and p99 latency to ensure user experience isn't severely degraded by workload shifting.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9693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A8B0E-9660-43D7-A645-5EA470C69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Google Sans Text"/>
              </a:rPr>
              <a:t>Proposed Timeline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88B78-42CD-449A-8C0E-4684E7FDB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February:</a:t>
            </a:r>
            <a:r>
              <a:rPr lang="en-US" dirty="0">
                <a:effectLst/>
              </a:rPr>
              <a:t> Set up </a:t>
            </a:r>
            <a:r>
              <a:rPr lang="en-US" dirty="0" err="1">
                <a:effectLst/>
              </a:rPr>
              <a:t>SustainGym</a:t>
            </a:r>
            <a:r>
              <a:rPr lang="en-US" dirty="0">
                <a:effectLst/>
              </a:rPr>
              <a:t>, ingest Azure/Electricity Maps traces, and run heuristic baselines to generate the offline dataset (</a:t>
            </a:r>
            <a:r>
              <a:rPr lang="en-US" dirty="0" err="1">
                <a:effectLst/>
                <a:latin typeface="KaTeX_Caligraphic"/>
              </a:rPr>
              <a:t>D</a:t>
            </a:r>
            <a:r>
              <a:rPr lang="en-US" i="1" baseline="-25000" dirty="0" err="1">
                <a:effectLst/>
                <a:latin typeface="KaTeX_Math"/>
              </a:rPr>
              <a:t>offline</a:t>
            </a:r>
            <a:r>
              <a:rPr lang="en-US" dirty="0">
                <a:effectLst/>
                <a:latin typeface="KaTeX_Main"/>
              </a:rPr>
              <a:t>​</a:t>
            </a:r>
            <a:r>
              <a:rPr lang="en-US" dirty="0">
                <a:effectLst/>
              </a:rPr>
              <a:t>).</a:t>
            </a:r>
          </a:p>
          <a:p>
            <a:r>
              <a:rPr lang="en-US" b="1" dirty="0">
                <a:effectLst/>
              </a:rPr>
              <a:t>March:</a:t>
            </a:r>
            <a:r>
              <a:rPr lang="en-US" dirty="0">
                <a:effectLst/>
              </a:rPr>
              <a:t> Pre-train the Offline RL agent (</a:t>
            </a:r>
            <a:r>
              <a:rPr lang="en-US" i="1" dirty="0">
                <a:effectLst/>
                <a:latin typeface="KaTeX_Math"/>
              </a:rPr>
              <a:t>π</a:t>
            </a:r>
            <a:r>
              <a:rPr lang="en-US" i="1" baseline="-25000" dirty="0">
                <a:effectLst/>
                <a:latin typeface="KaTeX_Math"/>
              </a:rPr>
              <a:t>offline</a:t>
            </a:r>
            <a:r>
              <a:rPr lang="en-US" dirty="0">
                <a:effectLst/>
                <a:latin typeface="KaTeX_Main"/>
              </a:rPr>
              <a:t>​</a:t>
            </a:r>
            <a:r>
              <a:rPr lang="en-US" dirty="0">
                <a:effectLst/>
              </a:rPr>
              <a:t>) to establish the safe behavior policy.</a:t>
            </a:r>
          </a:p>
          <a:p>
            <a:r>
              <a:rPr lang="en-US" b="1" dirty="0">
                <a:effectLst/>
              </a:rPr>
              <a:t>April (1-15):</a:t>
            </a:r>
            <a:r>
              <a:rPr lang="en-US" dirty="0">
                <a:effectLst/>
              </a:rPr>
              <a:t> Transition to online fine-tuning within the simulator using unseen data traces. Implement the KL-divergence constraint.</a:t>
            </a:r>
          </a:p>
          <a:p>
            <a:r>
              <a:rPr lang="en-US" b="1" dirty="0">
                <a:effectLst/>
              </a:rPr>
              <a:t>April (15- Finals week):</a:t>
            </a:r>
            <a:r>
              <a:rPr lang="en-US" dirty="0">
                <a:effectLst/>
              </a:rPr>
              <a:t> Evaluate performance metrics (Total Carbon vs. SLA Violation Rate) against standard baselines and finalize the report.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21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EB445-FAB1-4390-BDB2-53FFB7AAB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43" y="-19277"/>
            <a:ext cx="10515600" cy="1325563"/>
          </a:xfrm>
        </p:spPr>
        <p:txBody>
          <a:bodyPr/>
          <a:lstStyle/>
          <a:p>
            <a:r>
              <a:rPr lang="en-US" b="1" dirty="0">
                <a:latin typeface="Google Sans Text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B6091-591F-4D00-89E9-F31CBEC9E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57" y="1306286"/>
            <a:ext cx="10515600" cy="5551714"/>
          </a:xfrm>
        </p:spPr>
        <p:txBody>
          <a:bodyPr>
            <a:normAutofit/>
          </a:bodyPr>
          <a:lstStyle/>
          <a:p>
            <a:r>
              <a:rPr lang="en-US" sz="2000" b="1" i="0" dirty="0">
                <a:effectLst/>
                <a:latin typeface="Google Sans Text"/>
              </a:rPr>
              <a:t>Zhou, Z., Peng, A., Li, Q., Levine, S., &amp; Kumar, A. (2024). </a:t>
            </a:r>
            <a:r>
              <a:rPr lang="en-US" sz="2000" b="0" i="1" dirty="0">
                <a:effectLst/>
                <a:latin typeface="Google Sans Text"/>
              </a:rPr>
              <a:t>Efficient Online Reinforcement Learning Fine-Tuning Need Not Retain Offline Data</a:t>
            </a:r>
            <a:r>
              <a:rPr lang="en-US" sz="2000" b="0" i="0" dirty="0">
                <a:effectLst/>
                <a:latin typeface="Google Sans Text"/>
              </a:rPr>
              <a:t>. ICLR Proceedings.</a:t>
            </a:r>
          </a:p>
          <a:p>
            <a:r>
              <a:rPr lang="en-US" sz="2000" b="1" i="0" dirty="0" err="1">
                <a:effectLst/>
                <a:latin typeface="Google Sans Text"/>
              </a:rPr>
              <a:t>Kahil</a:t>
            </a:r>
            <a:r>
              <a:rPr lang="en-US" sz="2000" b="1" i="0" dirty="0">
                <a:effectLst/>
                <a:latin typeface="Google Sans Text"/>
              </a:rPr>
              <a:t>, H., Sharma, S., </a:t>
            </a:r>
            <a:r>
              <a:rPr lang="en-US" sz="2000" b="1" i="0" dirty="0" err="1">
                <a:effectLst/>
                <a:latin typeface="Google Sans Text"/>
              </a:rPr>
              <a:t>Välisuo</a:t>
            </a:r>
            <a:r>
              <a:rPr lang="en-US" sz="2000" b="1" i="0" dirty="0">
                <a:effectLst/>
                <a:latin typeface="Google Sans Text"/>
              </a:rPr>
              <a:t>, P., &amp; </a:t>
            </a:r>
            <a:r>
              <a:rPr lang="en-US" sz="2000" b="1" i="0" dirty="0" err="1">
                <a:effectLst/>
                <a:latin typeface="Google Sans Text"/>
              </a:rPr>
              <a:t>Elmusrati</a:t>
            </a:r>
            <a:r>
              <a:rPr lang="en-US" sz="2000" b="1" i="0" dirty="0">
                <a:effectLst/>
                <a:latin typeface="Google Sans Text"/>
              </a:rPr>
              <a:t>, M. (2025). </a:t>
            </a:r>
            <a:r>
              <a:rPr lang="en-US" sz="2000" b="0" i="1" dirty="0">
                <a:effectLst/>
                <a:latin typeface="Google Sans Text"/>
              </a:rPr>
              <a:t>Reinforcement learning for data center energy efficiency optimization: A systematic literature review and research roadmap</a:t>
            </a:r>
            <a:r>
              <a:rPr lang="en-US" sz="2000" b="0" i="0" dirty="0">
                <a:effectLst/>
                <a:latin typeface="Google Sans Text"/>
              </a:rPr>
              <a:t>. Applied Energy.</a:t>
            </a:r>
          </a:p>
          <a:p>
            <a:r>
              <a:rPr lang="en-US" sz="2000" b="0" i="0" dirty="0">
                <a:effectLst/>
                <a:latin typeface="Google Sans Text"/>
              </a:rPr>
              <a:t>Hanafy, W. A., Wu, L., Irwin, D., &amp; Shenoy, P. (2025). </a:t>
            </a:r>
            <a:r>
              <a:rPr lang="en-US" sz="2000" b="0" i="1" dirty="0" err="1">
                <a:effectLst/>
                <a:latin typeface="Google Sans Text"/>
              </a:rPr>
              <a:t>CarbonFlex</a:t>
            </a:r>
            <a:r>
              <a:rPr lang="en-US" sz="2000" b="0" i="1" dirty="0">
                <a:effectLst/>
                <a:latin typeface="Google Sans Text"/>
              </a:rPr>
              <a:t>: Enabling Carbon-aware Provisioning and Scheduling for Cloud Clusters</a:t>
            </a:r>
            <a:r>
              <a:rPr lang="en-US" sz="2000" b="0" i="0" dirty="0">
                <a:effectLst/>
                <a:latin typeface="Google Sans Text"/>
              </a:rPr>
              <a:t>. </a:t>
            </a:r>
            <a:r>
              <a:rPr lang="en-US" sz="2000" b="0" i="0" dirty="0" err="1">
                <a:effectLst/>
                <a:latin typeface="Google Sans Text"/>
              </a:rPr>
              <a:t>arXiv</a:t>
            </a:r>
            <a:endParaRPr lang="en-US" sz="2000" b="0" i="0" dirty="0">
              <a:effectLst/>
              <a:latin typeface="Google Sans Text"/>
            </a:endParaRPr>
          </a:p>
          <a:p>
            <a:r>
              <a:rPr lang="en-US" sz="2000" b="1" i="0" dirty="0">
                <a:effectLst/>
                <a:latin typeface="Google Sans Text"/>
              </a:rPr>
              <a:t>Souza, A., </a:t>
            </a:r>
            <a:r>
              <a:rPr lang="en-US" sz="2000" b="1" i="0" dirty="0" err="1">
                <a:effectLst/>
                <a:latin typeface="Google Sans Text"/>
              </a:rPr>
              <a:t>Jasoria</a:t>
            </a:r>
            <a:r>
              <a:rPr lang="en-US" sz="2000" b="1" i="0" dirty="0">
                <a:effectLst/>
                <a:latin typeface="Google Sans Text"/>
              </a:rPr>
              <a:t>, S., Chakrabarty, B., et al. (2023). </a:t>
            </a:r>
            <a:r>
              <a:rPr lang="en-US" sz="2000" b="0" i="1" dirty="0">
                <a:effectLst/>
                <a:latin typeface="Google Sans Text"/>
              </a:rPr>
              <a:t>CASPER: Carbon-Aware Scheduling and Provisioning for Distributed Web Services</a:t>
            </a:r>
            <a:r>
              <a:rPr lang="en-US" sz="2000" b="0" i="0" dirty="0">
                <a:effectLst/>
                <a:latin typeface="Google Sans Text"/>
              </a:rPr>
              <a:t>. 14th International Green and Sustainable Computing Conference (IGSC)</a:t>
            </a:r>
            <a:endParaRPr lang="en-US" sz="2000" b="1" i="0" dirty="0">
              <a:effectLst/>
              <a:latin typeface="Google Sans Text"/>
            </a:endParaRPr>
          </a:p>
          <a:p>
            <a:r>
              <a:rPr lang="en-US" sz="2000" b="1" i="0" dirty="0">
                <a:effectLst/>
                <a:latin typeface="Google Sans Text"/>
              </a:rPr>
              <a:t>Yeh, C., Li, V., Datta, R., et al. (2023). </a:t>
            </a:r>
            <a:r>
              <a:rPr lang="en-US" sz="2000" b="0" i="1" dirty="0" err="1">
                <a:effectLst/>
                <a:latin typeface="Google Sans Text"/>
              </a:rPr>
              <a:t>SustainGym</a:t>
            </a:r>
            <a:r>
              <a:rPr lang="en-US" sz="2000" b="0" i="1" dirty="0">
                <a:effectLst/>
                <a:latin typeface="Google Sans Text"/>
              </a:rPr>
              <a:t>: Reinforcement Learning Environments for Sustainable Energy Systems</a:t>
            </a:r>
            <a:r>
              <a:rPr lang="en-US" sz="2000" b="0" i="0" dirty="0">
                <a:effectLst/>
                <a:latin typeface="Google Sans Text"/>
              </a:rPr>
              <a:t>. 37th Conference on Neural Information Processing Systems (</a:t>
            </a:r>
            <a:r>
              <a:rPr lang="en-US" sz="2000" b="0" i="0" dirty="0" err="1">
                <a:effectLst/>
                <a:latin typeface="Google Sans Text"/>
              </a:rPr>
              <a:t>NeurIPS</a:t>
            </a:r>
            <a:r>
              <a:rPr lang="en-US" sz="2000" b="0" i="0" dirty="0">
                <a:effectLst/>
                <a:latin typeface="Google Sans Text"/>
              </a:rPr>
              <a:t>).</a:t>
            </a:r>
          </a:p>
          <a:p>
            <a:r>
              <a:rPr lang="en-US" sz="2000" b="1" i="0" dirty="0">
                <a:effectLst/>
                <a:latin typeface="Google Sans Text"/>
              </a:rPr>
              <a:t>Kumar, A., Zhou, A., Tucker, G., &amp; Levine, S. (2020). </a:t>
            </a:r>
            <a:r>
              <a:rPr lang="en-US" sz="2000" b="0" i="1" dirty="0">
                <a:effectLst/>
                <a:latin typeface="Google Sans Text"/>
              </a:rPr>
              <a:t>Conservative Q-Learning for Offline Reinforcement Learning</a:t>
            </a:r>
            <a:r>
              <a:rPr lang="en-US" sz="2000" b="0" i="0" dirty="0">
                <a:effectLst/>
                <a:latin typeface="Google Sans Text"/>
              </a:rPr>
              <a:t>. Advances in Neural Information Processing Systems (</a:t>
            </a:r>
            <a:r>
              <a:rPr lang="en-US" sz="2000" b="0" i="0" dirty="0" err="1">
                <a:effectLst/>
                <a:latin typeface="Google Sans Text"/>
              </a:rPr>
              <a:t>NeurIPS</a:t>
            </a:r>
            <a:r>
              <a:rPr lang="en-US" sz="2000" b="0" i="0" dirty="0">
                <a:effectLst/>
                <a:latin typeface="Google Sans Text"/>
              </a:rPr>
              <a:t>)</a:t>
            </a:r>
            <a:endParaRPr lang="en-US" sz="2000" dirty="0">
              <a:latin typeface="Google Sans Text"/>
            </a:endParaRPr>
          </a:p>
          <a:p>
            <a:r>
              <a:rPr lang="en-US" sz="2000" b="1" i="0" dirty="0" err="1">
                <a:effectLst/>
                <a:latin typeface="Google Sans Text"/>
              </a:rPr>
              <a:t>Niu</a:t>
            </a:r>
            <a:r>
              <a:rPr lang="en-US" sz="2000" b="1" i="0" dirty="0">
                <a:effectLst/>
                <a:latin typeface="Google Sans Text"/>
              </a:rPr>
              <a:t>, H., Sharma, S., </a:t>
            </a:r>
            <a:r>
              <a:rPr lang="en-US" sz="2000" b="1" i="0" dirty="0" err="1">
                <a:effectLst/>
                <a:latin typeface="Google Sans Text"/>
              </a:rPr>
              <a:t>Qiu</a:t>
            </a:r>
            <a:r>
              <a:rPr lang="en-US" sz="2000" b="1" i="0" dirty="0">
                <a:effectLst/>
                <a:latin typeface="Google Sans Text"/>
              </a:rPr>
              <a:t>, Y., Li, M., et al. (2022</a:t>
            </a:r>
            <a:r>
              <a:rPr lang="en-US" sz="2000" b="0" i="0" dirty="0">
                <a:effectLst/>
                <a:latin typeface="Google Sans Text"/>
              </a:rPr>
              <a:t>). </a:t>
            </a:r>
            <a:r>
              <a:rPr lang="en-US" sz="2000" b="0" i="1" dirty="0">
                <a:effectLst/>
                <a:latin typeface="Google Sans Text"/>
              </a:rPr>
              <a:t>When to Trust Your Simulator: Dynamics-Aware Hybrid Offline-and-Online Reinforcement Learning</a:t>
            </a:r>
            <a:r>
              <a:rPr lang="en-US" sz="2000" b="0" i="0" dirty="0">
                <a:effectLst/>
                <a:latin typeface="Google Sans Text"/>
              </a:rPr>
              <a:t> (H2O). </a:t>
            </a:r>
            <a:r>
              <a:rPr lang="en-US" sz="2000" b="0" i="0" dirty="0" err="1">
                <a:effectLst/>
                <a:latin typeface="Google Sans Text"/>
              </a:rPr>
              <a:t>NeurIPS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25299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C298-99BE-43A5-AC40-72DFE05E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C94B9-62C6-4655-BB0E-F4D3D9EB8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03231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894</Words>
  <Application>Microsoft Office PowerPoint</Application>
  <PresentationFormat>Widescreen</PresentationFormat>
  <Paragraphs>80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Google Sans Text</vt:lpstr>
      <vt:lpstr>KaTeX_Caligraphic</vt:lpstr>
      <vt:lpstr>KaTeX_Main</vt:lpstr>
      <vt:lpstr>KaTeX_Math</vt:lpstr>
      <vt:lpstr>Office Theme</vt:lpstr>
      <vt:lpstr>Hybrid Online-Offline Reinforcement Learning For Carbon-Aware Data Centers </vt:lpstr>
      <vt:lpstr>Introduction</vt:lpstr>
      <vt:lpstr>Problem Statement</vt:lpstr>
      <vt:lpstr>Why Offline-to-Online RL?</vt:lpstr>
      <vt:lpstr>Recent Works &amp; The Research Gap</vt:lpstr>
      <vt:lpstr>MDP Formulation (High-level)</vt:lpstr>
      <vt:lpstr>Datasets &amp; Simulation Environment</vt:lpstr>
      <vt:lpstr>Evaluation Metrics &amp; Success Criteria</vt:lpstr>
      <vt:lpstr>Proposed Timeline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Hemant</dc:creator>
  <cp:lastModifiedBy>Hemant</cp:lastModifiedBy>
  <cp:revision>17</cp:revision>
  <dcterms:created xsi:type="dcterms:W3CDTF">2026-02-19T16:02:09Z</dcterms:created>
  <dcterms:modified xsi:type="dcterms:W3CDTF">2026-02-20T02:15:06Z</dcterms:modified>
</cp:coreProperties>
</file>