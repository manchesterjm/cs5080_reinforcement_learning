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14"/>
    <p:restoredTop sz="96097"/>
  </p:normalViewPr>
  <p:slideViewPr>
    <p:cSldViewPr snapToGrid="0">
      <p:cViewPr varScale="1">
        <p:scale>
          <a:sx n="114" d="100"/>
          <a:sy n="114" d="100"/>
        </p:scale>
        <p:origin x="2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0A5C1-32F1-EC49-914F-AC342F5256B7}"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FE6E36-506F-9848-AAC4-6EFC0F5CCB62}" type="slidenum">
              <a:rPr lang="en-US" smtClean="0"/>
              <a:t>‹#›</a:t>
            </a:fld>
            <a:endParaRPr lang="en-US"/>
          </a:p>
        </p:txBody>
      </p:sp>
    </p:spTree>
    <p:extLst>
      <p:ext uri="{BB962C8B-B14F-4D97-AF65-F5344CB8AC3E}">
        <p14:creationId xmlns:p14="http://schemas.microsoft.com/office/powerpoint/2010/main" val="517693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tutoring systems follow fixed rules. For </a:t>
            </a:r>
            <a:r>
              <a:rPr lang="en-US" dirty="0" err="1"/>
              <a:t>eg</a:t>
            </a:r>
            <a:r>
              <a:rPr lang="en-US" dirty="0"/>
              <a:t>: If a student gets a </a:t>
            </a:r>
            <a:r>
              <a:rPr lang="en-US" dirty="0" err="1"/>
              <a:t>qsn</a:t>
            </a:r>
            <a:r>
              <a:rPr lang="en-US" dirty="0"/>
              <a:t> wrong , the system might show easier </a:t>
            </a:r>
            <a:r>
              <a:rPr lang="en-US" dirty="0" err="1"/>
              <a:t>qsn</a:t>
            </a:r>
            <a:r>
              <a:rPr lang="en-US" dirty="0"/>
              <a:t> or always give a hint. But the real student don’t learn at same pace. Some get bored if its too easy and other gets frustrated if its too hard. And these systems often optimize short term correctness </a:t>
            </a:r>
            <a:r>
              <a:rPr lang="en-US" dirty="0" err="1"/>
              <a:t>i.e</a:t>
            </a:r>
            <a:r>
              <a:rPr lang="en-US" dirty="0"/>
              <a:t> just focusing on next </a:t>
            </a:r>
            <a:r>
              <a:rPr lang="en-US" dirty="0" err="1"/>
              <a:t>qsn</a:t>
            </a:r>
            <a:r>
              <a:rPr lang="en-US" dirty="0"/>
              <a:t> right instead of focusing on long term mastery across skills. So the goal of this project is to build adaptive RL tutor that learns how to choose problems and hint levels automatically</a:t>
            </a:r>
          </a:p>
          <a:p>
            <a:r>
              <a:rPr lang="en-US" dirty="0"/>
              <a:t> </a:t>
            </a:r>
          </a:p>
        </p:txBody>
      </p:sp>
      <p:sp>
        <p:nvSpPr>
          <p:cNvPr id="4" name="Slide Number Placeholder 3"/>
          <p:cNvSpPr>
            <a:spLocks noGrp="1"/>
          </p:cNvSpPr>
          <p:nvPr>
            <p:ph type="sldNum" sz="quarter" idx="5"/>
          </p:nvPr>
        </p:nvSpPr>
        <p:spPr/>
        <p:txBody>
          <a:bodyPr/>
          <a:lstStyle/>
          <a:p>
            <a:fld id="{3AFE6E36-506F-9848-AAC4-6EFC0F5CCB62}" type="slidenum">
              <a:rPr lang="en-US" smtClean="0"/>
              <a:t>3</a:t>
            </a:fld>
            <a:endParaRPr lang="en-US"/>
          </a:p>
        </p:txBody>
      </p:sp>
    </p:spTree>
    <p:extLst>
      <p:ext uri="{BB962C8B-B14F-4D97-AF65-F5344CB8AC3E}">
        <p14:creationId xmlns:p14="http://schemas.microsoft.com/office/powerpoint/2010/main" val="1868321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is built around a feedback loop between student and tutor. The domain model contains the skills or content being taught. For </a:t>
            </a:r>
            <a:r>
              <a:rPr lang="en-US" dirty="0" err="1"/>
              <a:t>eg</a:t>
            </a:r>
            <a:r>
              <a:rPr lang="en-US" dirty="0"/>
              <a:t>: math , science, English. The student model estimate what the student currently knows . After each interaction, the system update this estimate. The tutor or policy engine uses estimate to decide what to do next for </a:t>
            </a:r>
            <a:r>
              <a:rPr lang="en-US" dirty="0" err="1"/>
              <a:t>eg</a:t>
            </a:r>
            <a:r>
              <a:rPr lang="en-US" dirty="0"/>
              <a:t>; which </a:t>
            </a:r>
            <a:r>
              <a:rPr lang="en-US" dirty="0" err="1"/>
              <a:t>qsn</a:t>
            </a:r>
            <a:r>
              <a:rPr lang="en-US" dirty="0"/>
              <a:t> to show or whether to give hint or not. The user interface presents this </a:t>
            </a:r>
            <a:r>
              <a:rPr lang="en-US" dirty="0" err="1"/>
              <a:t>qsn</a:t>
            </a:r>
            <a:r>
              <a:rPr lang="en-US" dirty="0"/>
              <a:t> to student and the student’s response becomes feedback and updates the student model. So the ITS system continuously observe, decide and adapts.</a:t>
            </a:r>
          </a:p>
        </p:txBody>
      </p:sp>
      <p:sp>
        <p:nvSpPr>
          <p:cNvPr id="4" name="Slide Number Placeholder 3"/>
          <p:cNvSpPr>
            <a:spLocks noGrp="1"/>
          </p:cNvSpPr>
          <p:nvPr>
            <p:ph type="sldNum" sz="quarter" idx="5"/>
          </p:nvPr>
        </p:nvSpPr>
        <p:spPr/>
        <p:txBody>
          <a:bodyPr/>
          <a:lstStyle/>
          <a:p>
            <a:fld id="{3AFE6E36-506F-9848-AAC4-6EFC0F5CCB62}" type="slidenum">
              <a:rPr lang="en-US" smtClean="0"/>
              <a:t>4</a:t>
            </a:fld>
            <a:endParaRPr lang="en-US"/>
          </a:p>
        </p:txBody>
      </p:sp>
    </p:spTree>
    <p:extLst>
      <p:ext uri="{BB962C8B-B14F-4D97-AF65-F5344CB8AC3E}">
        <p14:creationId xmlns:p14="http://schemas.microsoft.com/office/powerpoint/2010/main" val="2213926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model tutoring process as Markov Decision Process. The state represents what the student currently knows, their mastery across skills. The action is what the tutor chooses next, such as which problem to give or whether to give a hint. After the student responds , the system receives a reward. This lead to the next state , which is the updated estimate of student mastery.</a:t>
            </a:r>
          </a:p>
        </p:txBody>
      </p:sp>
      <p:sp>
        <p:nvSpPr>
          <p:cNvPr id="4" name="Slide Number Placeholder 3"/>
          <p:cNvSpPr>
            <a:spLocks noGrp="1"/>
          </p:cNvSpPr>
          <p:nvPr>
            <p:ph type="sldNum" sz="quarter" idx="5"/>
          </p:nvPr>
        </p:nvSpPr>
        <p:spPr/>
        <p:txBody>
          <a:bodyPr/>
          <a:lstStyle/>
          <a:p>
            <a:fld id="{3AFE6E36-506F-9848-AAC4-6EFC0F5CCB62}" type="slidenum">
              <a:rPr lang="en-US" smtClean="0"/>
              <a:t>5</a:t>
            </a:fld>
            <a:endParaRPr lang="en-US"/>
          </a:p>
        </p:txBody>
      </p:sp>
    </p:spTree>
    <p:extLst>
      <p:ext uri="{BB962C8B-B14F-4D97-AF65-F5344CB8AC3E}">
        <p14:creationId xmlns:p14="http://schemas.microsoft.com/office/powerpoint/2010/main" val="1899982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paper treats tutoring as a goal driven planning problem. Instead of just picking next exercise, the system learns when to teach and when to assess, using prerequisite structure.</a:t>
            </a:r>
          </a:p>
          <a:p>
            <a:r>
              <a:rPr lang="en-US" dirty="0"/>
              <a:t>The second paper combines knowledge tracing with RL. It estimate what the student knows and used RL to optimize learning path.</a:t>
            </a:r>
          </a:p>
          <a:p>
            <a:r>
              <a:rPr lang="en-US" dirty="0"/>
              <a:t>The third paper extends tutoring to multi-agent strategies- it decides when automated help , peer support or teacher intervention is needed.</a:t>
            </a:r>
          </a:p>
        </p:txBody>
      </p:sp>
      <p:sp>
        <p:nvSpPr>
          <p:cNvPr id="4" name="Slide Number Placeholder 3"/>
          <p:cNvSpPr>
            <a:spLocks noGrp="1"/>
          </p:cNvSpPr>
          <p:nvPr>
            <p:ph type="sldNum" sz="quarter" idx="5"/>
          </p:nvPr>
        </p:nvSpPr>
        <p:spPr/>
        <p:txBody>
          <a:bodyPr/>
          <a:lstStyle/>
          <a:p>
            <a:fld id="{3AFE6E36-506F-9848-AAC4-6EFC0F5CCB62}" type="slidenum">
              <a:rPr lang="en-US" smtClean="0"/>
              <a:t>6</a:t>
            </a:fld>
            <a:endParaRPr lang="en-US"/>
          </a:p>
        </p:txBody>
      </p:sp>
    </p:spTree>
    <p:extLst>
      <p:ext uri="{BB962C8B-B14F-4D97-AF65-F5344CB8AC3E}">
        <p14:creationId xmlns:p14="http://schemas.microsoft.com/office/powerpoint/2010/main" val="3536167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will use a real educational dataset from </a:t>
            </a:r>
            <a:r>
              <a:rPr lang="en-US" dirty="0" err="1"/>
              <a:t>ASSISTment</a:t>
            </a:r>
            <a:r>
              <a:rPr lang="en-US" dirty="0"/>
              <a:t> online tutoring system. It is a platform where students solves math </a:t>
            </a:r>
            <a:r>
              <a:rPr lang="en-US" dirty="0" err="1"/>
              <a:t>qsns</a:t>
            </a:r>
            <a:r>
              <a:rPr lang="en-US" dirty="0"/>
              <a:t> , and the system logs every interactions.</a:t>
            </a:r>
          </a:p>
        </p:txBody>
      </p:sp>
      <p:sp>
        <p:nvSpPr>
          <p:cNvPr id="4" name="Slide Number Placeholder 3"/>
          <p:cNvSpPr>
            <a:spLocks noGrp="1"/>
          </p:cNvSpPr>
          <p:nvPr>
            <p:ph type="sldNum" sz="quarter" idx="5"/>
          </p:nvPr>
        </p:nvSpPr>
        <p:spPr/>
        <p:txBody>
          <a:bodyPr/>
          <a:lstStyle/>
          <a:p>
            <a:fld id="{3AFE6E36-506F-9848-AAC4-6EFC0F5CCB62}" type="slidenum">
              <a:rPr lang="en-US" smtClean="0"/>
              <a:t>7</a:t>
            </a:fld>
            <a:endParaRPr lang="en-US"/>
          </a:p>
        </p:txBody>
      </p:sp>
    </p:spTree>
    <p:extLst>
      <p:ext uri="{BB962C8B-B14F-4D97-AF65-F5344CB8AC3E}">
        <p14:creationId xmlns:p14="http://schemas.microsoft.com/office/powerpoint/2010/main" val="549274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tutoring process is modeled as a reinforcement learning environment.</a:t>
            </a:r>
          </a:p>
          <a:p>
            <a:r>
              <a:rPr lang="en-US" dirty="0"/>
              <a:t>Each student is represented by a hidden mastery vector across K skills. Mastery values range from low to high and determine the probability of answering correctly.</a:t>
            </a:r>
          </a:p>
          <a:p>
            <a:r>
              <a:rPr lang="en-US" dirty="0"/>
              <a:t>In addition to knowledge, there </a:t>
            </a:r>
            <a:r>
              <a:rPr lang="en-US" dirty="0" err="1"/>
              <a:t>wil</a:t>
            </a:r>
            <a:r>
              <a:rPr lang="en-US" dirty="0"/>
              <a:t> be model engagement using boredom and confidence. This allows the tutor to react not only to correctness, but also to student state.</a:t>
            </a:r>
          </a:p>
          <a:p>
            <a:r>
              <a:rPr lang="en-US" dirty="0"/>
              <a:t>The environment state includes the mastery vector, recent correctness history, and engagement signals. So the agent sees both learning progress and behavioral context.</a:t>
            </a:r>
          </a:p>
          <a:p>
            <a:r>
              <a:rPr lang="en-US" dirty="0"/>
              <a:t>The action is selecting a skill and deciding whether to give a hint.</a:t>
            </a:r>
          </a:p>
          <a:p>
            <a:r>
              <a:rPr lang="en-US" dirty="0"/>
              <a:t>Transitions are probabilistic. If mastery is high, success is more likely. Correct answers increase mastery, while engagement evolves dynamically.</a:t>
            </a:r>
          </a:p>
          <a:p>
            <a:r>
              <a:rPr lang="en-US" dirty="0"/>
              <a:t>The reward combines correctness, improvement in mastery, and penalties for excessive hints or boredom. This encourages effective and balanced teaching strategies.</a:t>
            </a:r>
          </a:p>
          <a:p>
            <a:endParaRPr lang="en-US" dirty="0"/>
          </a:p>
        </p:txBody>
      </p:sp>
      <p:sp>
        <p:nvSpPr>
          <p:cNvPr id="4" name="Slide Number Placeholder 3"/>
          <p:cNvSpPr>
            <a:spLocks noGrp="1"/>
          </p:cNvSpPr>
          <p:nvPr>
            <p:ph type="sldNum" sz="quarter" idx="5"/>
          </p:nvPr>
        </p:nvSpPr>
        <p:spPr/>
        <p:txBody>
          <a:bodyPr/>
          <a:lstStyle/>
          <a:p>
            <a:fld id="{3AFE6E36-506F-9848-AAC4-6EFC0F5CCB62}" type="slidenum">
              <a:rPr lang="en-US" smtClean="0"/>
              <a:t>8</a:t>
            </a:fld>
            <a:endParaRPr lang="en-US"/>
          </a:p>
        </p:txBody>
      </p:sp>
    </p:spTree>
    <p:extLst>
      <p:ext uri="{BB962C8B-B14F-4D97-AF65-F5344CB8AC3E}">
        <p14:creationId xmlns:p14="http://schemas.microsoft.com/office/powerpoint/2010/main" val="165094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policy is the simplest. It chooses skill randomly without looking student's state.</a:t>
            </a:r>
          </a:p>
          <a:p>
            <a:r>
              <a:rPr lang="en-US" dirty="0"/>
              <a:t>A greedy Heuristic is rule based tutor. It always select weakest skill and gives hint when mastery is low.</a:t>
            </a:r>
          </a:p>
          <a:p>
            <a:r>
              <a:rPr lang="en-US" dirty="0"/>
              <a:t>Vanilla DQN learns to score tutoring actions. For each student state, it predicts how good is to teach skill. Over many simulated sessions, it discovers which sequences of problems lead to long term mastery.</a:t>
            </a:r>
          </a:p>
          <a:p>
            <a:r>
              <a:rPr lang="en-US" dirty="0"/>
              <a:t>Double DQN + Dueling : It separates the state value and action advantage. It estimate 2 things: 1) How good is the student state overall and 2) which action is best inside that state.</a:t>
            </a:r>
          </a:p>
          <a:p>
            <a:r>
              <a:rPr lang="en-US" dirty="0"/>
              <a:t>PPO(Proximal Policy Optimization) : It is an actor-critic method. It has 2 parts: the actor decides which tutoring action to take and the critic which evaluate how good that decision was. Here GAE is Generalized Advantage Estimation which measure how much better an action was compared to expectations</a:t>
            </a:r>
          </a:p>
          <a:p>
            <a:r>
              <a:rPr lang="en-US" dirty="0"/>
              <a:t>DT is offline RL that learns from the </a:t>
            </a:r>
            <a:r>
              <a:rPr lang="en-US" dirty="0" err="1"/>
              <a:t>datsets</a:t>
            </a:r>
            <a:r>
              <a:rPr lang="en-US" dirty="0"/>
              <a:t> or trajectories. Given a sequence od state , action and Return to go , it predicts the optimal action to take.</a:t>
            </a:r>
          </a:p>
          <a:p>
            <a:endParaRPr lang="en-US" dirty="0"/>
          </a:p>
        </p:txBody>
      </p:sp>
      <p:sp>
        <p:nvSpPr>
          <p:cNvPr id="4" name="Slide Number Placeholder 3"/>
          <p:cNvSpPr>
            <a:spLocks noGrp="1"/>
          </p:cNvSpPr>
          <p:nvPr>
            <p:ph type="sldNum" sz="quarter" idx="5"/>
          </p:nvPr>
        </p:nvSpPr>
        <p:spPr/>
        <p:txBody>
          <a:bodyPr/>
          <a:lstStyle/>
          <a:p>
            <a:fld id="{3AFE6E36-506F-9848-AAC4-6EFC0F5CCB62}" type="slidenum">
              <a:rPr lang="en-US" smtClean="0"/>
              <a:t>9</a:t>
            </a:fld>
            <a:endParaRPr lang="en-US"/>
          </a:p>
        </p:txBody>
      </p:sp>
    </p:spTree>
    <p:extLst>
      <p:ext uri="{BB962C8B-B14F-4D97-AF65-F5344CB8AC3E}">
        <p14:creationId xmlns:p14="http://schemas.microsoft.com/office/powerpoint/2010/main" val="2251777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total reward: It is the overall score from the environment. It combines correctness, engagement and fairness.</a:t>
            </a:r>
          </a:p>
          <a:p>
            <a:r>
              <a:rPr lang="en-US" dirty="0"/>
              <a:t>Final Mean Mastery: it measures how much student improved overall by the end of episode.</a:t>
            </a:r>
          </a:p>
        </p:txBody>
      </p:sp>
      <p:sp>
        <p:nvSpPr>
          <p:cNvPr id="4" name="Slide Number Placeholder 3"/>
          <p:cNvSpPr>
            <a:spLocks noGrp="1"/>
          </p:cNvSpPr>
          <p:nvPr>
            <p:ph type="sldNum" sz="quarter" idx="5"/>
          </p:nvPr>
        </p:nvSpPr>
        <p:spPr/>
        <p:txBody>
          <a:bodyPr/>
          <a:lstStyle/>
          <a:p>
            <a:fld id="{3AFE6E36-506F-9848-AAC4-6EFC0F5CCB62}" type="slidenum">
              <a:rPr lang="en-US" smtClean="0"/>
              <a:t>10</a:t>
            </a:fld>
            <a:endParaRPr lang="en-US"/>
          </a:p>
        </p:txBody>
      </p:sp>
    </p:spTree>
    <p:extLst>
      <p:ext uri="{BB962C8B-B14F-4D97-AF65-F5344CB8AC3E}">
        <p14:creationId xmlns:p14="http://schemas.microsoft.com/office/powerpoint/2010/main" val="806168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ACAB-B60A-565C-3FAA-D2924A991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A8B6FE-57F5-EB81-BF9B-DCCDDFB8E6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96BB5B-F8CE-DBFF-3C45-0113453EB9F6}"/>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D4097F7D-D311-6D4C-8672-FA96C0BD9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76401-A220-D35C-8929-75849FEBBF14}"/>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3441287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625B8-99DB-BDA8-867A-BE20FA861C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7E2B3-D89C-1FAD-A84A-573D6C66A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CE6513-4288-4959-E864-F489E2ECF22D}"/>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FEBEF399-85F0-3A6E-0861-4BD73E2E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D4461-CF2E-33D5-42F4-557F4E8B8FCE}"/>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1813694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AA516-D519-90E3-BCE1-CE601B2BB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FD1828-2A07-BF21-E763-AE512AA27B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CA7186-AF17-C35A-4A20-0285A4841D27}"/>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44C18DE1-6F89-070D-A7A5-039D372F09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291FA-CAD5-8B93-B1C4-BC24CFFFC38F}"/>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3192895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91FB6-977A-FE9C-B0E3-626D84AF9C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2CE8C2-056A-45D4-6153-41D028FF62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4A189A-DEAA-777E-6F90-5C079C5690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6BE384-44C0-1A06-BB34-F4F934F56C5C}"/>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6" name="Footer Placeholder 5">
            <a:extLst>
              <a:ext uri="{FF2B5EF4-FFF2-40B4-BE49-F238E27FC236}">
                <a16:creationId xmlns:a16="http://schemas.microsoft.com/office/drawing/2014/main" id="{600EDEE8-E43E-9392-79C1-E07297739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9187B5-39FB-996F-5D12-72BC7B31621F}"/>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176859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3BCA-07CF-8F05-65B8-92E64CD5D4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4715FC-E598-F021-A53F-57A4FF6095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77B1C6-8825-CD15-40DA-CDC70751C1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6F53F2-C8F0-7BA6-4184-2ABF90C990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7396F5-926D-2DFE-83ED-163B0BF366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0BC844-9837-E7BB-E004-E70E91EB4796}"/>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8" name="Footer Placeholder 7">
            <a:extLst>
              <a:ext uri="{FF2B5EF4-FFF2-40B4-BE49-F238E27FC236}">
                <a16:creationId xmlns:a16="http://schemas.microsoft.com/office/drawing/2014/main" id="{5099F314-9983-B937-C32A-7F320EFC1F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0DACAC-0B67-673F-C44B-D8382E87A0B1}"/>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2659772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D9817-ACA9-7A9E-54D8-84980C5F18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8ECC39-CF99-5B99-78B1-1C253E23C711}"/>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4" name="Footer Placeholder 3">
            <a:extLst>
              <a:ext uri="{FF2B5EF4-FFF2-40B4-BE49-F238E27FC236}">
                <a16:creationId xmlns:a16="http://schemas.microsoft.com/office/drawing/2014/main" id="{C5239ED6-65B5-B20D-063C-D8B11597BC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79FBA3-F055-B345-7A2A-FE1290F98CB1}"/>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68296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271B67-6185-8F0A-9557-F725C06857A2}"/>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3" name="Footer Placeholder 2">
            <a:extLst>
              <a:ext uri="{FF2B5EF4-FFF2-40B4-BE49-F238E27FC236}">
                <a16:creationId xmlns:a16="http://schemas.microsoft.com/office/drawing/2014/main" id="{1A566A08-69CF-2C03-0C6C-546F5E9D8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FC6406-1389-7D26-5AF0-56C5C949AC09}"/>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102366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C0470-564D-26D1-137D-FFBFFAEB4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614BA1-508F-C170-9814-B447626A3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FA5E5B-CE7C-6807-3522-5F55C774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7B3B3-F654-3B13-997A-16DCD6B627E5}"/>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6" name="Footer Placeholder 5">
            <a:extLst>
              <a:ext uri="{FF2B5EF4-FFF2-40B4-BE49-F238E27FC236}">
                <a16:creationId xmlns:a16="http://schemas.microsoft.com/office/drawing/2014/main" id="{DE6091D5-1521-AD38-5CB8-495910672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F15368-44A5-0E5C-30C7-55954E49CD71}"/>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2040415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3CCB-EBEC-0737-81CD-7AD1FB8349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5E7C96-6C08-F051-9BBF-9D54AB9AC3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7BBC43-3A28-7504-90BA-B429B4932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6A3AD8-75CD-A187-C755-E841105E737E}"/>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6" name="Footer Placeholder 5">
            <a:extLst>
              <a:ext uri="{FF2B5EF4-FFF2-40B4-BE49-F238E27FC236}">
                <a16:creationId xmlns:a16="http://schemas.microsoft.com/office/drawing/2014/main" id="{3E4F9B76-0CC1-1F82-8F53-AB76A0EF0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404D88-1D58-9B48-ACB9-D708FDFA861F}"/>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3145841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1882-AA2F-9D34-0D22-70CA9D7C39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2671F2-F831-B196-F716-FE5CEAD55B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AEA184-D53B-1602-891D-9DCC7E9653C8}"/>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DCF6E952-809A-32AE-D7BD-BBA32E59F3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44627-0AA6-76F6-A9C3-FEB85927BFFB}"/>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2247116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293247-67DB-5CEB-33E9-F0C4FBB15C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143A66-D9A4-5555-17F2-DB5DADB7BB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165E3-0836-6A85-1564-F69F9E2F9370}"/>
              </a:ext>
            </a:extLst>
          </p:cNvPr>
          <p:cNvSpPr>
            <a:spLocks noGrp="1"/>
          </p:cNvSpPr>
          <p:nvPr>
            <p:ph type="dt" sz="half" idx="10"/>
          </p:nvPr>
        </p:nvSpPr>
        <p:spPr/>
        <p:txBody>
          <a:body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B2B88AF2-C911-BFB4-8418-393C95936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71782-C839-9D9B-25F9-AC8E2AD9D5B7}"/>
              </a:ext>
            </a:extLst>
          </p:cNvPr>
          <p:cNvSpPr>
            <a:spLocks noGrp="1"/>
          </p:cNvSpPr>
          <p:nvPr>
            <p:ph type="sldNum" sz="quarter" idx="12"/>
          </p:nvPr>
        </p:nvSpPr>
        <p:spPr/>
        <p:txBody>
          <a:bodyPr/>
          <a:lstStyle/>
          <a:p>
            <a:fld id="{AB0F302E-3F52-1B4C-9F8C-E7448E2178D1}" type="slidenum">
              <a:rPr lang="en-US" smtClean="0"/>
              <a:t>‹#›</a:t>
            </a:fld>
            <a:endParaRPr lang="en-US"/>
          </a:p>
        </p:txBody>
      </p:sp>
    </p:spTree>
    <p:extLst>
      <p:ext uri="{BB962C8B-B14F-4D97-AF65-F5344CB8AC3E}">
        <p14:creationId xmlns:p14="http://schemas.microsoft.com/office/powerpoint/2010/main" val="160439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6D7523-4073-F5E4-6183-1E2BC2A577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92C377-8DC5-F621-BCFE-98FBAC0171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BB958-00B8-B5CF-ACB4-A1E9C614BF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1B8181-1F69-3447-BF47-BB579DFB8B8B}" type="datetimeFigureOut">
              <a:rPr lang="en-US" smtClean="0"/>
              <a:t>2/17/26</a:t>
            </a:fld>
            <a:endParaRPr lang="en-US"/>
          </a:p>
        </p:txBody>
      </p:sp>
      <p:sp>
        <p:nvSpPr>
          <p:cNvPr id="5" name="Footer Placeholder 4">
            <a:extLst>
              <a:ext uri="{FF2B5EF4-FFF2-40B4-BE49-F238E27FC236}">
                <a16:creationId xmlns:a16="http://schemas.microsoft.com/office/drawing/2014/main" id="{2DFE4D33-BE26-B9A2-6AB6-5950F85A6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CEC5A7-5A57-8565-4B57-03A7956AE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0F302E-3F52-1B4C-9F8C-E7448E2178D1}" type="slidenum">
              <a:rPr lang="en-US" smtClean="0"/>
              <a:t>‹#›</a:t>
            </a:fld>
            <a:endParaRPr lang="en-US"/>
          </a:p>
        </p:txBody>
      </p:sp>
    </p:spTree>
    <p:extLst>
      <p:ext uri="{BB962C8B-B14F-4D97-AF65-F5344CB8AC3E}">
        <p14:creationId xmlns:p14="http://schemas.microsoft.com/office/powerpoint/2010/main" val="1668442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FFA6C-7B6F-C420-55B9-26DEEA08AC5F}"/>
              </a:ext>
            </a:extLst>
          </p:cNvPr>
          <p:cNvSpPr>
            <a:spLocks noGrp="1"/>
          </p:cNvSpPr>
          <p:nvPr>
            <p:ph type="ctrTitle"/>
          </p:nvPr>
        </p:nvSpPr>
        <p:spPr>
          <a:xfrm>
            <a:off x="1524000" y="406400"/>
            <a:ext cx="9144000" cy="2387600"/>
          </a:xfrm>
        </p:spPr>
        <p:txBody>
          <a:bodyPr/>
          <a:lstStyle/>
          <a:p>
            <a:r>
              <a:rPr lang="en-US" dirty="0"/>
              <a:t>Reinforcement Learning for Intelligent Tutoring System</a:t>
            </a:r>
          </a:p>
        </p:txBody>
      </p:sp>
      <p:sp>
        <p:nvSpPr>
          <p:cNvPr id="3" name="Subtitle 2">
            <a:extLst>
              <a:ext uri="{FF2B5EF4-FFF2-40B4-BE49-F238E27FC236}">
                <a16:creationId xmlns:a16="http://schemas.microsoft.com/office/drawing/2014/main" id="{21E55440-1878-2178-7D54-71B8F7774DC3}"/>
              </a:ext>
            </a:extLst>
          </p:cNvPr>
          <p:cNvSpPr>
            <a:spLocks noGrp="1"/>
          </p:cNvSpPr>
          <p:nvPr>
            <p:ph type="subTitle" idx="1"/>
          </p:nvPr>
        </p:nvSpPr>
        <p:spPr>
          <a:xfrm>
            <a:off x="1524000" y="3602038"/>
            <a:ext cx="9144000" cy="2849562"/>
          </a:xfrm>
        </p:spPr>
        <p:txBody>
          <a:bodyPr>
            <a:normAutofit/>
          </a:bodyPr>
          <a:lstStyle/>
          <a:p>
            <a:r>
              <a:rPr lang="en-US" dirty="0"/>
              <a:t>BY </a:t>
            </a:r>
          </a:p>
          <a:p>
            <a:r>
              <a:rPr lang="en-US" dirty="0"/>
              <a:t>Abin Acharya</a:t>
            </a:r>
          </a:p>
          <a:p>
            <a:r>
              <a:rPr lang="en-US" dirty="0"/>
              <a:t>University of Colorado Colorado Springs</a:t>
            </a:r>
          </a:p>
          <a:p>
            <a:r>
              <a:rPr lang="en-US" dirty="0"/>
              <a:t>     CS 4885/5885 Project</a:t>
            </a:r>
          </a:p>
          <a:p>
            <a:r>
              <a:rPr lang="en-US" dirty="0"/>
              <a:t>       Instructor: Jugal Kalita</a:t>
            </a:r>
          </a:p>
        </p:txBody>
      </p:sp>
      <p:sp>
        <p:nvSpPr>
          <p:cNvPr id="4" name="Subtitle 2">
            <a:extLst>
              <a:ext uri="{FF2B5EF4-FFF2-40B4-BE49-F238E27FC236}">
                <a16:creationId xmlns:a16="http://schemas.microsoft.com/office/drawing/2014/main" id="{3C167EEE-6729-30CF-522F-F3D8359AD1F0}"/>
              </a:ext>
            </a:extLst>
          </p:cNvPr>
          <p:cNvSpPr txBox="1">
            <a:spLocks/>
          </p:cNvSpPr>
          <p:nvPr/>
        </p:nvSpPr>
        <p:spPr>
          <a:xfrm>
            <a:off x="9213273" y="6232128"/>
            <a:ext cx="2909454" cy="4389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Date: Feb 17, 2026 </a:t>
            </a:r>
          </a:p>
        </p:txBody>
      </p:sp>
    </p:spTree>
    <p:extLst>
      <p:ext uri="{BB962C8B-B14F-4D97-AF65-F5344CB8AC3E}">
        <p14:creationId xmlns:p14="http://schemas.microsoft.com/office/powerpoint/2010/main" val="3911639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A64351-FF47-8F7F-9E70-7F0A3052DDA4}"/>
              </a:ext>
            </a:extLst>
          </p:cNvPr>
          <p:cNvSpPr>
            <a:spLocks noGrp="1"/>
          </p:cNvSpPr>
          <p:nvPr>
            <p:ph type="title"/>
          </p:nvPr>
        </p:nvSpPr>
        <p:spPr>
          <a:xfrm>
            <a:off x="1115568" y="548640"/>
            <a:ext cx="10168128" cy="1179576"/>
          </a:xfrm>
        </p:spPr>
        <p:txBody>
          <a:bodyPr>
            <a:normAutofit/>
          </a:bodyPr>
          <a:lstStyle/>
          <a:p>
            <a:r>
              <a:rPr lang="en-US" sz="4000"/>
              <a:t>Agenda</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4E758BD-AE83-DA55-7DCA-410E2974CA00}"/>
              </a:ext>
            </a:extLst>
          </p:cNvPr>
          <p:cNvSpPr>
            <a:spLocks noGrp="1"/>
          </p:cNvSpPr>
          <p:nvPr>
            <p:ph idx="1"/>
          </p:nvPr>
        </p:nvSpPr>
        <p:spPr>
          <a:xfrm>
            <a:off x="1115568" y="2481943"/>
            <a:ext cx="10168128" cy="3695020"/>
          </a:xfrm>
        </p:spPr>
        <p:txBody>
          <a:bodyPr>
            <a:normAutofit/>
          </a:bodyPr>
          <a:lstStyle/>
          <a:p>
            <a:r>
              <a:rPr lang="en-US" sz="2200" dirty="0"/>
              <a:t>Problem &amp; Objective</a:t>
            </a:r>
          </a:p>
          <a:p>
            <a:r>
              <a:rPr lang="en-US" sz="2200" dirty="0"/>
              <a:t>Intelligent Tutoring System</a:t>
            </a:r>
          </a:p>
          <a:p>
            <a:r>
              <a:rPr lang="en-US" sz="2200" dirty="0"/>
              <a:t>Problem Formulation as Reinforcement Learning</a:t>
            </a:r>
          </a:p>
          <a:p>
            <a:r>
              <a:rPr lang="en-US" sz="2200" dirty="0"/>
              <a:t>Related Work</a:t>
            </a:r>
          </a:p>
          <a:p>
            <a:r>
              <a:rPr lang="en-US" sz="2200" dirty="0"/>
              <a:t>Proposed RL Tutor Framework</a:t>
            </a:r>
          </a:p>
          <a:p>
            <a:r>
              <a:rPr lang="en-US" sz="2200" dirty="0"/>
              <a:t>Methods</a:t>
            </a:r>
          </a:p>
          <a:p>
            <a:r>
              <a:rPr lang="en-US" sz="2200" dirty="0"/>
              <a:t>Evaluation Plan</a:t>
            </a:r>
          </a:p>
          <a:p>
            <a:r>
              <a:rPr lang="en-US" sz="2200" dirty="0"/>
              <a:t>Project Timeline </a:t>
            </a:r>
          </a:p>
        </p:txBody>
      </p:sp>
    </p:spTree>
    <p:extLst>
      <p:ext uri="{BB962C8B-B14F-4D97-AF65-F5344CB8AC3E}">
        <p14:creationId xmlns:p14="http://schemas.microsoft.com/office/powerpoint/2010/main" val="306229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9F22E0-C32F-1996-40DA-D348FE424DE2}"/>
              </a:ext>
            </a:extLst>
          </p:cNvPr>
          <p:cNvSpPr>
            <a:spLocks noGrp="1"/>
          </p:cNvSpPr>
          <p:nvPr>
            <p:ph type="title"/>
          </p:nvPr>
        </p:nvSpPr>
        <p:spPr>
          <a:xfrm>
            <a:off x="838200" y="365125"/>
            <a:ext cx="10515600" cy="1325563"/>
          </a:xfrm>
        </p:spPr>
        <p:txBody>
          <a:bodyPr>
            <a:normAutofit/>
          </a:bodyPr>
          <a:lstStyle/>
          <a:p>
            <a:r>
              <a:rPr lang="en-US" sz="5400"/>
              <a:t>Problem &amp; Objective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9F9EDF-3EE2-6644-2D2B-36AA2AF78469}"/>
              </a:ext>
            </a:extLst>
          </p:cNvPr>
          <p:cNvSpPr>
            <a:spLocks noGrp="1"/>
          </p:cNvSpPr>
          <p:nvPr>
            <p:ph idx="1"/>
          </p:nvPr>
        </p:nvSpPr>
        <p:spPr>
          <a:xfrm>
            <a:off x="838200" y="1929384"/>
            <a:ext cx="10515600" cy="4251960"/>
          </a:xfrm>
        </p:spPr>
        <p:txBody>
          <a:bodyPr>
            <a:normAutofit/>
          </a:bodyPr>
          <a:lstStyle/>
          <a:p>
            <a:pPr marL="0" indent="0">
              <a:buNone/>
            </a:pPr>
            <a:r>
              <a:rPr lang="en-US" sz="2200"/>
              <a:t>Problem</a:t>
            </a:r>
          </a:p>
          <a:p>
            <a:r>
              <a:rPr lang="en-US" sz="2200"/>
              <a:t>Traditional Tutoring systems rely on rigid, rule-based sequencing, does not adapt to learning pace or engagement state</a:t>
            </a:r>
          </a:p>
          <a:p>
            <a:r>
              <a:rPr lang="en-US" sz="2200"/>
              <a:t>They optimize short-term correctness rather than long-term mastery</a:t>
            </a:r>
          </a:p>
          <a:p>
            <a:pPr marL="0" indent="0">
              <a:buNone/>
            </a:pPr>
            <a:r>
              <a:rPr lang="en-US" sz="2200"/>
              <a:t>Objective</a:t>
            </a:r>
          </a:p>
          <a:p>
            <a:pPr marL="0" indent="0">
              <a:buNone/>
            </a:pPr>
            <a:r>
              <a:rPr lang="en-US" sz="2200"/>
              <a:t>Develop an adaptive Reinforcement learning tutor – selecting problems and hint levels to maximize long term mastery and student engagement</a:t>
            </a:r>
          </a:p>
        </p:txBody>
      </p:sp>
    </p:spTree>
    <p:extLst>
      <p:ext uri="{BB962C8B-B14F-4D97-AF65-F5344CB8AC3E}">
        <p14:creationId xmlns:p14="http://schemas.microsoft.com/office/powerpoint/2010/main" val="118119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8C26D5-321F-2C61-F763-E302E087989E}"/>
              </a:ext>
            </a:extLst>
          </p:cNvPr>
          <p:cNvSpPr>
            <a:spLocks noGrp="1"/>
          </p:cNvSpPr>
          <p:nvPr>
            <p:ph type="title"/>
          </p:nvPr>
        </p:nvSpPr>
        <p:spPr>
          <a:xfrm>
            <a:off x="630936" y="640080"/>
            <a:ext cx="4818888" cy="1481328"/>
          </a:xfrm>
        </p:spPr>
        <p:txBody>
          <a:bodyPr anchor="b">
            <a:normAutofit/>
          </a:bodyPr>
          <a:lstStyle/>
          <a:p>
            <a:r>
              <a:rPr lang="en-US" sz="5000"/>
              <a:t>Intelligent Tutoring Systems</a:t>
            </a:r>
          </a:p>
        </p:txBody>
      </p:sp>
      <p:sp>
        <p:nvSpPr>
          <p:cNvPr id="2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BD2AA2-57D2-FDF1-22D7-E4D0D861C41A}"/>
              </a:ext>
            </a:extLst>
          </p:cNvPr>
          <p:cNvSpPr>
            <a:spLocks noGrp="1"/>
          </p:cNvSpPr>
          <p:nvPr>
            <p:ph idx="1"/>
          </p:nvPr>
        </p:nvSpPr>
        <p:spPr>
          <a:xfrm>
            <a:off x="630936" y="2660904"/>
            <a:ext cx="4818888" cy="3547872"/>
          </a:xfrm>
        </p:spPr>
        <p:txBody>
          <a:bodyPr anchor="t">
            <a:normAutofit/>
          </a:bodyPr>
          <a:lstStyle/>
          <a:p>
            <a:r>
              <a:rPr lang="en-US" sz="2000"/>
              <a:t>AI systems that personalize instruction for each learner</a:t>
            </a:r>
          </a:p>
          <a:p>
            <a:r>
              <a:rPr lang="en-US" sz="2000"/>
              <a:t>Track student knowledge and learning progress</a:t>
            </a:r>
          </a:p>
          <a:p>
            <a:r>
              <a:rPr lang="en-US" sz="2000"/>
              <a:t>Adapt problem selection and feedback</a:t>
            </a:r>
          </a:p>
          <a:p>
            <a:r>
              <a:rPr lang="en-US" sz="2000"/>
              <a:t>Used in math , science , and online educational platforms</a:t>
            </a:r>
          </a:p>
          <a:p>
            <a:r>
              <a:rPr lang="en-US" sz="2000"/>
              <a:t>Goal: Maximize learning efficiency and engagement</a:t>
            </a:r>
          </a:p>
        </p:txBody>
      </p:sp>
      <p:pic>
        <p:nvPicPr>
          <p:cNvPr id="11" name="Picture 10" descr="A diagram of a student model&#10;&#10;AI-generated content may be incorrect.">
            <a:extLst>
              <a:ext uri="{FF2B5EF4-FFF2-40B4-BE49-F238E27FC236}">
                <a16:creationId xmlns:a16="http://schemas.microsoft.com/office/drawing/2014/main" id="{C6D84073-5DFB-DBEA-EAC3-5DE174E7A98E}"/>
              </a:ext>
            </a:extLst>
          </p:cNvPr>
          <p:cNvPicPr>
            <a:picLocks noChangeAspect="1"/>
          </p:cNvPicPr>
          <p:nvPr/>
        </p:nvPicPr>
        <p:blipFill>
          <a:blip r:embed="rId3"/>
          <a:stretch>
            <a:fillRect/>
          </a:stretch>
        </p:blipFill>
        <p:spPr>
          <a:xfrm>
            <a:off x="6099048" y="1593422"/>
            <a:ext cx="5458968" cy="3671155"/>
          </a:xfrm>
          <a:prstGeom prst="rect">
            <a:avLst/>
          </a:prstGeom>
        </p:spPr>
      </p:pic>
    </p:spTree>
    <p:extLst>
      <p:ext uri="{BB962C8B-B14F-4D97-AF65-F5344CB8AC3E}">
        <p14:creationId xmlns:p14="http://schemas.microsoft.com/office/powerpoint/2010/main" val="243863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A2EECB-9DC7-0F1E-91E5-BCA902CE70B6}"/>
              </a:ext>
            </a:extLst>
          </p:cNvPr>
          <p:cNvSpPr>
            <a:spLocks noGrp="1"/>
          </p:cNvSpPr>
          <p:nvPr>
            <p:ph type="title"/>
          </p:nvPr>
        </p:nvSpPr>
        <p:spPr>
          <a:xfrm>
            <a:off x="630936" y="640080"/>
            <a:ext cx="4818888" cy="1481328"/>
          </a:xfrm>
        </p:spPr>
        <p:txBody>
          <a:bodyPr anchor="b">
            <a:normAutofit/>
          </a:bodyPr>
          <a:lstStyle/>
          <a:p>
            <a:r>
              <a:rPr lang="en-US" sz="3800"/>
              <a:t>Tutoring as Sequential Decision-Making</a:t>
            </a:r>
          </a:p>
        </p:txBody>
      </p:sp>
      <p:sp>
        <p:nvSpPr>
          <p:cNvPr id="1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2336E9-3469-8558-E7D4-D608E02393FE}"/>
              </a:ext>
            </a:extLst>
          </p:cNvPr>
          <p:cNvSpPr>
            <a:spLocks noGrp="1"/>
          </p:cNvSpPr>
          <p:nvPr>
            <p:ph idx="1"/>
          </p:nvPr>
        </p:nvSpPr>
        <p:spPr>
          <a:xfrm>
            <a:off x="630936" y="2660904"/>
            <a:ext cx="4818888" cy="3547872"/>
          </a:xfrm>
        </p:spPr>
        <p:txBody>
          <a:bodyPr anchor="t">
            <a:normAutofit/>
          </a:bodyPr>
          <a:lstStyle/>
          <a:p>
            <a:r>
              <a:rPr lang="en-US" sz="1700" dirty="0"/>
              <a:t>Each Tutoring decision affects future learning</a:t>
            </a:r>
          </a:p>
          <a:p>
            <a:r>
              <a:rPr lang="en-US" sz="1700" dirty="0"/>
              <a:t>Immediate correctness ≠ long term mastery</a:t>
            </a:r>
          </a:p>
          <a:p>
            <a:r>
              <a:rPr lang="en-US" sz="1700" dirty="0"/>
              <a:t>Need to balance</a:t>
            </a:r>
          </a:p>
          <a:p>
            <a:pPr>
              <a:buFont typeface="Wingdings" pitchFamily="2" charset="2"/>
              <a:buChar char="ü"/>
            </a:pPr>
            <a:r>
              <a:rPr lang="en-US" sz="1700" dirty="0"/>
              <a:t>Skill coverage</a:t>
            </a:r>
          </a:p>
          <a:p>
            <a:pPr>
              <a:buFont typeface="Wingdings" pitchFamily="2" charset="2"/>
              <a:buChar char="ü"/>
            </a:pPr>
            <a:r>
              <a:rPr lang="en-US" sz="1700" dirty="0"/>
              <a:t>Difficulty progression</a:t>
            </a:r>
          </a:p>
          <a:p>
            <a:pPr>
              <a:buFont typeface="Wingdings" pitchFamily="2" charset="2"/>
              <a:buChar char="ü"/>
            </a:pPr>
            <a:r>
              <a:rPr lang="en-US" sz="1700" dirty="0"/>
              <a:t>Hint usage</a:t>
            </a:r>
          </a:p>
          <a:p>
            <a:pPr>
              <a:buFont typeface="Wingdings" pitchFamily="2" charset="2"/>
              <a:buChar char="ü"/>
            </a:pPr>
            <a:r>
              <a:rPr lang="en-US" sz="1700" dirty="0"/>
              <a:t>Engagement</a:t>
            </a:r>
          </a:p>
          <a:p>
            <a:pPr>
              <a:buFont typeface="Wingdings" pitchFamily="2" charset="2"/>
              <a:buChar char="ü"/>
            </a:pPr>
            <a:endParaRPr lang="en-US" sz="1700" dirty="0"/>
          </a:p>
          <a:p>
            <a:pPr marL="0" indent="0">
              <a:buNone/>
            </a:pPr>
            <a:r>
              <a:rPr lang="en-US" sz="1700" b="1" dirty="0"/>
              <a:t>Tutoring can be formulated as a Markov     Decision Process</a:t>
            </a:r>
          </a:p>
          <a:p>
            <a:pPr marL="0" indent="0">
              <a:buNone/>
            </a:pPr>
            <a:endParaRPr lang="en-US" sz="1700" dirty="0"/>
          </a:p>
          <a:p>
            <a:pPr marL="0" indent="0">
              <a:buNone/>
            </a:pPr>
            <a:endParaRPr lang="en-US" sz="1700" dirty="0"/>
          </a:p>
        </p:txBody>
      </p:sp>
      <p:pic>
        <p:nvPicPr>
          <p:cNvPr id="6" name="Picture 5" descr="A diagram of a flowchart&#10;&#10;AI-generated content may be incorrect.">
            <a:extLst>
              <a:ext uri="{FF2B5EF4-FFF2-40B4-BE49-F238E27FC236}">
                <a16:creationId xmlns:a16="http://schemas.microsoft.com/office/drawing/2014/main" id="{F1A685FC-2377-9A65-1306-CCF95078E7B2}"/>
              </a:ext>
            </a:extLst>
          </p:cNvPr>
          <p:cNvPicPr>
            <a:picLocks noChangeAspect="1"/>
          </p:cNvPicPr>
          <p:nvPr/>
        </p:nvPicPr>
        <p:blipFill>
          <a:blip r:embed="rId3"/>
          <a:stretch>
            <a:fillRect/>
          </a:stretch>
        </p:blipFill>
        <p:spPr>
          <a:xfrm>
            <a:off x="7517740" y="640080"/>
            <a:ext cx="2621584" cy="5577840"/>
          </a:xfrm>
          <a:prstGeom prst="rect">
            <a:avLst/>
          </a:prstGeom>
        </p:spPr>
      </p:pic>
    </p:spTree>
    <p:extLst>
      <p:ext uri="{BB962C8B-B14F-4D97-AF65-F5344CB8AC3E}">
        <p14:creationId xmlns:p14="http://schemas.microsoft.com/office/powerpoint/2010/main" val="3220944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FF7098-F0C6-55A0-F3B8-B8E38E900DCE}"/>
              </a:ext>
            </a:extLst>
          </p:cNvPr>
          <p:cNvSpPr>
            <a:spLocks noGrp="1"/>
          </p:cNvSpPr>
          <p:nvPr>
            <p:ph type="title"/>
          </p:nvPr>
        </p:nvSpPr>
        <p:spPr>
          <a:xfrm>
            <a:off x="838200" y="365125"/>
            <a:ext cx="10515600" cy="1325563"/>
          </a:xfrm>
        </p:spPr>
        <p:txBody>
          <a:bodyPr>
            <a:normAutofit/>
          </a:bodyPr>
          <a:lstStyle/>
          <a:p>
            <a:r>
              <a:rPr lang="en-US" sz="5400"/>
              <a:t>Literature Review</a:t>
            </a:r>
          </a:p>
        </p:txBody>
      </p:sp>
      <p:sp>
        <p:nvSpPr>
          <p:cNvPr id="1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E3057EFD-A65C-3028-44B4-DE1D777E7026}"/>
              </a:ext>
            </a:extLst>
          </p:cNvPr>
          <p:cNvGraphicFramePr>
            <a:graphicFrameLocks noGrp="1"/>
          </p:cNvGraphicFramePr>
          <p:nvPr>
            <p:ph idx="1"/>
            <p:extLst>
              <p:ext uri="{D42A27DB-BD31-4B8C-83A1-F6EECF244321}">
                <p14:modId xmlns:p14="http://schemas.microsoft.com/office/powerpoint/2010/main" val="2838027648"/>
              </p:ext>
            </p:extLst>
          </p:nvPr>
        </p:nvGraphicFramePr>
        <p:xfrm>
          <a:off x="838200" y="2323088"/>
          <a:ext cx="10515601" cy="3758874"/>
        </p:xfrm>
        <a:graphic>
          <a:graphicData uri="http://schemas.openxmlformats.org/drawingml/2006/table">
            <a:tbl>
              <a:tblPr firstRow="1" bandRow="1">
                <a:tableStyleId>{5C22544A-7EE6-4342-B048-85BDC9FD1C3A}</a:tableStyleId>
              </a:tblPr>
              <a:tblGrid>
                <a:gridCol w="2546360">
                  <a:extLst>
                    <a:ext uri="{9D8B030D-6E8A-4147-A177-3AD203B41FA5}">
                      <a16:colId xmlns:a16="http://schemas.microsoft.com/office/drawing/2014/main" val="1848270909"/>
                    </a:ext>
                  </a:extLst>
                </a:gridCol>
                <a:gridCol w="2195565">
                  <a:extLst>
                    <a:ext uri="{9D8B030D-6E8A-4147-A177-3AD203B41FA5}">
                      <a16:colId xmlns:a16="http://schemas.microsoft.com/office/drawing/2014/main" val="2187924213"/>
                    </a:ext>
                  </a:extLst>
                </a:gridCol>
                <a:gridCol w="2205883">
                  <a:extLst>
                    <a:ext uri="{9D8B030D-6E8A-4147-A177-3AD203B41FA5}">
                      <a16:colId xmlns:a16="http://schemas.microsoft.com/office/drawing/2014/main" val="1885584353"/>
                    </a:ext>
                  </a:extLst>
                </a:gridCol>
                <a:gridCol w="3567793">
                  <a:extLst>
                    <a:ext uri="{9D8B030D-6E8A-4147-A177-3AD203B41FA5}">
                      <a16:colId xmlns:a16="http://schemas.microsoft.com/office/drawing/2014/main" val="354200500"/>
                    </a:ext>
                  </a:extLst>
                </a:gridCol>
              </a:tblGrid>
              <a:tr h="326859">
                <a:tc>
                  <a:txBody>
                    <a:bodyPr/>
                    <a:lstStyle/>
                    <a:p>
                      <a:r>
                        <a:rPr lang="en-US" sz="1500"/>
                        <a:t>Paper</a:t>
                      </a:r>
                    </a:p>
                  </a:txBody>
                  <a:tcPr marL="74286" marR="74286" marT="37143" marB="37143"/>
                </a:tc>
                <a:tc>
                  <a:txBody>
                    <a:bodyPr/>
                    <a:lstStyle/>
                    <a:p>
                      <a:r>
                        <a:rPr lang="en-US" sz="1500"/>
                        <a:t>Problem Addressed</a:t>
                      </a:r>
                    </a:p>
                  </a:txBody>
                  <a:tcPr marL="74286" marR="74286" marT="37143" marB="37143"/>
                </a:tc>
                <a:tc>
                  <a:txBody>
                    <a:bodyPr/>
                    <a:lstStyle/>
                    <a:p>
                      <a:r>
                        <a:rPr lang="en-US" sz="1500"/>
                        <a:t>Method</a:t>
                      </a:r>
                    </a:p>
                  </a:txBody>
                  <a:tcPr marL="74286" marR="74286" marT="37143" marB="37143"/>
                </a:tc>
                <a:tc>
                  <a:txBody>
                    <a:bodyPr/>
                    <a:lstStyle/>
                    <a:p>
                      <a:r>
                        <a:rPr lang="en-US" sz="1500"/>
                        <a:t>Key Contribution</a:t>
                      </a:r>
                    </a:p>
                  </a:txBody>
                  <a:tcPr marL="74286" marR="74286" marT="37143" marB="37143"/>
                </a:tc>
                <a:extLst>
                  <a:ext uri="{0D108BD9-81ED-4DB2-BD59-A6C34878D82A}">
                    <a16:rowId xmlns:a16="http://schemas.microsoft.com/office/drawing/2014/main" val="1742038902"/>
                  </a:ext>
                </a:extLst>
              </a:tr>
              <a:tr h="995433">
                <a:tc>
                  <a:txBody>
                    <a:bodyPr/>
                    <a:lstStyle/>
                    <a:p>
                      <a:r>
                        <a:rPr lang="en-US" sz="1500" dirty="0"/>
                        <a:t>Towards Goal-oriented Intelligent Tutoring Systems in Online Education [1]</a:t>
                      </a:r>
                    </a:p>
                  </a:txBody>
                  <a:tcPr marL="74286" marR="74286" marT="37143" marB="37143"/>
                </a:tc>
                <a:tc>
                  <a:txBody>
                    <a:bodyPr/>
                    <a:lstStyle/>
                    <a:p>
                      <a:r>
                        <a:rPr lang="en-US" sz="1300"/>
                        <a:t>Traditional tutors select exercises greedily without explicit learning goals</a:t>
                      </a:r>
                    </a:p>
                  </a:txBody>
                  <a:tcPr marL="74286" marR="74286" marT="37143" marB="37143"/>
                </a:tc>
                <a:tc>
                  <a:txBody>
                    <a:bodyPr/>
                    <a:lstStyle/>
                    <a:p>
                      <a:r>
                        <a:rPr lang="en-US" sz="1500"/>
                        <a:t>Graph-based RL with cognitive prerequisite modeling</a:t>
                      </a:r>
                    </a:p>
                  </a:txBody>
                  <a:tcPr marL="74286" marR="74286" marT="37143" marB="37143"/>
                </a:tc>
                <a:tc>
                  <a:txBody>
                    <a:bodyPr/>
                    <a:lstStyle/>
                    <a:p>
                      <a:r>
                        <a:rPr lang="en-US" sz="1500"/>
                        <a:t>Introduces goal-driven tutoring where the agent learns when to teach vs assess, using prerequisite graphs to structure long-horizon learning plans</a:t>
                      </a:r>
                    </a:p>
                  </a:txBody>
                  <a:tcPr marL="74286" marR="74286" marT="37143" marB="37143"/>
                </a:tc>
                <a:extLst>
                  <a:ext uri="{0D108BD9-81ED-4DB2-BD59-A6C34878D82A}">
                    <a16:rowId xmlns:a16="http://schemas.microsoft.com/office/drawing/2014/main" val="3734267598"/>
                  </a:ext>
                </a:extLst>
              </a:tr>
              <a:tr h="1218291">
                <a:tc>
                  <a:txBody>
                    <a:bodyPr/>
                    <a:lstStyle/>
                    <a:p>
                      <a:r>
                        <a:rPr lang="en-US" sz="1500" dirty="0"/>
                        <a:t>Integrating Reinforcement Learning with Dynamic Knowledge Tracing for Personalized Learning Path Optimization [2]</a:t>
                      </a:r>
                    </a:p>
                  </a:txBody>
                  <a:tcPr marL="74286" marR="74286" marT="37143" marB="37143"/>
                </a:tc>
                <a:tc>
                  <a:txBody>
                    <a:bodyPr/>
                    <a:lstStyle/>
                    <a:p>
                      <a:r>
                        <a:rPr lang="en-US" sz="1500"/>
                        <a:t>Knowledge tracing predicts mastery but does not optimize next-step decisions</a:t>
                      </a:r>
                    </a:p>
                  </a:txBody>
                  <a:tcPr marL="74286" marR="74286" marT="37143" marB="37143"/>
                </a:tc>
                <a:tc>
                  <a:txBody>
                    <a:bodyPr/>
                    <a:lstStyle/>
                    <a:p>
                      <a:r>
                        <a:rPr lang="en-US" sz="1500"/>
                        <a:t>Dynamic Knowledge Tracing combined with reward-shaped RL</a:t>
                      </a:r>
                    </a:p>
                  </a:txBody>
                  <a:tcPr marL="74286" marR="74286" marT="37143" marB="37143"/>
                </a:tc>
                <a:tc>
                  <a:txBody>
                    <a:bodyPr/>
                    <a:lstStyle/>
                    <a:p>
                      <a:r>
                        <a:rPr lang="en-US" sz="1500"/>
                        <a:t>Integrates neural student state estimation with RL sequencing to optimize personalized learning paths beyond binary correctness</a:t>
                      </a:r>
                    </a:p>
                  </a:txBody>
                  <a:tcPr marL="74286" marR="74286" marT="37143" marB="37143"/>
                </a:tc>
                <a:extLst>
                  <a:ext uri="{0D108BD9-81ED-4DB2-BD59-A6C34878D82A}">
                    <a16:rowId xmlns:a16="http://schemas.microsoft.com/office/drawing/2014/main" val="232909523"/>
                  </a:ext>
                </a:extLst>
              </a:tr>
              <a:tr h="1218291">
                <a:tc>
                  <a:txBody>
                    <a:bodyPr/>
                    <a:lstStyle/>
                    <a:p>
                      <a:r>
                        <a:rPr lang="en-US" sz="1500" dirty="0"/>
                        <a:t>Dynamic Adaptation in an Intelligent Multi-Tutoring System: A Multi-Agent Approach [3]</a:t>
                      </a:r>
                    </a:p>
                  </a:txBody>
                  <a:tcPr marL="74286" marR="74286" marT="37143" marB="37143"/>
                </a:tc>
                <a:tc>
                  <a:txBody>
                    <a:bodyPr/>
                    <a:lstStyle/>
                    <a:p>
                      <a:r>
                        <a:rPr lang="en-US" sz="1500"/>
                        <a:t>Single-agent tutors lack adaptive intervention strategies and human support integration</a:t>
                      </a:r>
                    </a:p>
                  </a:txBody>
                  <a:tcPr marL="74286" marR="74286" marT="37143" marB="37143"/>
                </a:tc>
                <a:tc>
                  <a:txBody>
                    <a:bodyPr/>
                    <a:lstStyle/>
                    <a:p>
                      <a:r>
                        <a:rPr lang="en-US" sz="1500"/>
                        <a:t>MDP-based multi-agent tutoring framework</a:t>
                      </a:r>
                    </a:p>
                  </a:txBody>
                  <a:tcPr marL="74286" marR="74286" marT="37143" marB="37143"/>
                </a:tc>
                <a:tc>
                  <a:txBody>
                    <a:bodyPr/>
                    <a:lstStyle/>
                    <a:p>
                      <a:r>
                        <a:rPr lang="en-US" sz="1500" dirty="0"/>
                        <a:t>Models intervention selection as a decision problem coordinating automated, peer, and teacher support to reduce dropout and increase engagement</a:t>
                      </a:r>
                    </a:p>
                  </a:txBody>
                  <a:tcPr marL="74286" marR="74286" marT="37143" marB="37143"/>
                </a:tc>
                <a:extLst>
                  <a:ext uri="{0D108BD9-81ED-4DB2-BD59-A6C34878D82A}">
                    <a16:rowId xmlns:a16="http://schemas.microsoft.com/office/drawing/2014/main" val="2016849832"/>
                  </a:ext>
                </a:extLst>
              </a:tr>
            </a:tbl>
          </a:graphicData>
        </a:graphic>
      </p:graphicFrame>
    </p:spTree>
    <p:extLst>
      <p:ext uri="{BB962C8B-B14F-4D97-AF65-F5344CB8AC3E}">
        <p14:creationId xmlns:p14="http://schemas.microsoft.com/office/powerpoint/2010/main" val="2364244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CE1B9E-5F9B-1F54-0D04-88D4C9F9C715}"/>
              </a:ext>
            </a:extLst>
          </p:cNvPr>
          <p:cNvSpPr>
            <a:spLocks noGrp="1"/>
          </p:cNvSpPr>
          <p:nvPr>
            <p:ph type="title"/>
          </p:nvPr>
        </p:nvSpPr>
        <p:spPr>
          <a:xfrm>
            <a:off x="838200" y="365125"/>
            <a:ext cx="10515600" cy="1325563"/>
          </a:xfrm>
        </p:spPr>
        <p:txBody>
          <a:bodyPr>
            <a:normAutofit/>
          </a:bodyPr>
          <a:lstStyle/>
          <a:p>
            <a:r>
              <a:rPr lang="en-US" sz="5400" dirty="0"/>
              <a:t>Dataset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ACA714-FEEC-1BA3-E46C-E01D9F76387D}"/>
              </a:ext>
            </a:extLst>
          </p:cNvPr>
          <p:cNvSpPr>
            <a:spLocks noGrp="1"/>
          </p:cNvSpPr>
          <p:nvPr>
            <p:ph idx="1"/>
          </p:nvPr>
        </p:nvSpPr>
        <p:spPr>
          <a:xfrm>
            <a:off x="838200" y="1929384"/>
            <a:ext cx="10515600" cy="4251960"/>
          </a:xfrm>
        </p:spPr>
        <p:txBody>
          <a:bodyPr>
            <a:normAutofit fontScale="85000" lnSpcReduction="20000"/>
          </a:bodyPr>
          <a:lstStyle/>
          <a:p>
            <a:pPr marL="0" indent="0">
              <a:buNone/>
            </a:pPr>
            <a:r>
              <a:rPr lang="en-US" sz="1600" b="1" dirty="0"/>
              <a:t>Source</a:t>
            </a:r>
          </a:p>
          <a:p>
            <a:r>
              <a:rPr lang="en-US" sz="1600" dirty="0"/>
              <a:t>Public dataset from the </a:t>
            </a:r>
            <a:r>
              <a:rPr lang="en-US" sz="1600" dirty="0" err="1"/>
              <a:t>ASSISTments</a:t>
            </a:r>
            <a:r>
              <a:rPr lang="en-US" sz="1600" dirty="0"/>
              <a:t> online tutoring system</a:t>
            </a:r>
          </a:p>
          <a:p>
            <a:r>
              <a:rPr lang="en-US" sz="1600" dirty="0"/>
              <a:t>Real student  Math algebra problem-solving sessions</a:t>
            </a:r>
          </a:p>
          <a:p>
            <a:pPr marL="0" indent="0">
              <a:buNone/>
            </a:pPr>
            <a:r>
              <a:rPr lang="en-US" sz="1600" b="1" dirty="0"/>
              <a:t>Structure</a:t>
            </a:r>
          </a:p>
          <a:p>
            <a:pPr marL="0" indent="0">
              <a:buNone/>
            </a:pPr>
            <a:r>
              <a:rPr lang="en-US" sz="1600" dirty="0"/>
              <a:t>Each row represents one student-problem interaction</a:t>
            </a:r>
          </a:p>
          <a:p>
            <a:r>
              <a:rPr lang="en-US" sz="1600" dirty="0"/>
              <a:t>Student ID</a:t>
            </a:r>
          </a:p>
          <a:p>
            <a:r>
              <a:rPr lang="en-US" sz="1600" dirty="0"/>
              <a:t>Problem/skill ID</a:t>
            </a:r>
          </a:p>
          <a:p>
            <a:r>
              <a:rPr lang="en-US" sz="1600" dirty="0"/>
              <a:t>Correctness (0/1)</a:t>
            </a:r>
          </a:p>
          <a:p>
            <a:r>
              <a:rPr lang="en-US" sz="1600" dirty="0"/>
              <a:t>Hint usage</a:t>
            </a:r>
          </a:p>
          <a:p>
            <a:r>
              <a:rPr lang="en-US" sz="1600" dirty="0"/>
              <a:t>Attempt count</a:t>
            </a:r>
          </a:p>
          <a:p>
            <a:r>
              <a:rPr lang="en-US" sz="1600" dirty="0"/>
              <a:t>Response time </a:t>
            </a:r>
          </a:p>
          <a:p>
            <a:r>
              <a:rPr lang="en-US" sz="1600" dirty="0"/>
              <a:t>Affect/confidence signals and many more</a:t>
            </a:r>
          </a:p>
          <a:p>
            <a:pPr marL="0" indent="0">
              <a:buNone/>
            </a:pPr>
            <a:r>
              <a:rPr lang="en-US" sz="1600" b="1" dirty="0"/>
              <a:t>Role in this project</a:t>
            </a:r>
          </a:p>
          <a:p>
            <a:pPr marL="0" indent="0">
              <a:buNone/>
            </a:pPr>
            <a:r>
              <a:rPr lang="en-US" sz="1600" dirty="0"/>
              <a:t>Select top-k skills for tutoring domain</a:t>
            </a:r>
          </a:p>
          <a:p>
            <a:pPr marL="0" indent="0">
              <a:buNone/>
            </a:pPr>
            <a:r>
              <a:rPr lang="en-US" sz="1600" dirty="0"/>
              <a:t>offline trajectories for Decision Transformer</a:t>
            </a:r>
          </a:p>
          <a:p>
            <a:endParaRPr lang="en-US" sz="1000" dirty="0"/>
          </a:p>
          <a:p>
            <a:pPr marL="0" indent="0">
              <a:buNone/>
            </a:pPr>
            <a:endParaRPr lang="en-US" sz="1000" dirty="0"/>
          </a:p>
        </p:txBody>
      </p:sp>
    </p:spTree>
    <p:extLst>
      <p:ext uri="{BB962C8B-B14F-4D97-AF65-F5344CB8AC3E}">
        <p14:creationId xmlns:p14="http://schemas.microsoft.com/office/powerpoint/2010/main" val="352882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73D54C-812C-CB3D-332A-3CC53729D367}"/>
              </a:ext>
            </a:extLst>
          </p:cNvPr>
          <p:cNvSpPr>
            <a:spLocks noGrp="1"/>
          </p:cNvSpPr>
          <p:nvPr>
            <p:ph type="title"/>
          </p:nvPr>
        </p:nvSpPr>
        <p:spPr>
          <a:xfrm>
            <a:off x="584815" y="529469"/>
            <a:ext cx="10515600" cy="1325563"/>
          </a:xfrm>
        </p:spPr>
        <p:txBody>
          <a:bodyPr>
            <a:normAutofit/>
          </a:bodyPr>
          <a:lstStyle/>
          <a:p>
            <a:r>
              <a:rPr lang="en-US" sz="5400" dirty="0"/>
              <a:t>Environment Design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F6767C-70DD-9217-12B6-961524A5AA6D}"/>
                  </a:ext>
                </a:extLst>
              </p:cNvPr>
              <p:cNvSpPr>
                <a:spLocks noGrp="1"/>
              </p:cNvSpPr>
              <p:nvPr>
                <p:ph idx="1"/>
              </p:nvPr>
            </p:nvSpPr>
            <p:spPr>
              <a:xfrm>
                <a:off x="584815" y="2044577"/>
                <a:ext cx="4745175" cy="4042921"/>
              </a:xfrm>
            </p:spPr>
            <p:txBody>
              <a:bodyPr>
                <a:normAutofit fontScale="32500" lnSpcReduction="20000"/>
              </a:bodyPr>
              <a:lstStyle/>
              <a:p>
                <a:pPr marL="0" indent="0">
                  <a:buNone/>
                </a:pPr>
                <a:r>
                  <a:rPr lang="en-US" sz="4800" b="1" dirty="0"/>
                  <a:t>Student Model</a:t>
                </a:r>
              </a:p>
              <a:p>
                <a:r>
                  <a:rPr lang="en-US" sz="4800" dirty="0"/>
                  <a:t>Each student has hidden mastery </a:t>
                </a:r>
                <a14:m>
                  <m:oMath xmlns:m="http://schemas.openxmlformats.org/officeDocument/2006/math">
                    <m:r>
                      <a:rPr lang="en-US" sz="4800" i="1">
                        <a:latin typeface="Cambria Math" panose="02040503050406030204" pitchFamily="18" charset="0"/>
                      </a:rPr>
                      <m:t>𝑚</m:t>
                    </m:r>
                    <m:r>
                      <a:rPr lang="en-US" sz="4800">
                        <a:latin typeface="Cambria Math" panose="02040503050406030204" pitchFamily="18" charset="0"/>
                      </a:rPr>
                      <m:t>∈</m:t>
                    </m:r>
                    <m:d>
                      <m:dPr>
                        <m:begChr m:val="["/>
                        <m:endChr m:val=","/>
                        <m:ctrlPr>
                          <a:rPr lang="ar-AE" sz="4800" i="1">
                            <a:latin typeface="Cambria Math" panose="02040503050406030204" pitchFamily="18" charset="0"/>
                          </a:rPr>
                        </m:ctrlPr>
                      </m:dPr>
                      <m:e>
                        <m:r>
                          <a:rPr lang="ar-AE" sz="4800">
                            <a:latin typeface="Cambria Math" panose="02040503050406030204" pitchFamily="18" charset="0"/>
                          </a:rPr>
                          <m:t>01</m:t>
                        </m:r>
                        <m:sSup>
                          <m:sSupPr>
                            <m:ctrlPr>
                              <a:rPr lang="ar-AE" sz="4800" i="1">
                                <a:latin typeface="Cambria Math" panose="02040503050406030204" pitchFamily="18" charset="0"/>
                              </a:rPr>
                            </m:ctrlPr>
                          </m:sSupPr>
                          <m:e>
                            <m:d>
                              <m:dPr>
                                <m:begChr m:val=""/>
                                <m:endChr m:val=""/>
                                <m:ctrlPr>
                                  <a:rPr lang="ar-AE" sz="4800" i="1">
                                    <a:latin typeface="Cambria Math" panose="02040503050406030204" pitchFamily="18" charset="0"/>
                                  </a:rPr>
                                </m:ctrlPr>
                              </m:dPr>
                              <m:e>
                                <m:r>
                                  <a:rPr lang="ar-AE" sz="4800">
                                    <a:latin typeface="Cambria Math" panose="02040503050406030204" pitchFamily="18" charset="0"/>
                                  </a:rPr>
                                  <m:t>]</m:t>
                                </m:r>
                              </m:e>
                            </m:d>
                          </m:e>
                          <m:sup>
                            <m:r>
                              <a:rPr lang="ar-AE" sz="4800" i="1">
                                <a:latin typeface="Cambria Math" panose="02040503050406030204" pitchFamily="18" charset="0"/>
                              </a:rPr>
                              <m:t>𝐾</m:t>
                            </m:r>
                          </m:sup>
                        </m:sSup>
                      </m:e>
                    </m:d>
                  </m:oMath>
                </a14:m>
                <a:r>
                  <a:rPr lang="en-US" sz="4800" dirty="0"/>
                  <a:t>over K skills</a:t>
                </a:r>
              </a:p>
              <a:p>
                <a:r>
                  <a:rPr lang="en-US" sz="4800" dirty="0"/>
                  <a:t>Correctness is probabilistic based on mastery</a:t>
                </a:r>
              </a:p>
              <a:p>
                <a:r>
                  <a:rPr lang="en-US" sz="4800" dirty="0"/>
                  <a:t>Engagement modeled via boredom and confidence states</a:t>
                </a:r>
              </a:p>
              <a:p>
                <a:pPr marL="0" indent="0">
                  <a:buNone/>
                </a:pPr>
                <a:r>
                  <a:rPr lang="en-US" sz="4800" b="1" dirty="0"/>
                  <a:t>State </a:t>
                </a:r>
                <a14:m>
                  <m:oMath xmlns:m="http://schemas.openxmlformats.org/officeDocument/2006/math">
                    <m:sSub>
                      <m:sSubPr>
                        <m:ctrlPr>
                          <a:rPr lang="ar-AE" sz="4800" b="1" i="1">
                            <a:latin typeface="Cambria Math" panose="02040503050406030204" pitchFamily="18" charset="0"/>
                          </a:rPr>
                        </m:ctrlPr>
                      </m:sSubPr>
                      <m:e>
                        <m:r>
                          <a:rPr lang="ar-AE" sz="4800" b="1" i="1">
                            <a:latin typeface="Cambria Math" panose="02040503050406030204" pitchFamily="18" charset="0"/>
                          </a:rPr>
                          <m:t>𝒔</m:t>
                        </m:r>
                      </m:e>
                      <m:sub>
                        <m:r>
                          <a:rPr lang="ar-AE" sz="4800" b="1" i="1">
                            <a:latin typeface="Cambria Math" panose="02040503050406030204" pitchFamily="18" charset="0"/>
                          </a:rPr>
                          <m:t>𝒕</m:t>
                        </m:r>
                      </m:sub>
                    </m:sSub>
                  </m:oMath>
                </a14:m>
                <a:endParaRPr lang="en-AU" sz="4800" b="1" dirty="0"/>
              </a:p>
              <a:p>
                <a:r>
                  <a:rPr lang="en-AU" sz="4800" dirty="0"/>
                  <a:t>Mastery vector over K skills</a:t>
                </a:r>
              </a:p>
              <a:p>
                <a:r>
                  <a:rPr lang="en-AU" sz="4800" dirty="0"/>
                  <a:t>Last-k correctness history</a:t>
                </a:r>
              </a:p>
              <a:p>
                <a:r>
                  <a:rPr lang="en-AU" sz="4800" dirty="0"/>
                  <a:t>Engagement signals( boredom, confidence)</a:t>
                </a:r>
              </a:p>
              <a:p>
                <a:pPr marL="0" indent="0">
                  <a:buNone/>
                </a:pPr>
                <a:r>
                  <a:rPr lang="en-US" sz="4800" b="1" dirty="0"/>
                  <a:t>Action </a:t>
                </a:r>
                <a14:m>
                  <m:oMath xmlns:m="http://schemas.openxmlformats.org/officeDocument/2006/math">
                    <m:sSub>
                      <m:sSubPr>
                        <m:ctrlPr>
                          <a:rPr lang="ar-AE" sz="4800" b="1" i="1">
                            <a:latin typeface="Cambria Math" panose="02040503050406030204" pitchFamily="18" charset="0"/>
                          </a:rPr>
                        </m:ctrlPr>
                      </m:sSubPr>
                      <m:e>
                        <m:r>
                          <a:rPr lang="ar-AE" sz="4800" b="1" i="1">
                            <a:latin typeface="Cambria Math" panose="02040503050406030204" pitchFamily="18" charset="0"/>
                          </a:rPr>
                          <m:t>𝒂</m:t>
                        </m:r>
                      </m:e>
                      <m:sub>
                        <m:r>
                          <a:rPr lang="ar-AE" sz="4800" b="1" i="1">
                            <a:latin typeface="Cambria Math" panose="02040503050406030204" pitchFamily="18" charset="0"/>
                          </a:rPr>
                          <m:t>𝒕</m:t>
                        </m:r>
                      </m:sub>
                    </m:sSub>
                  </m:oMath>
                </a14:m>
                <a:endParaRPr lang="en-AU" sz="4800" b="1" dirty="0"/>
              </a:p>
              <a:p>
                <a:r>
                  <a:rPr lang="en-AU" sz="4800" dirty="0"/>
                  <a:t>Choose skill </a:t>
                </a:r>
                <a:r>
                  <a:rPr lang="en-AU" sz="4800" dirty="0" err="1"/>
                  <a:t>i</a:t>
                </a:r>
                <a:r>
                  <a:rPr lang="en-AU" sz="4800" dirty="0"/>
                  <a:t> </a:t>
                </a:r>
                <a:r>
                  <a:rPr lang="en-US" sz="4800" dirty="0"/>
                  <a:t>∈ {1…K}</a:t>
                </a:r>
              </a:p>
              <a:p>
                <a:r>
                  <a:rPr lang="en-US" sz="4800" dirty="0"/>
                  <a:t>Hint/no-hint mode</a:t>
                </a:r>
              </a:p>
              <a:p>
                <a:r>
                  <a:rPr lang="en-US" sz="4800" dirty="0"/>
                  <a:t>Total actions=k*2</a:t>
                </a:r>
              </a:p>
              <a:p>
                <a:pPr marL="0" indent="0">
                  <a:buNone/>
                </a:pPr>
                <a:endParaRPr lang="en-US" sz="600" dirty="0"/>
              </a:p>
              <a:p>
                <a:pPr marL="0" indent="0">
                  <a:buNone/>
                </a:pPr>
                <a:endParaRPr lang="en-AU" sz="600" dirty="0"/>
              </a:p>
              <a:p>
                <a:pPr marL="0" indent="0">
                  <a:buNone/>
                </a:pPr>
                <a:endParaRPr lang="ar-AE" sz="600" b="1" dirty="0"/>
              </a:p>
              <a:p>
                <a:pPr marL="0" indent="0">
                  <a:buNone/>
                </a:pPr>
                <a:endParaRPr lang="en-US" sz="600" dirty="0"/>
              </a:p>
            </p:txBody>
          </p:sp>
        </mc:Choice>
        <mc:Fallback xmlns="">
          <p:sp>
            <p:nvSpPr>
              <p:cNvPr id="3" name="Content Placeholder 2">
                <a:extLst>
                  <a:ext uri="{FF2B5EF4-FFF2-40B4-BE49-F238E27FC236}">
                    <a16:creationId xmlns:a16="http://schemas.microsoft.com/office/drawing/2014/main" id="{C0F6767C-70DD-9217-12B6-961524A5AA6D}"/>
                  </a:ext>
                </a:extLst>
              </p:cNvPr>
              <p:cNvSpPr>
                <a:spLocks noGrp="1" noRot="1" noChangeAspect="1" noMove="1" noResize="1" noEditPoints="1" noAdjustHandles="1" noChangeArrowheads="1" noChangeShapeType="1" noTextEdit="1"/>
              </p:cNvSpPr>
              <p:nvPr>
                <p:ph idx="1"/>
              </p:nvPr>
            </p:nvSpPr>
            <p:spPr>
              <a:xfrm>
                <a:off x="584815" y="2044577"/>
                <a:ext cx="4745175" cy="4042921"/>
              </a:xfrm>
              <a:blipFill>
                <a:blip r:embed="rId3"/>
                <a:stretch>
                  <a:fillRect l="-802" t="-1875" r="-535" b="-656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58E4FF9-296F-5BBE-E12E-C09A83788BED}"/>
              </a:ext>
            </a:extLst>
          </p:cNvPr>
          <p:cNvSpPr txBox="1"/>
          <p:nvPr/>
        </p:nvSpPr>
        <p:spPr>
          <a:xfrm>
            <a:off x="6777791" y="2136338"/>
            <a:ext cx="4322624" cy="2400657"/>
          </a:xfrm>
          <a:prstGeom prst="rect">
            <a:avLst/>
          </a:prstGeom>
          <a:noFill/>
        </p:spPr>
        <p:txBody>
          <a:bodyPr wrap="square" rtlCol="0">
            <a:spAutoFit/>
          </a:bodyPr>
          <a:lstStyle/>
          <a:p>
            <a:r>
              <a:rPr lang="en-US" sz="1600" b="1" dirty="0"/>
              <a:t>Transition</a:t>
            </a:r>
          </a:p>
          <a:p>
            <a:pPr marL="285750" indent="-285750">
              <a:buFont typeface="Arial" panose="020B0604020202020204" pitchFamily="34" charset="0"/>
              <a:buChar char="•"/>
            </a:pPr>
            <a:r>
              <a:rPr lang="en-US" sz="1600" dirty="0"/>
              <a:t>Succes probability increase with mastery</a:t>
            </a:r>
          </a:p>
          <a:p>
            <a:pPr marL="285750" indent="-285750">
              <a:buFont typeface="Arial" panose="020B0604020202020204" pitchFamily="34" charset="0"/>
              <a:buChar char="•"/>
            </a:pPr>
            <a:r>
              <a:rPr lang="en-US" sz="1600" dirty="0"/>
              <a:t>Correct answers increase with mastery</a:t>
            </a:r>
          </a:p>
          <a:p>
            <a:pPr marL="285750" indent="-285750">
              <a:buFont typeface="Arial" panose="020B0604020202020204" pitchFamily="34" charset="0"/>
              <a:buChar char="•"/>
            </a:pPr>
            <a:r>
              <a:rPr lang="en-US" sz="1600" dirty="0"/>
              <a:t>Engagement updates dynamically</a:t>
            </a:r>
          </a:p>
          <a:p>
            <a:endParaRPr lang="en-US" b="1" dirty="0"/>
          </a:p>
          <a:p>
            <a:r>
              <a:rPr lang="en-US" sz="1600" b="1" dirty="0"/>
              <a:t>Reward</a:t>
            </a:r>
            <a:r>
              <a:rPr lang="en-US" sz="1600" dirty="0"/>
              <a:t> </a:t>
            </a:r>
            <a:r>
              <a:rPr lang="en-US" sz="1600" b="1" dirty="0"/>
              <a:t>rt</a:t>
            </a:r>
          </a:p>
          <a:p>
            <a:pPr marL="285750" indent="-285750">
              <a:buFont typeface="Arial" panose="020B0604020202020204" pitchFamily="34" charset="0"/>
              <a:buChar char="•"/>
            </a:pPr>
            <a:r>
              <a:rPr lang="en-US" sz="1600" dirty="0"/>
              <a:t>Correctness reward</a:t>
            </a:r>
          </a:p>
          <a:p>
            <a:pPr marL="285750" indent="-285750">
              <a:buFont typeface="Arial" panose="020B0604020202020204" pitchFamily="34" charset="0"/>
              <a:buChar char="•"/>
            </a:pPr>
            <a:r>
              <a:rPr lang="en-US" sz="1600" dirty="0"/>
              <a:t>Mastery improvement bonus</a:t>
            </a:r>
          </a:p>
          <a:p>
            <a:pPr marL="285750" indent="-285750">
              <a:buFont typeface="Arial" panose="020B0604020202020204" pitchFamily="34" charset="0"/>
              <a:buChar char="•"/>
            </a:pPr>
            <a:r>
              <a:rPr lang="en-US" sz="1600" dirty="0"/>
              <a:t>-hint and boredom penalties</a:t>
            </a:r>
          </a:p>
        </p:txBody>
      </p:sp>
    </p:spTree>
    <p:extLst>
      <p:ext uri="{BB962C8B-B14F-4D97-AF65-F5344CB8AC3E}">
        <p14:creationId xmlns:p14="http://schemas.microsoft.com/office/powerpoint/2010/main" val="3677525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FCBE2-FCCD-6325-EDBD-E5351C7990C0}"/>
              </a:ext>
            </a:extLst>
          </p:cNvPr>
          <p:cNvSpPr>
            <a:spLocks noGrp="1"/>
          </p:cNvSpPr>
          <p:nvPr>
            <p:ph type="title"/>
          </p:nvPr>
        </p:nvSpPr>
        <p:spPr>
          <a:xfrm>
            <a:off x="838200" y="365125"/>
            <a:ext cx="10515600" cy="1325563"/>
          </a:xfrm>
        </p:spPr>
        <p:txBody>
          <a:bodyPr>
            <a:normAutofit/>
          </a:bodyPr>
          <a:lstStyle/>
          <a:p>
            <a:r>
              <a:rPr lang="en-US" sz="5400"/>
              <a:t>Methods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24CEC8-AC38-D533-E915-D9B1DFCDB024}"/>
              </a:ext>
            </a:extLst>
          </p:cNvPr>
          <p:cNvSpPr>
            <a:spLocks noGrp="1"/>
          </p:cNvSpPr>
          <p:nvPr>
            <p:ph idx="1"/>
          </p:nvPr>
        </p:nvSpPr>
        <p:spPr>
          <a:xfrm>
            <a:off x="838200" y="1929384"/>
            <a:ext cx="10515600" cy="4251960"/>
          </a:xfrm>
        </p:spPr>
        <p:txBody>
          <a:bodyPr>
            <a:normAutofit/>
          </a:bodyPr>
          <a:lstStyle/>
          <a:p>
            <a:pPr marL="0" indent="0">
              <a:buNone/>
            </a:pPr>
            <a:r>
              <a:rPr lang="en-US" sz="1900" b="1"/>
              <a:t>Baselines</a:t>
            </a:r>
            <a:r>
              <a:rPr lang="en-US" sz="1900"/>
              <a:t> </a:t>
            </a:r>
          </a:p>
          <a:p>
            <a:pPr marL="0" indent="0">
              <a:buNone/>
            </a:pPr>
            <a:r>
              <a:rPr lang="en-US" sz="1900"/>
              <a:t>Random Policy</a:t>
            </a:r>
          </a:p>
          <a:p>
            <a:pPr marL="0" indent="0">
              <a:buNone/>
            </a:pPr>
            <a:r>
              <a:rPr lang="en-US" sz="1900"/>
              <a:t>Greedy Heuristics</a:t>
            </a:r>
          </a:p>
          <a:p>
            <a:pPr marL="0" indent="0">
              <a:buNone/>
            </a:pPr>
            <a:r>
              <a:rPr lang="en-US" sz="1900" b="1"/>
              <a:t>Online RL (simulator Training)</a:t>
            </a:r>
          </a:p>
          <a:p>
            <a:pPr marL="0" indent="0">
              <a:buNone/>
            </a:pPr>
            <a:r>
              <a:rPr lang="en-US" sz="1900"/>
              <a:t>Vanilla DQN</a:t>
            </a:r>
          </a:p>
          <a:p>
            <a:pPr marL="0" indent="0">
              <a:buNone/>
            </a:pPr>
            <a:r>
              <a:rPr lang="en-US" sz="1900"/>
              <a:t>Double DQN + Dueling architecture</a:t>
            </a:r>
          </a:p>
          <a:p>
            <a:pPr marL="0" indent="0">
              <a:buNone/>
            </a:pPr>
            <a:r>
              <a:rPr lang="en-US" sz="1900"/>
              <a:t>PPO (actor–critic with GAE)</a:t>
            </a:r>
          </a:p>
          <a:p>
            <a:pPr marL="0" indent="0">
              <a:buNone/>
            </a:pPr>
            <a:r>
              <a:rPr lang="en-US" sz="1900" b="1"/>
              <a:t>Offline Extension</a:t>
            </a:r>
          </a:p>
          <a:p>
            <a:pPr marL="0" indent="0">
              <a:buNone/>
            </a:pPr>
            <a:r>
              <a:rPr lang="en-US" sz="1900"/>
              <a:t>Decision Transformer</a:t>
            </a:r>
          </a:p>
          <a:p>
            <a:pPr marL="0" indent="0">
              <a:buNone/>
            </a:pPr>
            <a:r>
              <a:rPr lang="en-US" sz="1900"/>
              <a:t>Train on trajectory dataset</a:t>
            </a:r>
          </a:p>
          <a:p>
            <a:pPr marL="0" indent="0">
              <a:buNone/>
            </a:pPr>
            <a:r>
              <a:rPr lang="en-US" sz="1900"/>
              <a:t>Condition on return-to-go</a:t>
            </a:r>
          </a:p>
          <a:p>
            <a:pPr marL="0" indent="0">
              <a:buNone/>
            </a:pPr>
            <a:endParaRPr lang="en-US" sz="1900"/>
          </a:p>
          <a:p>
            <a:endParaRPr lang="en-US" sz="1900"/>
          </a:p>
        </p:txBody>
      </p:sp>
    </p:spTree>
    <p:extLst>
      <p:ext uri="{BB962C8B-B14F-4D97-AF65-F5344CB8AC3E}">
        <p14:creationId xmlns:p14="http://schemas.microsoft.com/office/powerpoint/2010/main" val="405804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B8899-7BC5-BA25-26BA-0802EB4DBE79}"/>
              </a:ext>
            </a:extLst>
          </p:cNvPr>
          <p:cNvSpPr>
            <a:spLocks noGrp="1"/>
          </p:cNvSpPr>
          <p:nvPr>
            <p:ph type="title"/>
          </p:nvPr>
        </p:nvSpPr>
        <p:spPr>
          <a:xfrm>
            <a:off x="838200" y="365125"/>
            <a:ext cx="10515600" cy="1325563"/>
          </a:xfrm>
        </p:spPr>
        <p:txBody>
          <a:bodyPr>
            <a:normAutofit/>
          </a:bodyPr>
          <a:lstStyle/>
          <a:p>
            <a:r>
              <a:rPr lang="en-US" sz="5400"/>
              <a:t>Evaluation Metrics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4D08FA-7D6A-0D82-E851-5F5342CADC62}"/>
              </a:ext>
            </a:extLst>
          </p:cNvPr>
          <p:cNvSpPr>
            <a:spLocks noGrp="1"/>
          </p:cNvSpPr>
          <p:nvPr>
            <p:ph idx="1"/>
          </p:nvPr>
        </p:nvSpPr>
        <p:spPr>
          <a:xfrm>
            <a:off x="838200" y="1929384"/>
            <a:ext cx="10515600" cy="4251960"/>
          </a:xfrm>
        </p:spPr>
        <p:txBody>
          <a:bodyPr>
            <a:normAutofit/>
          </a:bodyPr>
          <a:lstStyle/>
          <a:p>
            <a:r>
              <a:rPr lang="en-US" sz="1500" b="1"/>
              <a:t>Episode Total Reward</a:t>
            </a:r>
          </a:p>
          <a:p>
            <a:pPr marL="0" indent="0">
              <a:buNone/>
            </a:pPr>
            <a:r>
              <a:rPr lang="en-US" sz="1500"/>
              <a:t>      Overall teaching quality measured by the environment’s reward signal, combining correctness, learning progress, fairness, and engagement</a:t>
            </a:r>
          </a:p>
          <a:p>
            <a:r>
              <a:rPr lang="en-US" sz="1500" b="1"/>
              <a:t>Accuracy (Correctness Rate)</a:t>
            </a:r>
          </a:p>
          <a:p>
            <a:pPr marL="0" indent="0">
              <a:buNone/>
            </a:pPr>
            <a:r>
              <a:rPr lang="en-US" sz="1500"/>
              <a:t>Percentage of questions answered correctly within an episode</a:t>
            </a:r>
          </a:p>
          <a:p>
            <a:r>
              <a:rPr lang="en-US" sz="1500" b="1"/>
              <a:t>Final Mean Mastery</a:t>
            </a:r>
          </a:p>
          <a:p>
            <a:pPr marL="0" indent="0">
              <a:buNone/>
            </a:pPr>
            <a:r>
              <a:rPr lang="en-US" sz="1500"/>
              <a:t>Average skill mastery at the end of an episode, representing overall learning progress</a:t>
            </a:r>
          </a:p>
          <a:p>
            <a:r>
              <a:rPr lang="en-US" sz="1500" b="1"/>
              <a:t>Final Minimum Mastery</a:t>
            </a:r>
          </a:p>
          <a:p>
            <a:pPr marL="0" indent="0">
              <a:buNone/>
            </a:pPr>
            <a:r>
              <a:rPr lang="en-US" sz="1500"/>
              <a:t>Mastery level of the weakest skill at episode end, measuring fairness across skills</a:t>
            </a:r>
          </a:p>
          <a:p>
            <a:r>
              <a:rPr lang="en-US" sz="1500" b="1"/>
              <a:t>Skill Coverage Entropy</a:t>
            </a:r>
          </a:p>
          <a:p>
            <a:pPr marL="0" indent="0">
              <a:buNone/>
            </a:pPr>
            <a:r>
              <a:rPr lang="en-US" sz="1500"/>
              <a:t>How evenly the tutor teaches different skills; higher values mean more balanced curriculum coverage</a:t>
            </a:r>
          </a:p>
          <a:p>
            <a:r>
              <a:rPr lang="en-US" sz="1500" b="1"/>
              <a:t>Hint Usage Rate</a:t>
            </a:r>
          </a:p>
          <a:p>
            <a:pPr marL="0" indent="0">
              <a:buNone/>
            </a:pPr>
            <a:r>
              <a:rPr lang="en-US" sz="1500"/>
              <a:t>How often the tutor provides hints during an episode</a:t>
            </a:r>
            <a:endParaRPr lang="en-US" sz="1500" b="1"/>
          </a:p>
        </p:txBody>
      </p:sp>
    </p:spTree>
    <p:extLst>
      <p:ext uri="{BB962C8B-B14F-4D97-AF65-F5344CB8AC3E}">
        <p14:creationId xmlns:p14="http://schemas.microsoft.com/office/powerpoint/2010/main" val="1858538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F02EF7-E0D7-7CE3-2E68-35771A0125C0}"/>
              </a:ext>
            </a:extLst>
          </p:cNvPr>
          <p:cNvSpPr>
            <a:spLocks noGrp="1"/>
          </p:cNvSpPr>
          <p:nvPr>
            <p:ph type="title"/>
          </p:nvPr>
        </p:nvSpPr>
        <p:spPr>
          <a:xfrm>
            <a:off x="838200" y="365125"/>
            <a:ext cx="10515600" cy="1325563"/>
          </a:xfrm>
        </p:spPr>
        <p:txBody>
          <a:bodyPr>
            <a:normAutofit/>
          </a:bodyPr>
          <a:lstStyle/>
          <a:p>
            <a:r>
              <a:rPr lang="en-US" sz="5400"/>
              <a:t>Project Timeline</a:t>
            </a:r>
          </a:p>
        </p:txBody>
      </p:sp>
      <p:sp>
        <p:nvSpPr>
          <p:cNvPr id="1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4C2A3D79-48D9-E803-03D4-7B6EF6FF74FD}"/>
              </a:ext>
            </a:extLst>
          </p:cNvPr>
          <p:cNvGraphicFramePr>
            <a:graphicFrameLocks noGrp="1"/>
          </p:cNvGraphicFramePr>
          <p:nvPr>
            <p:ph idx="1"/>
            <p:extLst>
              <p:ext uri="{D42A27DB-BD31-4B8C-83A1-F6EECF244321}">
                <p14:modId xmlns:p14="http://schemas.microsoft.com/office/powerpoint/2010/main" val="2374321125"/>
              </p:ext>
            </p:extLst>
          </p:nvPr>
        </p:nvGraphicFramePr>
        <p:xfrm>
          <a:off x="561474" y="2250127"/>
          <a:ext cx="10515601" cy="3616038"/>
        </p:xfrm>
        <a:graphic>
          <a:graphicData uri="http://schemas.openxmlformats.org/drawingml/2006/table">
            <a:tbl>
              <a:tblPr/>
              <a:tblGrid>
                <a:gridCol w="2721822">
                  <a:extLst>
                    <a:ext uri="{9D8B030D-6E8A-4147-A177-3AD203B41FA5}">
                      <a16:colId xmlns:a16="http://schemas.microsoft.com/office/drawing/2014/main" val="2427537537"/>
                    </a:ext>
                  </a:extLst>
                </a:gridCol>
                <a:gridCol w="7793779">
                  <a:extLst>
                    <a:ext uri="{9D8B030D-6E8A-4147-A177-3AD203B41FA5}">
                      <a16:colId xmlns:a16="http://schemas.microsoft.com/office/drawing/2014/main" val="3408886630"/>
                    </a:ext>
                  </a:extLst>
                </a:gridCol>
              </a:tblGrid>
              <a:tr h="416507">
                <a:tc>
                  <a:txBody>
                    <a:bodyPr/>
                    <a:lstStyle/>
                    <a:p>
                      <a:pPr>
                        <a:buNone/>
                      </a:pPr>
                      <a:r>
                        <a:rPr lang="en-US" sz="1900"/>
                        <a:t>Week(s)</a:t>
                      </a:r>
                    </a:p>
                  </a:txBody>
                  <a:tcPr marL="94661" marR="94661" marT="47330" marB="47330" anchor="ctr">
                    <a:lnL>
                      <a:noFill/>
                    </a:lnL>
                    <a:lnR>
                      <a:noFill/>
                    </a:lnR>
                    <a:lnT>
                      <a:noFill/>
                    </a:lnT>
                    <a:lnB>
                      <a:noFill/>
                    </a:lnB>
                    <a:noFill/>
                  </a:tcPr>
                </a:tc>
                <a:tc>
                  <a:txBody>
                    <a:bodyPr/>
                    <a:lstStyle/>
                    <a:p>
                      <a:pPr>
                        <a:buNone/>
                      </a:pPr>
                      <a:r>
                        <a:rPr lang="en-US" sz="1900"/>
                        <a:t>Tasks</a:t>
                      </a:r>
                    </a:p>
                  </a:txBody>
                  <a:tcPr marL="94661" marR="94661" marT="47330" marB="47330" anchor="ctr">
                    <a:lnL>
                      <a:noFill/>
                    </a:lnL>
                    <a:lnR>
                      <a:noFill/>
                    </a:lnR>
                    <a:lnT>
                      <a:noFill/>
                    </a:lnT>
                    <a:lnB>
                      <a:noFill/>
                    </a:lnB>
                    <a:noFill/>
                  </a:tcPr>
                </a:tc>
                <a:extLst>
                  <a:ext uri="{0D108BD9-81ED-4DB2-BD59-A6C34878D82A}">
                    <a16:rowId xmlns:a16="http://schemas.microsoft.com/office/drawing/2014/main" val="1184889724"/>
                  </a:ext>
                </a:extLst>
              </a:tr>
              <a:tr h="700489">
                <a:tc>
                  <a:txBody>
                    <a:bodyPr/>
                    <a:lstStyle/>
                    <a:p>
                      <a:pPr>
                        <a:buNone/>
                      </a:pPr>
                      <a:r>
                        <a:rPr lang="en-US" sz="1900" b="1"/>
                        <a:t>Week 1</a:t>
                      </a:r>
                      <a:endParaRPr lang="en-US" sz="1900"/>
                    </a:p>
                  </a:txBody>
                  <a:tcPr marL="94661" marR="94661" marT="47330" marB="47330" anchor="ctr">
                    <a:lnL>
                      <a:noFill/>
                    </a:lnL>
                    <a:lnR>
                      <a:noFill/>
                    </a:lnR>
                    <a:lnT>
                      <a:noFill/>
                    </a:lnT>
                    <a:lnB>
                      <a:noFill/>
                    </a:lnB>
                    <a:noFill/>
                  </a:tcPr>
                </a:tc>
                <a:tc>
                  <a:txBody>
                    <a:bodyPr/>
                    <a:lstStyle/>
                    <a:p>
                      <a:pPr>
                        <a:buNone/>
                      </a:pPr>
                      <a:r>
                        <a:rPr lang="en-US" sz="1900"/>
                        <a:t>Dataset preprocessing, skill analysis, Top-K selection, simulator calibration</a:t>
                      </a:r>
                    </a:p>
                  </a:txBody>
                  <a:tcPr marL="94661" marR="94661" marT="47330" marB="47330" anchor="ctr">
                    <a:lnL>
                      <a:noFill/>
                    </a:lnL>
                    <a:lnR>
                      <a:noFill/>
                    </a:lnR>
                    <a:lnT>
                      <a:noFill/>
                    </a:lnT>
                    <a:lnB>
                      <a:noFill/>
                    </a:lnB>
                    <a:noFill/>
                  </a:tcPr>
                </a:tc>
                <a:extLst>
                  <a:ext uri="{0D108BD9-81ED-4DB2-BD59-A6C34878D82A}">
                    <a16:rowId xmlns:a16="http://schemas.microsoft.com/office/drawing/2014/main" val="2432141896"/>
                  </a:ext>
                </a:extLst>
              </a:tr>
              <a:tr h="416507">
                <a:tc>
                  <a:txBody>
                    <a:bodyPr/>
                    <a:lstStyle/>
                    <a:p>
                      <a:pPr>
                        <a:buNone/>
                      </a:pPr>
                      <a:r>
                        <a:rPr lang="en-US" sz="1900" b="1"/>
                        <a:t>Week 2</a:t>
                      </a:r>
                      <a:endParaRPr lang="en-US" sz="1900"/>
                    </a:p>
                  </a:txBody>
                  <a:tcPr marL="94661" marR="94661" marT="47330" marB="47330" anchor="ctr">
                    <a:lnL>
                      <a:noFill/>
                    </a:lnL>
                    <a:lnR>
                      <a:noFill/>
                    </a:lnR>
                    <a:lnT>
                      <a:noFill/>
                    </a:lnT>
                    <a:lnB>
                      <a:noFill/>
                    </a:lnB>
                    <a:noFill/>
                  </a:tcPr>
                </a:tc>
                <a:tc>
                  <a:txBody>
                    <a:bodyPr/>
                    <a:lstStyle/>
                    <a:p>
                      <a:pPr>
                        <a:buNone/>
                      </a:pPr>
                      <a:r>
                        <a:rPr lang="en-US" sz="1900"/>
                        <a:t>Environment validation, baseline policies, reward sanity checks</a:t>
                      </a:r>
                    </a:p>
                  </a:txBody>
                  <a:tcPr marL="94661" marR="94661" marT="47330" marB="47330" anchor="ctr">
                    <a:lnL>
                      <a:noFill/>
                    </a:lnL>
                    <a:lnR>
                      <a:noFill/>
                    </a:lnR>
                    <a:lnT>
                      <a:noFill/>
                    </a:lnT>
                    <a:lnB>
                      <a:noFill/>
                    </a:lnB>
                    <a:noFill/>
                  </a:tcPr>
                </a:tc>
                <a:extLst>
                  <a:ext uri="{0D108BD9-81ED-4DB2-BD59-A6C34878D82A}">
                    <a16:rowId xmlns:a16="http://schemas.microsoft.com/office/drawing/2014/main" val="308797781"/>
                  </a:ext>
                </a:extLst>
              </a:tr>
              <a:tr h="416507">
                <a:tc>
                  <a:txBody>
                    <a:bodyPr/>
                    <a:lstStyle/>
                    <a:p>
                      <a:pPr>
                        <a:buNone/>
                      </a:pPr>
                      <a:r>
                        <a:rPr lang="en-US" sz="1900" b="1"/>
                        <a:t>Week 3</a:t>
                      </a:r>
                      <a:endParaRPr lang="en-US" sz="1900"/>
                    </a:p>
                  </a:txBody>
                  <a:tcPr marL="94661" marR="94661" marT="47330" marB="47330" anchor="ctr">
                    <a:lnL>
                      <a:noFill/>
                    </a:lnL>
                    <a:lnR>
                      <a:noFill/>
                    </a:lnR>
                    <a:lnT>
                      <a:noFill/>
                    </a:lnT>
                    <a:lnB>
                      <a:noFill/>
                    </a:lnB>
                    <a:noFill/>
                  </a:tcPr>
                </a:tc>
                <a:tc>
                  <a:txBody>
                    <a:bodyPr/>
                    <a:lstStyle/>
                    <a:p>
                      <a:pPr>
                        <a:buNone/>
                      </a:pPr>
                      <a:r>
                        <a:rPr lang="en-US" sz="1900"/>
                        <a:t>Train online RL agents (DQN, DDQN, PPO)</a:t>
                      </a:r>
                    </a:p>
                  </a:txBody>
                  <a:tcPr marL="94661" marR="94661" marT="47330" marB="47330" anchor="ctr">
                    <a:lnL>
                      <a:noFill/>
                    </a:lnL>
                    <a:lnR>
                      <a:noFill/>
                    </a:lnR>
                    <a:lnT>
                      <a:noFill/>
                    </a:lnT>
                    <a:lnB>
                      <a:noFill/>
                    </a:lnB>
                    <a:noFill/>
                  </a:tcPr>
                </a:tc>
                <a:extLst>
                  <a:ext uri="{0D108BD9-81ED-4DB2-BD59-A6C34878D82A}">
                    <a16:rowId xmlns:a16="http://schemas.microsoft.com/office/drawing/2014/main" val="2369078271"/>
                  </a:ext>
                </a:extLst>
              </a:tr>
              <a:tr h="416507">
                <a:tc>
                  <a:txBody>
                    <a:bodyPr/>
                    <a:lstStyle/>
                    <a:p>
                      <a:pPr>
                        <a:buNone/>
                      </a:pPr>
                      <a:r>
                        <a:rPr lang="en-US" sz="1900" b="1"/>
                        <a:t>Week 4</a:t>
                      </a:r>
                      <a:endParaRPr lang="en-US" sz="1900"/>
                    </a:p>
                  </a:txBody>
                  <a:tcPr marL="94661" marR="94661" marT="47330" marB="47330" anchor="ctr">
                    <a:lnL>
                      <a:noFill/>
                    </a:lnL>
                    <a:lnR>
                      <a:noFill/>
                    </a:lnR>
                    <a:lnT>
                      <a:noFill/>
                    </a:lnT>
                    <a:lnB>
                      <a:noFill/>
                    </a:lnB>
                    <a:noFill/>
                  </a:tcPr>
                </a:tc>
                <a:tc>
                  <a:txBody>
                    <a:bodyPr/>
                    <a:lstStyle/>
                    <a:p>
                      <a:pPr>
                        <a:buNone/>
                      </a:pPr>
                      <a:r>
                        <a:rPr lang="en-US" sz="1900" b="1"/>
                        <a:t>Midterm presentation + progress report</a:t>
                      </a:r>
                      <a:endParaRPr lang="en-US" sz="1900"/>
                    </a:p>
                  </a:txBody>
                  <a:tcPr marL="94661" marR="94661" marT="47330" marB="47330" anchor="ctr">
                    <a:lnL>
                      <a:noFill/>
                    </a:lnL>
                    <a:lnR>
                      <a:noFill/>
                    </a:lnR>
                    <a:lnT>
                      <a:noFill/>
                    </a:lnT>
                    <a:lnB>
                      <a:noFill/>
                    </a:lnB>
                    <a:noFill/>
                  </a:tcPr>
                </a:tc>
                <a:extLst>
                  <a:ext uri="{0D108BD9-81ED-4DB2-BD59-A6C34878D82A}">
                    <a16:rowId xmlns:a16="http://schemas.microsoft.com/office/drawing/2014/main" val="2118690490"/>
                  </a:ext>
                </a:extLst>
              </a:tr>
              <a:tr h="416507">
                <a:tc>
                  <a:txBody>
                    <a:bodyPr/>
                    <a:lstStyle/>
                    <a:p>
                      <a:pPr>
                        <a:buNone/>
                      </a:pPr>
                      <a:r>
                        <a:rPr lang="en-US" sz="1900" b="1"/>
                        <a:t>Week 5</a:t>
                      </a:r>
                      <a:endParaRPr lang="en-US" sz="1900"/>
                    </a:p>
                  </a:txBody>
                  <a:tcPr marL="94661" marR="94661" marT="47330" marB="47330" anchor="ctr">
                    <a:lnL>
                      <a:noFill/>
                    </a:lnL>
                    <a:lnR>
                      <a:noFill/>
                    </a:lnR>
                    <a:lnT>
                      <a:noFill/>
                    </a:lnT>
                    <a:lnB>
                      <a:noFill/>
                    </a:lnB>
                    <a:noFill/>
                  </a:tcPr>
                </a:tc>
                <a:tc>
                  <a:txBody>
                    <a:bodyPr/>
                    <a:lstStyle/>
                    <a:p>
                      <a:pPr>
                        <a:buNone/>
                      </a:pPr>
                      <a:r>
                        <a:rPr lang="en-US" sz="1900"/>
                        <a:t>RL evaluation, ablation studies, metric analysis</a:t>
                      </a:r>
                    </a:p>
                  </a:txBody>
                  <a:tcPr marL="94661" marR="94661" marT="47330" marB="47330" anchor="ctr">
                    <a:lnL>
                      <a:noFill/>
                    </a:lnL>
                    <a:lnR>
                      <a:noFill/>
                    </a:lnR>
                    <a:lnT>
                      <a:noFill/>
                    </a:lnT>
                    <a:lnB>
                      <a:noFill/>
                    </a:lnB>
                    <a:noFill/>
                  </a:tcPr>
                </a:tc>
                <a:extLst>
                  <a:ext uri="{0D108BD9-81ED-4DB2-BD59-A6C34878D82A}">
                    <a16:rowId xmlns:a16="http://schemas.microsoft.com/office/drawing/2014/main" val="699275576"/>
                  </a:ext>
                </a:extLst>
              </a:tr>
              <a:tr h="416507">
                <a:tc>
                  <a:txBody>
                    <a:bodyPr/>
                    <a:lstStyle/>
                    <a:p>
                      <a:pPr>
                        <a:buNone/>
                      </a:pPr>
                      <a:r>
                        <a:rPr lang="en-US" sz="1900" b="1"/>
                        <a:t>Week 6</a:t>
                      </a:r>
                      <a:endParaRPr lang="en-US" sz="1900"/>
                    </a:p>
                  </a:txBody>
                  <a:tcPr marL="94661" marR="94661" marT="47330" marB="47330" anchor="ctr">
                    <a:lnL>
                      <a:noFill/>
                    </a:lnL>
                    <a:lnR>
                      <a:noFill/>
                    </a:lnR>
                    <a:lnT>
                      <a:noFill/>
                    </a:lnT>
                    <a:lnB>
                      <a:noFill/>
                    </a:lnB>
                    <a:noFill/>
                  </a:tcPr>
                </a:tc>
                <a:tc>
                  <a:txBody>
                    <a:bodyPr/>
                    <a:lstStyle/>
                    <a:p>
                      <a:pPr>
                        <a:buNone/>
                      </a:pPr>
                      <a:r>
                        <a:rPr lang="en-US" sz="1900"/>
                        <a:t>Trajectory collection, Decision Transformer dataset construction</a:t>
                      </a:r>
                    </a:p>
                  </a:txBody>
                  <a:tcPr marL="94661" marR="94661" marT="47330" marB="47330" anchor="ctr">
                    <a:lnL>
                      <a:noFill/>
                    </a:lnL>
                    <a:lnR>
                      <a:noFill/>
                    </a:lnR>
                    <a:lnT>
                      <a:noFill/>
                    </a:lnT>
                    <a:lnB>
                      <a:noFill/>
                    </a:lnB>
                    <a:noFill/>
                  </a:tcPr>
                </a:tc>
                <a:extLst>
                  <a:ext uri="{0D108BD9-81ED-4DB2-BD59-A6C34878D82A}">
                    <a16:rowId xmlns:a16="http://schemas.microsoft.com/office/drawing/2014/main" val="1340423538"/>
                  </a:ext>
                </a:extLst>
              </a:tr>
              <a:tr h="416507">
                <a:tc>
                  <a:txBody>
                    <a:bodyPr/>
                    <a:lstStyle/>
                    <a:p>
                      <a:pPr>
                        <a:buNone/>
                      </a:pPr>
                      <a:r>
                        <a:rPr lang="en-US" sz="1900" b="1"/>
                        <a:t>Week 7</a:t>
                      </a:r>
                      <a:endParaRPr lang="en-US" sz="1900"/>
                    </a:p>
                  </a:txBody>
                  <a:tcPr marL="94661" marR="94661" marT="47330" marB="47330" anchor="ctr">
                    <a:lnL>
                      <a:noFill/>
                    </a:lnL>
                    <a:lnR>
                      <a:noFill/>
                    </a:lnR>
                    <a:lnT>
                      <a:noFill/>
                    </a:lnT>
                    <a:lnB>
                      <a:noFill/>
                    </a:lnB>
                    <a:noFill/>
                  </a:tcPr>
                </a:tc>
                <a:tc>
                  <a:txBody>
                    <a:bodyPr/>
                    <a:lstStyle/>
                    <a:p>
                      <a:pPr>
                        <a:buNone/>
                      </a:pPr>
                      <a:r>
                        <a:rPr lang="en-US" sz="1900" dirty="0"/>
                        <a:t>Train Decision Transformer, offline comparison, final analysis</a:t>
                      </a:r>
                    </a:p>
                  </a:txBody>
                  <a:tcPr marL="94661" marR="94661" marT="47330" marB="47330" anchor="ctr">
                    <a:lnL>
                      <a:noFill/>
                    </a:lnL>
                    <a:lnR>
                      <a:noFill/>
                    </a:lnR>
                    <a:lnT>
                      <a:noFill/>
                    </a:lnT>
                    <a:lnB>
                      <a:noFill/>
                    </a:lnB>
                    <a:noFill/>
                  </a:tcPr>
                </a:tc>
                <a:extLst>
                  <a:ext uri="{0D108BD9-81ED-4DB2-BD59-A6C34878D82A}">
                    <a16:rowId xmlns:a16="http://schemas.microsoft.com/office/drawing/2014/main" val="2952288187"/>
                  </a:ext>
                </a:extLst>
              </a:tr>
            </a:tbl>
          </a:graphicData>
        </a:graphic>
      </p:graphicFrame>
    </p:spTree>
    <p:extLst>
      <p:ext uri="{BB962C8B-B14F-4D97-AF65-F5344CB8AC3E}">
        <p14:creationId xmlns:p14="http://schemas.microsoft.com/office/powerpoint/2010/main" val="739451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531A97-790B-F58D-081D-ABF6B10F3052}"/>
              </a:ext>
            </a:extLst>
          </p:cNvPr>
          <p:cNvSpPr>
            <a:spLocks noGrp="1"/>
          </p:cNvSpPr>
          <p:nvPr>
            <p:ph type="title"/>
          </p:nvPr>
        </p:nvSpPr>
        <p:spPr>
          <a:xfrm>
            <a:off x="838200" y="365125"/>
            <a:ext cx="10515600" cy="1325563"/>
          </a:xfrm>
        </p:spPr>
        <p:txBody>
          <a:bodyPr>
            <a:normAutofit/>
          </a:bodyPr>
          <a:lstStyle/>
          <a:p>
            <a:r>
              <a:rPr lang="en-US" sz="5400"/>
              <a:t>References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D9B4D0-7209-3068-E6C3-7E6B617029B5}"/>
              </a:ext>
            </a:extLst>
          </p:cNvPr>
          <p:cNvSpPr>
            <a:spLocks noGrp="1"/>
          </p:cNvSpPr>
          <p:nvPr>
            <p:ph idx="1"/>
          </p:nvPr>
        </p:nvSpPr>
        <p:spPr>
          <a:xfrm>
            <a:off x="838200" y="1929384"/>
            <a:ext cx="10515600" cy="4251960"/>
          </a:xfrm>
        </p:spPr>
        <p:txBody>
          <a:bodyPr>
            <a:normAutofit/>
          </a:bodyPr>
          <a:lstStyle/>
          <a:p>
            <a:r>
              <a:rPr lang="en-US" sz="2200" dirty="0"/>
              <a:t>Deng, Y., Ren, Z., Zhang, A., &amp; Chua, T. S. (2025). </a:t>
            </a:r>
            <a:r>
              <a:rPr lang="en-US" sz="2200" i="1" dirty="0"/>
              <a:t>Towards goal-oriented intelligent tutoring systems in online education.</a:t>
            </a:r>
            <a:r>
              <a:rPr lang="en-US" sz="2200" dirty="0"/>
              <a:t> </a:t>
            </a:r>
            <a:r>
              <a:rPr lang="en-US" sz="2200" b="1" dirty="0"/>
              <a:t>ACM Transactions on Information Systems, 43</a:t>
            </a:r>
            <a:r>
              <a:rPr lang="en-US" sz="2200" dirty="0"/>
              <a:t>(6), 1–26.</a:t>
            </a:r>
          </a:p>
          <a:p>
            <a:r>
              <a:rPr lang="en-US" sz="2200" dirty="0"/>
              <a:t>Fu, Z. (2025). </a:t>
            </a:r>
            <a:r>
              <a:rPr lang="en-US" sz="2200" i="1" dirty="0"/>
              <a:t>Integrating reinforcement learning with dynamic knowledge tracing for personalized learning path optimization.</a:t>
            </a:r>
            <a:r>
              <a:rPr lang="en-US" sz="2200" dirty="0"/>
              <a:t> </a:t>
            </a:r>
            <a:r>
              <a:rPr lang="en-US" sz="2200" b="1" dirty="0"/>
              <a:t>Scientific Reports, 15</a:t>
            </a:r>
            <a:r>
              <a:rPr lang="en-US" sz="2200" dirty="0"/>
              <a:t>(1), 40202.</a:t>
            </a:r>
          </a:p>
          <a:p>
            <a:r>
              <a:rPr lang="en-US" sz="2200" dirty="0"/>
              <a:t>Zakaria, R., </a:t>
            </a:r>
            <a:r>
              <a:rPr lang="en-US" sz="2200" dirty="0" err="1"/>
              <a:t>Hadhoum</a:t>
            </a:r>
            <a:r>
              <a:rPr lang="en-US" sz="2200" dirty="0"/>
              <a:t>, B., Mourad, E., &amp; Mustapha, M. (2025). </a:t>
            </a:r>
            <a:r>
              <a:rPr lang="en-US" sz="2200" i="1" dirty="0"/>
              <a:t>Dynamic adaptation in an intelligent multi-tutoring system: A multi-agent approach.</a:t>
            </a:r>
            <a:r>
              <a:rPr lang="en-US" sz="2200" dirty="0"/>
              <a:t> </a:t>
            </a:r>
            <a:r>
              <a:rPr lang="en-US" sz="2200" b="1" dirty="0"/>
              <a:t>IEEE Access</a:t>
            </a:r>
            <a:r>
              <a:rPr lang="en-US" sz="2200" dirty="0"/>
              <a:t>.</a:t>
            </a:r>
          </a:p>
          <a:p>
            <a:pPr marL="0" indent="0">
              <a:buNone/>
            </a:pPr>
            <a:br>
              <a:rPr lang="en-US" sz="2200" dirty="0"/>
            </a:br>
            <a:endParaRPr lang="en-US" sz="2200" dirty="0"/>
          </a:p>
          <a:p>
            <a:endParaRPr lang="en-US" sz="2200" dirty="0"/>
          </a:p>
        </p:txBody>
      </p:sp>
    </p:spTree>
    <p:extLst>
      <p:ext uri="{BB962C8B-B14F-4D97-AF65-F5344CB8AC3E}">
        <p14:creationId xmlns:p14="http://schemas.microsoft.com/office/powerpoint/2010/main" val="429263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302</TotalTime>
  <Words>1625</Words>
  <Application>Microsoft Macintosh PowerPoint</Application>
  <PresentationFormat>Widescreen</PresentationFormat>
  <Paragraphs>173</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Calibri</vt:lpstr>
      <vt:lpstr>Cambria Math</vt:lpstr>
      <vt:lpstr>Wingdings</vt:lpstr>
      <vt:lpstr>Office Theme</vt:lpstr>
      <vt:lpstr>Reinforcement Learning for Intelligent Tutoring System</vt:lpstr>
      <vt:lpstr>Agenda</vt:lpstr>
      <vt:lpstr>Problem &amp; Objective</vt:lpstr>
      <vt:lpstr>Intelligent Tutoring Systems</vt:lpstr>
      <vt:lpstr>Tutoring as Sequential Decision-Making</vt:lpstr>
      <vt:lpstr>Literature Review</vt:lpstr>
      <vt:lpstr>Dataset</vt:lpstr>
      <vt:lpstr>Environment Design</vt:lpstr>
      <vt:lpstr>Methods</vt:lpstr>
      <vt:lpstr>Evaluation Metrics</vt:lpstr>
      <vt:lpstr>Project Timeline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Abin Acharya</dc:creator>
  <cp:lastModifiedBy>Abin Acharya</cp:lastModifiedBy>
  <cp:revision>6</cp:revision>
  <dcterms:created xsi:type="dcterms:W3CDTF">2026-02-17T05:21:47Z</dcterms:created>
  <dcterms:modified xsi:type="dcterms:W3CDTF">2026-02-17T21:28:30Z</dcterms:modified>
</cp:coreProperties>
</file>