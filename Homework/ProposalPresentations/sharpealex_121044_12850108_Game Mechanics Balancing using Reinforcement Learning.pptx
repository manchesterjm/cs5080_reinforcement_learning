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0"/>
  </p:notesMasterIdLst>
  <p:sldIdLst>
    <p:sldId id="256" r:id="rId2"/>
    <p:sldId id="257" r:id="rId3"/>
    <p:sldId id="258" r:id="rId4"/>
    <p:sldId id="259" r:id="rId5"/>
    <p:sldId id="262" r:id="rId6"/>
    <p:sldId id="260"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5" autoAdjust="0"/>
    <p:restoredTop sz="94660"/>
  </p:normalViewPr>
  <p:slideViewPr>
    <p:cSldViewPr snapToGrid="0">
      <p:cViewPr varScale="1">
        <p:scale>
          <a:sx n="152" d="100"/>
          <a:sy n="152" d="100"/>
        </p:scale>
        <p:origin x="500" y="104"/>
      </p:cViewPr>
      <p:guideLst/>
    </p:cSldViewPr>
  </p:slideViewPr>
  <p:notesTextViewPr>
    <p:cViewPr>
      <p:scale>
        <a:sx n="1" d="1"/>
        <a:sy n="1" d="1"/>
      </p:scale>
      <p:origin x="0" y="-2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DC9B43-3B8C-4F46-BCAC-2A7A9448C890}" type="doc">
      <dgm:prSet loTypeId="urn:microsoft.com/office/officeart/2016/7/layout/HorizontalActionList" loCatId="List" qsTypeId="urn:microsoft.com/office/officeart/2005/8/quickstyle/simple1" qsCatId="simple" csTypeId="urn:microsoft.com/office/officeart/2005/8/colors/accent0_3" csCatId="mainScheme"/>
      <dgm:spPr/>
      <dgm:t>
        <a:bodyPr/>
        <a:lstStyle/>
        <a:p>
          <a:endParaRPr lang="en-US"/>
        </a:p>
      </dgm:t>
    </dgm:pt>
    <dgm:pt modelId="{2E30AD85-4901-44B7-BE8E-E7AD3694A8E7}">
      <dgm:prSet/>
      <dgm:spPr/>
      <dgm:t>
        <a:bodyPr/>
        <a:lstStyle/>
        <a:p>
          <a:r>
            <a:rPr lang="en-US"/>
            <a:t>Eliminate</a:t>
          </a:r>
        </a:p>
      </dgm:t>
    </dgm:pt>
    <dgm:pt modelId="{D0EAFBF9-48AB-47EA-A9B6-32332CB127BE}" type="parTrans" cxnId="{CA1F0DEB-B043-42F2-B91B-0F7F750F33BE}">
      <dgm:prSet/>
      <dgm:spPr/>
      <dgm:t>
        <a:bodyPr/>
        <a:lstStyle/>
        <a:p>
          <a:endParaRPr lang="en-US"/>
        </a:p>
      </dgm:t>
    </dgm:pt>
    <dgm:pt modelId="{593D7729-6CD0-45DB-9A8F-A72D475C0BE4}" type="sibTrans" cxnId="{CA1F0DEB-B043-42F2-B91B-0F7F750F33BE}">
      <dgm:prSet/>
      <dgm:spPr/>
      <dgm:t>
        <a:bodyPr/>
        <a:lstStyle/>
        <a:p>
          <a:endParaRPr lang="en-US"/>
        </a:p>
      </dgm:t>
    </dgm:pt>
    <dgm:pt modelId="{4A89465D-AC17-4F64-A3B9-7E26C30EFD5B}">
      <dgm:prSet/>
      <dgm:spPr/>
      <dgm:t>
        <a:bodyPr/>
        <a:lstStyle/>
        <a:p>
          <a:r>
            <a:rPr lang="en-US"/>
            <a:t>Eliminate human QA testing</a:t>
          </a:r>
        </a:p>
      </dgm:t>
    </dgm:pt>
    <dgm:pt modelId="{F62C77B6-9701-4F97-9CE9-C25E6EF06B3B}" type="parTrans" cxnId="{AEECBC44-3851-4D18-98EB-3CB7A6A53B09}">
      <dgm:prSet/>
      <dgm:spPr/>
      <dgm:t>
        <a:bodyPr/>
        <a:lstStyle/>
        <a:p>
          <a:endParaRPr lang="en-US"/>
        </a:p>
      </dgm:t>
    </dgm:pt>
    <dgm:pt modelId="{C45F6C9F-DF13-4A67-B308-676FC2106A29}" type="sibTrans" cxnId="{AEECBC44-3851-4D18-98EB-3CB7A6A53B09}">
      <dgm:prSet/>
      <dgm:spPr/>
      <dgm:t>
        <a:bodyPr/>
        <a:lstStyle/>
        <a:p>
          <a:endParaRPr lang="en-US"/>
        </a:p>
      </dgm:t>
    </dgm:pt>
    <dgm:pt modelId="{F6796C45-36B9-418A-A821-AF5958766D1B}">
      <dgm:prSet/>
      <dgm:spPr/>
      <dgm:t>
        <a:bodyPr/>
        <a:lstStyle/>
        <a:p>
          <a:r>
            <a:rPr lang="en-US"/>
            <a:t>Determine</a:t>
          </a:r>
        </a:p>
      </dgm:t>
    </dgm:pt>
    <dgm:pt modelId="{E746E134-ECCC-41D5-9B52-59CC27633222}" type="parTrans" cxnId="{80C1123D-A66A-40D7-972D-F5AD144C84A2}">
      <dgm:prSet/>
      <dgm:spPr/>
      <dgm:t>
        <a:bodyPr/>
        <a:lstStyle/>
        <a:p>
          <a:endParaRPr lang="en-US"/>
        </a:p>
      </dgm:t>
    </dgm:pt>
    <dgm:pt modelId="{15A9C5A2-22A0-4685-8293-783DB2870EEB}" type="sibTrans" cxnId="{80C1123D-A66A-40D7-972D-F5AD144C84A2}">
      <dgm:prSet/>
      <dgm:spPr/>
      <dgm:t>
        <a:bodyPr/>
        <a:lstStyle/>
        <a:p>
          <a:endParaRPr lang="en-US"/>
        </a:p>
      </dgm:t>
    </dgm:pt>
    <dgm:pt modelId="{410FEF28-A31D-465D-B241-956D816B5BC2}">
      <dgm:prSet/>
      <dgm:spPr/>
      <dgm:t>
        <a:bodyPr/>
        <a:lstStyle/>
        <a:p>
          <a:r>
            <a:rPr lang="en-US"/>
            <a:t>Completely determine final numbers</a:t>
          </a:r>
        </a:p>
      </dgm:t>
    </dgm:pt>
    <dgm:pt modelId="{77095DF0-66B2-45BE-A0AE-38533EBB435B}" type="parTrans" cxnId="{2B690889-6742-4254-98A6-6C21736E88C3}">
      <dgm:prSet/>
      <dgm:spPr/>
      <dgm:t>
        <a:bodyPr/>
        <a:lstStyle/>
        <a:p>
          <a:endParaRPr lang="en-US"/>
        </a:p>
      </dgm:t>
    </dgm:pt>
    <dgm:pt modelId="{8FCC9501-567F-4DAD-8AE0-D5EC9052B749}" type="sibTrans" cxnId="{2B690889-6742-4254-98A6-6C21736E88C3}">
      <dgm:prSet/>
      <dgm:spPr/>
      <dgm:t>
        <a:bodyPr/>
        <a:lstStyle/>
        <a:p>
          <a:endParaRPr lang="en-US"/>
        </a:p>
      </dgm:t>
    </dgm:pt>
    <dgm:pt modelId="{54F4759F-803D-4317-B09E-BA4306F0940A}">
      <dgm:prSet/>
      <dgm:spPr/>
      <dgm:t>
        <a:bodyPr/>
        <a:lstStyle/>
        <a:p>
          <a:r>
            <a:rPr lang="en-US"/>
            <a:t>Override</a:t>
          </a:r>
        </a:p>
      </dgm:t>
    </dgm:pt>
    <dgm:pt modelId="{9D0FBE61-48A9-45F4-A2B9-E4384A56442A}" type="parTrans" cxnId="{917944D6-CB72-493F-8C6E-A67BC567EDA8}">
      <dgm:prSet/>
      <dgm:spPr/>
      <dgm:t>
        <a:bodyPr/>
        <a:lstStyle/>
        <a:p>
          <a:endParaRPr lang="en-US"/>
        </a:p>
      </dgm:t>
    </dgm:pt>
    <dgm:pt modelId="{EBF911F8-C7B0-48F7-AA25-F1793EF955F1}" type="sibTrans" cxnId="{917944D6-CB72-493F-8C6E-A67BC567EDA8}">
      <dgm:prSet/>
      <dgm:spPr/>
      <dgm:t>
        <a:bodyPr/>
        <a:lstStyle/>
        <a:p>
          <a:endParaRPr lang="en-US"/>
        </a:p>
      </dgm:t>
    </dgm:pt>
    <dgm:pt modelId="{E0D9A0E9-1C76-41A1-88C0-94D3118C820C}">
      <dgm:prSet/>
      <dgm:spPr/>
      <dgm:t>
        <a:bodyPr/>
        <a:lstStyle/>
        <a:p>
          <a:r>
            <a:rPr lang="en-US"/>
            <a:t>Override “gut feelings.”</a:t>
          </a:r>
        </a:p>
      </dgm:t>
    </dgm:pt>
    <dgm:pt modelId="{3F66388E-4A58-4B91-A236-218742AA4309}" type="parTrans" cxnId="{8B3065C6-47ED-4877-8645-3D87447F4C2A}">
      <dgm:prSet/>
      <dgm:spPr/>
      <dgm:t>
        <a:bodyPr/>
        <a:lstStyle/>
        <a:p>
          <a:endParaRPr lang="en-US"/>
        </a:p>
      </dgm:t>
    </dgm:pt>
    <dgm:pt modelId="{9EC47DC0-F6B9-4301-94F9-0D135B808C7B}" type="sibTrans" cxnId="{8B3065C6-47ED-4877-8645-3D87447F4C2A}">
      <dgm:prSet/>
      <dgm:spPr/>
      <dgm:t>
        <a:bodyPr/>
        <a:lstStyle/>
        <a:p>
          <a:endParaRPr lang="en-US"/>
        </a:p>
      </dgm:t>
    </dgm:pt>
    <dgm:pt modelId="{1D406D42-F311-423B-9E71-752BBD2B27EC}" type="pres">
      <dgm:prSet presAssocID="{B8DC9B43-3B8C-4F46-BCAC-2A7A9448C890}" presName="Name0" presStyleCnt="0">
        <dgm:presLayoutVars>
          <dgm:dir/>
          <dgm:animLvl val="lvl"/>
          <dgm:resizeHandles val="exact"/>
        </dgm:presLayoutVars>
      </dgm:prSet>
      <dgm:spPr/>
    </dgm:pt>
    <dgm:pt modelId="{1782E9A5-66D9-4E78-9C85-5A63D6B0FCF4}" type="pres">
      <dgm:prSet presAssocID="{2E30AD85-4901-44B7-BE8E-E7AD3694A8E7}" presName="composite" presStyleCnt="0"/>
      <dgm:spPr/>
    </dgm:pt>
    <dgm:pt modelId="{7F24D6BE-9ED6-42F3-931E-6171821747B8}" type="pres">
      <dgm:prSet presAssocID="{2E30AD85-4901-44B7-BE8E-E7AD3694A8E7}" presName="parTx" presStyleLbl="alignNode1" presStyleIdx="0" presStyleCnt="3">
        <dgm:presLayoutVars>
          <dgm:chMax val="0"/>
          <dgm:chPref val="0"/>
        </dgm:presLayoutVars>
      </dgm:prSet>
      <dgm:spPr/>
    </dgm:pt>
    <dgm:pt modelId="{B8A2C42D-7039-4C95-998E-A77EB72C15E2}" type="pres">
      <dgm:prSet presAssocID="{2E30AD85-4901-44B7-BE8E-E7AD3694A8E7}" presName="desTx" presStyleLbl="alignAccFollowNode1" presStyleIdx="0" presStyleCnt="3">
        <dgm:presLayoutVars/>
      </dgm:prSet>
      <dgm:spPr/>
    </dgm:pt>
    <dgm:pt modelId="{6A35DE70-22E0-4CB9-BFA2-DE299CD68FD3}" type="pres">
      <dgm:prSet presAssocID="{593D7729-6CD0-45DB-9A8F-A72D475C0BE4}" presName="space" presStyleCnt="0"/>
      <dgm:spPr/>
    </dgm:pt>
    <dgm:pt modelId="{9AB79E83-7F4F-48A6-89C3-B9FB3C64F8FE}" type="pres">
      <dgm:prSet presAssocID="{F6796C45-36B9-418A-A821-AF5958766D1B}" presName="composite" presStyleCnt="0"/>
      <dgm:spPr/>
    </dgm:pt>
    <dgm:pt modelId="{ED8BEC1E-03E7-4701-B1B8-3BA9334552DE}" type="pres">
      <dgm:prSet presAssocID="{F6796C45-36B9-418A-A821-AF5958766D1B}" presName="parTx" presStyleLbl="alignNode1" presStyleIdx="1" presStyleCnt="3">
        <dgm:presLayoutVars>
          <dgm:chMax val="0"/>
          <dgm:chPref val="0"/>
        </dgm:presLayoutVars>
      </dgm:prSet>
      <dgm:spPr/>
    </dgm:pt>
    <dgm:pt modelId="{550D39EA-66BE-416C-B0FA-4535635A08B2}" type="pres">
      <dgm:prSet presAssocID="{F6796C45-36B9-418A-A821-AF5958766D1B}" presName="desTx" presStyleLbl="alignAccFollowNode1" presStyleIdx="1" presStyleCnt="3">
        <dgm:presLayoutVars/>
      </dgm:prSet>
      <dgm:spPr/>
    </dgm:pt>
    <dgm:pt modelId="{411904A6-C6DE-43E3-80F6-6CA8F7EA517E}" type="pres">
      <dgm:prSet presAssocID="{15A9C5A2-22A0-4685-8293-783DB2870EEB}" presName="space" presStyleCnt="0"/>
      <dgm:spPr/>
    </dgm:pt>
    <dgm:pt modelId="{BEA845A0-E607-4457-A68E-FAB1E7CEB3F6}" type="pres">
      <dgm:prSet presAssocID="{54F4759F-803D-4317-B09E-BA4306F0940A}" presName="composite" presStyleCnt="0"/>
      <dgm:spPr/>
    </dgm:pt>
    <dgm:pt modelId="{2322B85F-132D-4CC3-AEB3-02455E0EEDF3}" type="pres">
      <dgm:prSet presAssocID="{54F4759F-803D-4317-B09E-BA4306F0940A}" presName="parTx" presStyleLbl="alignNode1" presStyleIdx="2" presStyleCnt="3">
        <dgm:presLayoutVars>
          <dgm:chMax val="0"/>
          <dgm:chPref val="0"/>
        </dgm:presLayoutVars>
      </dgm:prSet>
      <dgm:spPr/>
    </dgm:pt>
    <dgm:pt modelId="{51FC71EB-B706-4B32-B66A-C37B20418AD4}" type="pres">
      <dgm:prSet presAssocID="{54F4759F-803D-4317-B09E-BA4306F0940A}" presName="desTx" presStyleLbl="alignAccFollowNode1" presStyleIdx="2" presStyleCnt="3">
        <dgm:presLayoutVars/>
      </dgm:prSet>
      <dgm:spPr/>
    </dgm:pt>
  </dgm:ptLst>
  <dgm:cxnLst>
    <dgm:cxn modelId="{A596AE04-9757-45EF-B4A7-AF51E93BA720}" type="presOf" srcId="{B8DC9B43-3B8C-4F46-BCAC-2A7A9448C890}" destId="{1D406D42-F311-423B-9E71-752BBD2B27EC}" srcOrd="0" destOrd="0" presId="urn:microsoft.com/office/officeart/2016/7/layout/HorizontalActionList"/>
    <dgm:cxn modelId="{19E40219-FA5D-4032-A9B6-918EF54EFE10}" type="presOf" srcId="{F6796C45-36B9-418A-A821-AF5958766D1B}" destId="{ED8BEC1E-03E7-4701-B1B8-3BA9334552DE}" srcOrd="0" destOrd="0" presId="urn:microsoft.com/office/officeart/2016/7/layout/HorizontalActionList"/>
    <dgm:cxn modelId="{80C1123D-A66A-40D7-972D-F5AD144C84A2}" srcId="{B8DC9B43-3B8C-4F46-BCAC-2A7A9448C890}" destId="{F6796C45-36B9-418A-A821-AF5958766D1B}" srcOrd="1" destOrd="0" parTransId="{E746E134-ECCC-41D5-9B52-59CC27633222}" sibTransId="{15A9C5A2-22A0-4685-8293-783DB2870EEB}"/>
    <dgm:cxn modelId="{AEECBC44-3851-4D18-98EB-3CB7A6A53B09}" srcId="{2E30AD85-4901-44B7-BE8E-E7AD3694A8E7}" destId="{4A89465D-AC17-4F64-A3B9-7E26C30EFD5B}" srcOrd="0" destOrd="0" parTransId="{F62C77B6-9701-4F97-9CE9-C25E6EF06B3B}" sibTransId="{C45F6C9F-DF13-4A67-B308-676FC2106A29}"/>
    <dgm:cxn modelId="{2BE6D274-2505-40F1-A18B-5611629D593F}" type="presOf" srcId="{410FEF28-A31D-465D-B241-956D816B5BC2}" destId="{550D39EA-66BE-416C-B0FA-4535635A08B2}" srcOrd="0" destOrd="0" presId="urn:microsoft.com/office/officeart/2016/7/layout/HorizontalActionList"/>
    <dgm:cxn modelId="{3603E778-A957-45AA-9934-8E26AEF11E37}" type="presOf" srcId="{E0D9A0E9-1C76-41A1-88C0-94D3118C820C}" destId="{51FC71EB-B706-4B32-B66A-C37B20418AD4}" srcOrd="0" destOrd="0" presId="urn:microsoft.com/office/officeart/2016/7/layout/HorizontalActionList"/>
    <dgm:cxn modelId="{2B690889-6742-4254-98A6-6C21736E88C3}" srcId="{F6796C45-36B9-418A-A821-AF5958766D1B}" destId="{410FEF28-A31D-465D-B241-956D816B5BC2}" srcOrd="0" destOrd="0" parTransId="{77095DF0-66B2-45BE-A0AE-38533EBB435B}" sibTransId="{8FCC9501-567F-4DAD-8AE0-D5EC9052B749}"/>
    <dgm:cxn modelId="{BF4D64AB-4E5F-476E-A063-57EA1CDFDE14}" type="presOf" srcId="{54F4759F-803D-4317-B09E-BA4306F0940A}" destId="{2322B85F-132D-4CC3-AEB3-02455E0EEDF3}" srcOrd="0" destOrd="0" presId="urn:microsoft.com/office/officeart/2016/7/layout/HorizontalActionList"/>
    <dgm:cxn modelId="{8B3065C6-47ED-4877-8645-3D87447F4C2A}" srcId="{54F4759F-803D-4317-B09E-BA4306F0940A}" destId="{E0D9A0E9-1C76-41A1-88C0-94D3118C820C}" srcOrd="0" destOrd="0" parTransId="{3F66388E-4A58-4B91-A236-218742AA4309}" sibTransId="{9EC47DC0-F6B9-4301-94F9-0D135B808C7B}"/>
    <dgm:cxn modelId="{FB59B9D2-210B-477D-9088-BDB96679F4D1}" type="presOf" srcId="{4A89465D-AC17-4F64-A3B9-7E26C30EFD5B}" destId="{B8A2C42D-7039-4C95-998E-A77EB72C15E2}" srcOrd="0" destOrd="0" presId="urn:microsoft.com/office/officeart/2016/7/layout/HorizontalActionList"/>
    <dgm:cxn modelId="{917944D6-CB72-493F-8C6E-A67BC567EDA8}" srcId="{B8DC9B43-3B8C-4F46-BCAC-2A7A9448C890}" destId="{54F4759F-803D-4317-B09E-BA4306F0940A}" srcOrd="2" destOrd="0" parTransId="{9D0FBE61-48A9-45F4-A2B9-E4384A56442A}" sibTransId="{EBF911F8-C7B0-48F7-AA25-F1793EF955F1}"/>
    <dgm:cxn modelId="{56671AE3-6D8C-45D6-8E84-AED94E73848F}" type="presOf" srcId="{2E30AD85-4901-44B7-BE8E-E7AD3694A8E7}" destId="{7F24D6BE-9ED6-42F3-931E-6171821747B8}" srcOrd="0" destOrd="0" presId="urn:microsoft.com/office/officeart/2016/7/layout/HorizontalActionList"/>
    <dgm:cxn modelId="{CA1F0DEB-B043-42F2-B91B-0F7F750F33BE}" srcId="{B8DC9B43-3B8C-4F46-BCAC-2A7A9448C890}" destId="{2E30AD85-4901-44B7-BE8E-E7AD3694A8E7}" srcOrd="0" destOrd="0" parTransId="{D0EAFBF9-48AB-47EA-A9B6-32332CB127BE}" sibTransId="{593D7729-6CD0-45DB-9A8F-A72D475C0BE4}"/>
    <dgm:cxn modelId="{7567B95C-4783-46F3-A850-9F0789C4A9EF}" type="presParOf" srcId="{1D406D42-F311-423B-9E71-752BBD2B27EC}" destId="{1782E9A5-66D9-4E78-9C85-5A63D6B0FCF4}" srcOrd="0" destOrd="0" presId="urn:microsoft.com/office/officeart/2016/7/layout/HorizontalActionList"/>
    <dgm:cxn modelId="{D9EB4090-C1E1-446F-AE20-D01CFE2B3037}" type="presParOf" srcId="{1782E9A5-66D9-4E78-9C85-5A63D6B0FCF4}" destId="{7F24D6BE-9ED6-42F3-931E-6171821747B8}" srcOrd="0" destOrd="0" presId="urn:microsoft.com/office/officeart/2016/7/layout/HorizontalActionList"/>
    <dgm:cxn modelId="{90D51CF6-2727-4222-908A-AD7578EABC20}" type="presParOf" srcId="{1782E9A5-66D9-4E78-9C85-5A63D6B0FCF4}" destId="{B8A2C42D-7039-4C95-998E-A77EB72C15E2}" srcOrd="1" destOrd="0" presId="urn:microsoft.com/office/officeart/2016/7/layout/HorizontalActionList"/>
    <dgm:cxn modelId="{5EEEB096-5D97-4F9F-B035-B87AEF61B767}" type="presParOf" srcId="{1D406D42-F311-423B-9E71-752BBD2B27EC}" destId="{6A35DE70-22E0-4CB9-BFA2-DE299CD68FD3}" srcOrd="1" destOrd="0" presId="urn:microsoft.com/office/officeart/2016/7/layout/HorizontalActionList"/>
    <dgm:cxn modelId="{DD0D084D-EFDC-417D-BAAD-8F89B078D332}" type="presParOf" srcId="{1D406D42-F311-423B-9E71-752BBD2B27EC}" destId="{9AB79E83-7F4F-48A6-89C3-B9FB3C64F8FE}" srcOrd="2" destOrd="0" presId="urn:microsoft.com/office/officeart/2016/7/layout/HorizontalActionList"/>
    <dgm:cxn modelId="{0224F7B8-6AE0-4A5F-B15B-1F5A880F11F6}" type="presParOf" srcId="{9AB79E83-7F4F-48A6-89C3-B9FB3C64F8FE}" destId="{ED8BEC1E-03E7-4701-B1B8-3BA9334552DE}" srcOrd="0" destOrd="0" presId="urn:microsoft.com/office/officeart/2016/7/layout/HorizontalActionList"/>
    <dgm:cxn modelId="{D0083F9D-562B-4DA5-8C0C-ACF15AC43490}" type="presParOf" srcId="{9AB79E83-7F4F-48A6-89C3-B9FB3C64F8FE}" destId="{550D39EA-66BE-416C-B0FA-4535635A08B2}" srcOrd="1" destOrd="0" presId="urn:microsoft.com/office/officeart/2016/7/layout/HorizontalActionList"/>
    <dgm:cxn modelId="{EB6CDFBA-5EA0-478B-B9FE-35D69051A475}" type="presParOf" srcId="{1D406D42-F311-423B-9E71-752BBD2B27EC}" destId="{411904A6-C6DE-43E3-80F6-6CA8F7EA517E}" srcOrd="3" destOrd="0" presId="urn:microsoft.com/office/officeart/2016/7/layout/HorizontalActionList"/>
    <dgm:cxn modelId="{B52C8712-499A-4404-AAF3-2D25AB98CE51}" type="presParOf" srcId="{1D406D42-F311-423B-9E71-752BBD2B27EC}" destId="{BEA845A0-E607-4457-A68E-FAB1E7CEB3F6}" srcOrd="4" destOrd="0" presId="urn:microsoft.com/office/officeart/2016/7/layout/HorizontalActionList"/>
    <dgm:cxn modelId="{D65E68A8-6B34-45CB-A9D3-BF7FBF37D106}" type="presParOf" srcId="{BEA845A0-E607-4457-A68E-FAB1E7CEB3F6}" destId="{2322B85F-132D-4CC3-AEB3-02455E0EEDF3}" srcOrd="0" destOrd="0" presId="urn:microsoft.com/office/officeart/2016/7/layout/HorizontalActionList"/>
    <dgm:cxn modelId="{9E61690B-5E58-4184-8F57-F711DC5CEBC4}" type="presParOf" srcId="{BEA845A0-E607-4457-A68E-FAB1E7CEB3F6}" destId="{51FC71EB-B706-4B32-B66A-C37B20418AD4}"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24D6BE-9ED6-42F3-931E-6171821747B8}">
      <dsp:nvSpPr>
        <dsp:cNvPr id="0" name=""/>
        <dsp:cNvSpPr/>
      </dsp:nvSpPr>
      <dsp:spPr>
        <a:xfrm>
          <a:off x="3179" y="1073505"/>
          <a:ext cx="1977184" cy="593155"/>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42" tIns="156242" rIns="156242" bIns="156242" numCol="1" spcCol="1270" anchor="ctr" anchorCtr="0">
          <a:noAutofit/>
        </a:bodyPr>
        <a:lstStyle/>
        <a:p>
          <a:pPr marL="0" lvl="0" indent="0" algn="ctr" defTabSz="889000">
            <a:lnSpc>
              <a:spcPct val="90000"/>
            </a:lnSpc>
            <a:spcBef>
              <a:spcPct val="0"/>
            </a:spcBef>
            <a:spcAft>
              <a:spcPct val="35000"/>
            </a:spcAft>
            <a:buNone/>
          </a:pPr>
          <a:r>
            <a:rPr lang="en-US" sz="2000" kern="1200"/>
            <a:t>Eliminate</a:t>
          </a:r>
        </a:p>
      </dsp:txBody>
      <dsp:txXfrm>
        <a:off x="3179" y="1073505"/>
        <a:ext cx="1977184" cy="593155"/>
      </dsp:txXfrm>
    </dsp:sp>
    <dsp:sp modelId="{B8A2C42D-7039-4C95-998E-A77EB72C15E2}">
      <dsp:nvSpPr>
        <dsp:cNvPr id="0" name=""/>
        <dsp:cNvSpPr/>
      </dsp:nvSpPr>
      <dsp:spPr>
        <a:xfrm>
          <a:off x="3179" y="1666660"/>
          <a:ext cx="1977184" cy="2627361"/>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5302" tIns="195302" rIns="195302" bIns="195302" numCol="1" spcCol="1270" anchor="t" anchorCtr="0">
          <a:noAutofit/>
        </a:bodyPr>
        <a:lstStyle/>
        <a:p>
          <a:pPr marL="0" lvl="0" indent="0" algn="l" defTabSz="666750">
            <a:lnSpc>
              <a:spcPct val="90000"/>
            </a:lnSpc>
            <a:spcBef>
              <a:spcPct val="0"/>
            </a:spcBef>
            <a:spcAft>
              <a:spcPct val="35000"/>
            </a:spcAft>
            <a:buNone/>
          </a:pPr>
          <a:r>
            <a:rPr lang="en-US" sz="1500" kern="1200"/>
            <a:t>Eliminate human QA testing</a:t>
          </a:r>
        </a:p>
      </dsp:txBody>
      <dsp:txXfrm>
        <a:off x="3179" y="1666660"/>
        <a:ext cx="1977184" cy="2627361"/>
      </dsp:txXfrm>
    </dsp:sp>
    <dsp:sp modelId="{ED8BEC1E-03E7-4701-B1B8-3BA9334552DE}">
      <dsp:nvSpPr>
        <dsp:cNvPr id="0" name=""/>
        <dsp:cNvSpPr/>
      </dsp:nvSpPr>
      <dsp:spPr>
        <a:xfrm>
          <a:off x="2088363" y="1073505"/>
          <a:ext cx="1977184" cy="593155"/>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42" tIns="156242" rIns="156242" bIns="156242" numCol="1" spcCol="1270" anchor="ctr" anchorCtr="0">
          <a:noAutofit/>
        </a:bodyPr>
        <a:lstStyle/>
        <a:p>
          <a:pPr marL="0" lvl="0" indent="0" algn="ctr" defTabSz="889000">
            <a:lnSpc>
              <a:spcPct val="90000"/>
            </a:lnSpc>
            <a:spcBef>
              <a:spcPct val="0"/>
            </a:spcBef>
            <a:spcAft>
              <a:spcPct val="35000"/>
            </a:spcAft>
            <a:buNone/>
          </a:pPr>
          <a:r>
            <a:rPr lang="en-US" sz="2000" kern="1200"/>
            <a:t>Determine</a:t>
          </a:r>
        </a:p>
      </dsp:txBody>
      <dsp:txXfrm>
        <a:off x="2088363" y="1073505"/>
        <a:ext cx="1977184" cy="593155"/>
      </dsp:txXfrm>
    </dsp:sp>
    <dsp:sp modelId="{550D39EA-66BE-416C-B0FA-4535635A08B2}">
      <dsp:nvSpPr>
        <dsp:cNvPr id="0" name=""/>
        <dsp:cNvSpPr/>
      </dsp:nvSpPr>
      <dsp:spPr>
        <a:xfrm>
          <a:off x="2088363" y="1666660"/>
          <a:ext cx="1977184" cy="2627361"/>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5302" tIns="195302" rIns="195302" bIns="195302" numCol="1" spcCol="1270" anchor="t" anchorCtr="0">
          <a:noAutofit/>
        </a:bodyPr>
        <a:lstStyle/>
        <a:p>
          <a:pPr marL="0" lvl="0" indent="0" algn="l" defTabSz="666750">
            <a:lnSpc>
              <a:spcPct val="90000"/>
            </a:lnSpc>
            <a:spcBef>
              <a:spcPct val="0"/>
            </a:spcBef>
            <a:spcAft>
              <a:spcPct val="35000"/>
            </a:spcAft>
            <a:buNone/>
          </a:pPr>
          <a:r>
            <a:rPr lang="en-US" sz="1500" kern="1200"/>
            <a:t>Completely determine final numbers</a:t>
          </a:r>
        </a:p>
      </dsp:txBody>
      <dsp:txXfrm>
        <a:off x="2088363" y="1666660"/>
        <a:ext cx="1977184" cy="2627361"/>
      </dsp:txXfrm>
    </dsp:sp>
    <dsp:sp modelId="{2322B85F-132D-4CC3-AEB3-02455E0EEDF3}">
      <dsp:nvSpPr>
        <dsp:cNvPr id="0" name=""/>
        <dsp:cNvSpPr/>
      </dsp:nvSpPr>
      <dsp:spPr>
        <a:xfrm>
          <a:off x="4173548" y="1073505"/>
          <a:ext cx="1977184" cy="593155"/>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42" tIns="156242" rIns="156242" bIns="156242" numCol="1" spcCol="1270" anchor="ctr" anchorCtr="0">
          <a:noAutofit/>
        </a:bodyPr>
        <a:lstStyle/>
        <a:p>
          <a:pPr marL="0" lvl="0" indent="0" algn="ctr" defTabSz="889000">
            <a:lnSpc>
              <a:spcPct val="90000"/>
            </a:lnSpc>
            <a:spcBef>
              <a:spcPct val="0"/>
            </a:spcBef>
            <a:spcAft>
              <a:spcPct val="35000"/>
            </a:spcAft>
            <a:buNone/>
          </a:pPr>
          <a:r>
            <a:rPr lang="en-US" sz="2000" kern="1200"/>
            <a:t>Override</a:t>
          </a:r>
        </a:p>
      </dsp:txBody>
      <dsp:txXfrm>
        <a:off x="4173548" y="1073505"/>
        <a:ext cx="1977184" cy="593155"/>
      </dsp:txXfrm>
    </dsp:sp>
    <dsp:sp modelId="{51FC71EB-B706-4B32-B66A-C37B20418AD4}">
      <dsp:nvSpPr>
        <dsp:cNvPr id="0" name=""/>
        <dsp:cNvSpPr/>
      </dsp:nvSpPr>
      <dsp:spPr>
        <a:xfrm>
          <a:off x="4173548" y="1666660"/>
          <a:ext cx="1977184" cy="2627361"/>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5302" tIns="195302" rIns="195302" bIns="195302" numCol="1" spcCol="1270" anchor="t" anchorCtr="0">
          <a:noAutofit/>
        </a:bodyPr>
        <a:lstStyle/>
        <a:p>
          <a:pPr marL="0" lvl="0" indent="0" algn="l" defTabSz="666750">
            <a:lnSpc>
              <a:spcPct val="90000"/>
            </a:lnSpc>
            <a:spcBef>
              <a:spcPct val="0"/>
            </a:spcBef>
            <a:spcAft>
              <a:spcPct val="35000"/>
            </a:spcAft>
            <a:buNone/>
          </a:pPr>
          <a:r>
            <a:rPr lang="en-US" sz="1500" kern="1200"/>
            <a:t>Override “gut feelings.”</a:t>
          </a:r>
        </a:p>
      </dsp:txBody>
      <dsp:txXfrm>
        <a:off x="4173548" y="1666660"/>
        <a:ext cx="1977184" cy="2627361"/>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9CDED-164C-4109-9C88-63423622DE4F}"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C5AC7E-1E68-4CE6-B179-77F21F4A8ABD}" type="slidenum">
              <a:rPr lang="en-US" smtClean="0"/>
              <a:t>‹#›</a:t>
            </a:fld>
            <a:endParaRPr lang="en-US"/>
          </a:p>
        </p:txBody>
      </p:sp>
    </p:spTree>
    <p:extLst>
      <p:ext uri="{BB962C8B-B14F-4D97-AF65-F5344CB8AC3E}">
        <p14:creationId xmlns:p14="http://schemas.microsoft.com/office/powerpoint/2010/main" val="656123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By a show of hands, who here plays video games? For those who do, how many of you have a game you want to love, but it’s so unbalanced that you can’t get past the “meta” to actually enjoy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your hand is still raised, the experiment I’m about to propose may be of interest to you. Many otherwise great games are consumed by an unfun or dominant meta that drives away players who simply want to enjoy the experience.</a:t>
            </a:r>
          </a:p>
          <a:p>
            <a:r>
              <a:rPr lang="en-US" sz="1200" kern="1200" dirty="0">
                <a:solidFill>
                  <a:schemeClr val="tx1"/>
                </a:solidFill>
                <a:effectLst/>
                <a:latin typeface="+mn-lt"/>
                <a:ea typeface="+mn-ea"/>
                <a:cs typeface="+mn-cs"/>
              </a:rPr>
              <a:t>My name is Alex Sharpe. I am a long-time gamer and hold a Bachelor’s degree in Game Design from UCCS. I have also been on the development team for three separate games and have been directly involved in the balancing process for each of them.</a:t>
            </a:r>
          </a:p>
          <a:p>
            <a:r>
              <a:rPr lang="en-US" sz="1200" kern="1200" dirty="0">
                <a:solidFill>
                  <a:schemeClr val="tx1"/>
                </a:solidFill>
                <a:effectLst/>
                <a:latin typeface="+mn-lt"/>
                <a:ea typeface="+mn-ea"/>
                <a:cs typeface="+mn-cs"/>
              </a:rPr>
              <a:t>Today, I will propose the application of Reinforcement Learning in Game Balancing for non-grid-based applications, including but not limited to frame data, damage calculations, and build variety.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(Now that we’ve covered the basics, lets begin with the why of this research: what is game balancing and why is it so important.)</a:t>
            </a:r>
            <a:endParaRPr lang="en-US" dirty="0"/>
          </a:p>
        </p:txBody>
      </p:sp>
      <p:sp>
        <p:nvSpPr>
          <p:cNvPr id="4" name="Slide Number Placeholder 3"/>
          <p:cNvSpPr>
            <a:spLocks noGrp="1"/>
          </p:cNvSpPr>
          <p:nvPr>
            <p:ph type="sldNum" sz="quarter" idx="5"/>
          </p:nvPr>
        </p:nvSpPr>
        <p:spPr/>
        <p:txBody>
          <a:bodyPr/>
          <a:lstStyle/>
          <a:p>
            <a:fld id="{69C5AC7E-1E68-4CE6-B179-77F21F4A8ABD}" type="slidenum">
              <a:rPr lang="en-US" smtClean="0"/>
              <a:t>2</a:t>
            </a:fld>
            <a:endParaRPr lang="en-US"/>
          </a:p>
        </p:txBody>
      </p:sp>
    </p:spTree>
    <p:extLst>
      <p:ext uri="{BB962C8B-B14F-4D97-AF65-F5344CB8AC3E}">
        <p14:creationId xmlns:p14="http://schemas.microsoft.com/office/powerpoint/2010/main" val="1567066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Game balancing is a task that all game studios must complete prior to release if they want a successful product.</a:t>
            </a:r>
          </a:p>
          <a:p>
            <a:pPr lvl="0"/>
            <a:r>
              <a:rPr lang="en-US" sz="1200" kern="1200" dirty="0">
                <a:solidFill>
                  <a:schemeClr val="tx1"/>
                </a:solidFill>
                <a:effectLst/>
                <a:latin typeface="+mn-lt"/>
                <a:ea typeface="+mn-ea"/>
                <a:cs typeface="+mn-cs"/>
              </a:rPr>
              <a:t>Game balance determines factors such as animation timing, player statistics, equipment values, action properties, and the lethality and variety of enemies.</a:t>
            </a:r>
          </a:p>
          <a:p>
            <a:pPr lvl="0"/>
            <a:r>
              <a:rPr lang="en-US" sz="1200" kern="1200" dirty="0">
                <a:solidFill>
                  <a:schemeClr val="tx1"/>
                </a:solidFill>
                <a:effectLst/>
                <a:latin typeface="+mn-lt"/>
                <a:ea typeface="+mn-ea"/>
                <a:cs typeface="+mn-cs"/>
              </a:rPr>
              <a:t>Good balancing is often invisible. Players simply play how they prefer and encounter a comparable level of difficulty regardless of playstyle.</a:t>
            </a:r>
          </a:p>
          <a:p>
            <a:pPr lvl="0"/>
            <a:r>
              <a:rPr lang="en-US" sz="1200" kern="1200" dirty="0">
                <a:solidFill>
                  <a:schemeClr val="tx1"/>
                </a:solidFill>
                <a:effectLst/>
                <a:latin typeface="+mn-lt"/>
                <a:ea typeface="+mn-ea"/>
                <a:cs typeface="+mn-cs"/>
              </a:rPr>
              <a:t>Poor balancing can discourage players from engaging with a game they would otherwise enjoy. This often happens when there is only one “correct” way to play, or when the most effective strategy dominates the experience.</a:t>
            </a:r>
          </a:p>
          <a:p>
            <a:pPr lvl="0"/>
            <a:r>
              <a:rPr lang="en-US" sz="1200" kern="1200" dirty="0">
                <a:solidFill>
                  <a:schemeClr val="tx1"/>
                </a:solidFill>
                <a:effectLst/>
                <a:latin typeface="+mn-lt"/>
                <a:ea typeface="+mn-ea"/>
                <a:cs typeface="+mn-cs"/>
              </a:rPr>
              <a:t>While balancing occurs continuously throughout development, the final two to six months are often heavily focused on quality assurance, including bug fixing and iterative balance testing.</a:t>
            </a:r>
          </a:p>
          <a:p>
            <a:pPr lvl="0"/>
            <a:r>
              <a:rPr lang="en-US" sz="1200" kern="1200" dirty="0">
                <a:solidFill>
                  <a:schemeClr val="tx1"/>
                </a:solidFill>
                <a:effectLst/>
                <a:latin typeface="+mn-lt"/>
                <a:ea typeface="+mn-ea"/>
                <a:cs typeface="+mn-cs"/>
              </a:rPr>
              <a:t>During this phase, hundreds or even thousands of man-hours are spent repeating simulations, adjusting one variable at a time, and observing the resulting changes.</a:t>
            </a:r>
          </a:p>
          <a:p>
            <a:pPr lvl="0"/>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(That process should sound familiar—it closely resembles the core loop of a Reinforcement Learning algorithm.)</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69C5AC7E-1E68-4CE6-B179-77F21F4A8ABD}" type="slidenum">
              <a:rPr lang="en-US" smtClean="0"/>
              <a:t>3</a:t>
            </a:fld>
            <a:endParaRPr lang="en-US"/>
          </a:p>
        </p:txBody>
      </p:sp>
    </p:spTree>
    <p:extLst>
      <p:ext uri="{BB962C8B-B14F-4D97-AF65-F5344CB8AC3E}">
        <p14:creationId xmlns:p14="http://schemas.microsoft.com/office/powerpoint/2010/main" val="1429831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you all know, Reinforcement Learning is the application of an autonomous agent towards learning to complete a task, and in the case of the Markov Decision Making framework, it involves learning how to complete this task from taking random actions.</a:t>
            </a:r>
          </a:p>
          <a:p>
            <a:pPr lvl="0"/>
            <a:r>
              <a:rPr lang="en-US" sz="1200" kern="1200" dirty="0">
                <a:solidFill>
                  <a:schemeClr val="tx1"/>
                </a:solidFill>
                <a:effectLst/>
                <a:latin typeface="+mn-lt"/>
                <a:ea typeface="+mn-ea"/>
                <a:cs typeface="+mn-cs"/>
              </a:rPr>
              <a:t>Reinforcement learning has been used for Game Balancing in several papers from the last few years. </a:t>
            </a:r>
          </a:p>
          <a:p>
            <a:pPr lvl="0"/>
            <a:r>
              <a:rPr lang="en-US" sz="1200" kern="1200" dirty="0">
                <a:solidFill>
                  <a:schemeClr val="tx1"/>
                </a:solidFill>
                <a:effectLst/>
                <a:latin typeface="+mn-lt"/>
                <a:ea typeface="+mn-ea"/>
                <a:cs typeface="+mn-cs"/>
              </a:rPr>
              <a:t>Eckert and Rupp explored its use in asymmetric map balancing, where agents with different capabilities should still have comparable win rates under equal skill assumptions. They focused on balancing spawn locations on a limited map rather than the mechanics of the game itself.</a:t>
            </a:r>
          </a:p>
          <a:p>
            <a:pPr lvl="0"/>
            <a:r>
              <a:rPr lang="en-US" sz="1200" kern="1200" dirty="0">
                <a:solidFill>
                  <a:schemeClr val="tx1"/>
                </a:solidFill>
                <a:effectLst/>
                <a:latin typeface="+mn-lt"/>
                <a:ea typeface="+mn-ea"/>
                <a:cs typeface="+mn-cs"/>
              </a:rPr>
              <a:t>Lackner and Musliu applied Reinforcement Learning to balancing the board game Noch Mal! by modifying tile placement to promote strategic diversity. Their system accounted for non-determinism, since dice rolls determined available actions each turn.</a:t>
            </a:r>
          </a:p>
          <a:p>
            <a:pPr lvl="0"/>
            <a:r>
              <a:rPr lang="en-US" sz="1200" kern="1200" dirty="0">
                <a:solidFill>
                  <a:schemeClr val="tx1"/>
                </a:solidFill>
                <a:effectLst/>
                <a:latin typeface="+mn-lt"/>
                <a:ea typeface="+mn-ea"/>
                <a:cs typeface="+mn-cs"/>
              </a:rPr>
              <a:t>Both studies demonstrated that the repetitive process of modifying a value and evaluating its impact aligns naturally with the reinforcement learning framework, particularly in grid-based environments.</a:t>
            </a:r>
          </a:p>
          <a:p>
            <a:pPr lvl="0"/>
            <a:r>
              <a:rPr lang="en-US" sz="1200" kern="1200" dirty="0">
                <a:solidFill>
                  <a:schemeClr val="tx1"/>
                </a:solidFill>
                <a:effectLst/>
                <a:latin typeface="+mn-lt"/>
                <a:ea typeface="+mn-ea"/>
                <a:cs typeface="+mn-cs"/>
              </a:rPr>
              <a:t>A logical extension of this work is applying the same methodology to non-grid-based systems, specifically those defined by numerical parameters such as frame timing and damage values.</a:t>
            </a:r>
          </a:p>
          <a:p>
            <a:pPr lvl="0"/>
            <a:r>
              <a:rPr lang="en-US" sz="1200" kern="1200" dirty="0">
                <a:solidFill>
                  <a:schemeClr val="tx1"/>
                </a:solidFill>
                <a:effectLst/>
                <a:latin typeface="+mn-lt"/>
                <a:ea typeface="+mn-ea"/>
                <a:cs typeface="+mn-cs"/>
              </a:rPr>
              <a:t>The methodology would remain similar: two agents—or an agent and a human player—compete under fixed mechanics while policies are learned.</a:t>
            </a:r>
          </a:p>
          <a:p>
            <a:pPr lvl="0"/>
            <a:r>
              <a:rPr lang="en-US" sz="1200" kern="1200" dirty="0">
                <a:solidFill>
                  <a:schemeClr val="tx1"/>
                </a:solidFill>
                <a:effectLst/>
                <a:latin typeface="+mn-lt"/>
                <a:ea typeface="+mn-ea"/>
                <a:cs typeface="+mn-cs"/>
              </a:rPr>
              <a:t>Once the agent develops a stable and competent policy, the researcher analyzes the distribution of chosen actions to determine whether certain options dominate.</a:t>
            </a:r>
          </a:p>
          <a:p>
            <a:pPr lvl="0"/>
            <a:r>
              <a:rPr lang="en-US" sz="1200" kern="1200" dirty="0">
                <a:solidFill>
                  <a:schemeClr val="tx1"/>
                </a:solidFill>
                <a:effectLst/>
                <a:latin typeface="+mn-lt"/>
                <a:ea typeface="+mn-ea"/>
                <a:cs typeface="+mn-cs"/>
              </a:rPr>
              <a:t>If one does, the proctor changes a value either on the best action or the not-best actions, and the simulation is rerun to observe whether the imbalance decreases.</a:t>
            </a:r>
          </a:p>
          <a:p>
            <a:endParaRPr lang="en-US" sz="1200" i="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(With the purpose and background established, we can now move to the implementation details.)</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69C5AC7E-1E68-4CE6-B179-77F21F4A8ABD}" type="slidenum">
              <a:rPr lang="en-US" smtClean="0"/>
              <a:t>4</a:t>
            </a:fld>
            <a:endParaRPr lang="en-US"/>
          </a:p>
        </p:txBody>
      </p:sp>
    </p:spTree>
    <p:extLst>
      <p:ext uri="{BB962C8B-B14F-4D97-AF65-F5344CB8AC3E}">
        <p14:creationId xmlns:p14="http://schemas.microsoft.com/office/powerpoint/2010/main" val="3303270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experiment will take place in a simple, custom 2D fighting game.</a:t>
            </a:r>
          </a:p>
          <a:p>
            <a:pPr lvl="0"/>
            <a:r>
              <a:rPr lang="en-US" sz="1200" kern="1200" dirty="0">
                <a:solidFill>
                  <a:schemeClr val="tx1"/>
                </a:solidFill>
                <a:effectLst/>
                <a:latin typeface="+mn-lt"/>
                <a:ea typeface="+mn-ea"/>
                <a:cs typeface="+mn-cs"/>
              </a:rPr>
              <a:t>The agent will treat each frame of the game as a state. At 60 frames per second, the agent observes the environment and extracts structured information such as relative distance, action availability, animation progress, and health values for both characters.</a:t>
            </a:r>
          </a:p>
          <a:p>
            <a:pPr lvl="0"/>
            <a:r>
              <a:rPr lang="en-US" sz="1200" kern="1200" dirty="0">
                <a:solidFill>
                  <a:schemeClr val="tx1"/>
                </a:solidFill>
                <a:effectLst/>
                <a:latin typeface="+mn-lt"/>
                <a:ea typeface="+mn-ea"/>
                <a:cs typeface="+mn-cs"/>
              </a:rPr>
              <a:t>The action space will be intentionally limited to seven discrete actions: move forward, move backward, light attack, heavy attack, special attack, block, and wait. The special attack will bypass block, and block will reduce incoming damage by a fixed percentage.</a:t>
            </a:r>
          </a:p>
          <a:p>
            <a:pPr lvl="0"/>
            <a:r>
              <a:rPr lang="en-US" sz="1200" kern="1200" dirty="0">
                <a:solidFill>
                  <a:schemeClr val="tx1"/>
                </a:solidFill>
                <a:effectLst/>
                <a:latin typeface="+mn-lt"/>
                <a:ea typeface="+mn-ea"/>
                <a:cs typeface="+mn-cs"/>
              </a:rPr>
              <a:t>The reward structure will consist of immediate rewards and terminal rewards. The agent will receive positive immediate reward for damage dealt and negative immediate reward for damage received. Additionally, a larger terminal reward will be granted for winning the match and a penalty for losing.</a:t>
            </a:r>
          </a:p>
        </p:txBody>
      </p:sp>
      <p:sp>
        <p:nvSpPr>
          <p:cNvPr id="4" name="Slide Number Placeholder 3"/>
          <p:cNvSpPr>
            <a:spLocks noGrp="1"/>
          </p:cNvSpPr>
          <p:nvPr>
            <p:ph type="sldNum" sz="quarter" idx="5"/>
          </p:nvPr>
        </p:nvSpPr>
        <p:spPr/>
        <p:txBody>
          <a:bodyPr/>
          <a:lstStyle/>
          <a:p>
            <a:fld id="{69C5AC7E-1E68-4CE6-B179-77F21F4A8ABD}" type="slidenum">
              <a:rPr lang="en-US" smtClean="0"/>
              <a:t>5</a:t>
            </a:fld>
            <a:endParaRPr lang="en-US"/>
          </a:p>
        </p:txBody>
      </p:sp>
    </p:spTree>
    <p:extLst>
      <p:ext uri="{BB962C8B-B14F-4D97-AF65-F5344CB8AC3E}">
        <p14:creationId xmlns:p14="http://schemas.microsoft.com/office/powerpoint/2010/main" val="4124338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Multiple agents will be trained using identical policies and states but with different reward weightings. This reward function will be defined as R = α·(damage dealt) − β·(damage received). An aggressive agent will use α &gt; β, a defensive agent will α &lt; β, and a neutral agent will use α = β. </a:t>
            </a:r>
          </a:p>
          <a:p>
            <a:pPr lvl="0"/>
            <a:r>
              <a:rPr lang="en-US" sz="1200" kern="1200" dirty="0">
                <a:solidFill>
                  <a:schemeClr val="tx1"/>
                </a:solidFill>
                <a:effectLst/>
                <a:latin typeface="+mn-lt"/>
                <a:ea typeface="+mn-ea"/>
                <a:cs typeface="+mn-cs"/>
              </a:rPr>
              <a:t>Under this formulation, the aggressive agent will be more willing to trade damage to secure offensive pressure. The defensive agent will prioritize avoiding damage and will favor safer or lower-risk actions.</a:t>
            </a:r>
          </a:p>
          <a:p>
            <a:pPr lvl="0"/>
            <a:r>
              <a:rPr lang="en-US" sz="1200" kern="1200" dirty="0">
                <a:solidFill>
                  <a:schemeClr val="tx1"/>
                </a:solidFill>
                <a:effectLst/>
                <a:latin typeface="+mn-lt"/>
                <a:ea typeface="+mn-ea"/>
                <a:cs typeface="+mn-cs"/>
              </a:rPr>
              <a:t>All agents will receive identical terminal rewards to ensure comparability of win conditions across playstyles.</a:t>
            </a:r>
          </a:p>
          <a:p>
            <a:pPr lvl="0"/>
            <a:r>
              <a:rPr lang="en-US" sz="1200" kern="1200" dirty="0">
                <a:solidFill>
                  <a:schemeClr val="tx1"/>
                </a:solidFill>
                <a:effectLst/>
                <a:latin typeface="+mn-lt"/>
                <a:ea typeface="+mn-ea"/>
                <a:cs typeface="+mn-cs"/>
              </a:rPr>
              <a:t>One potential concern is overfitting between specific agents. If an aggressive and defensive agent train exclusively against each other, they may learn to exploit each other’s biases rather than the mechanics themselves. To mitigate this, evaluation should include cross-play against previously saved policies, randomized behavior, or even live players to give a varied sample set.</a:t>
            </a:r>
          </a:p>
          <a:p>
            <a:pPr lvl="0"/>
            <a:r>
              <a:rPr lang="en-US" sz="1200" kern="1200" dirty="0">
                <a:solidFill>
                  <a:schemeClr val="tx1"/>
                </a:solidFill>
                <a:effectLst/>
                <a:latin typeface="+mn-lt"/>
                <a:ea typeface="+mn-ea"/>
                <a:cs typeface="+mn-cs"/>
              </a:rPr>
              <a:t>After agents reach a high level of competence, their learned policies will be frozen. Additional evaluation episodes will then be run. Every 100 episodes, action frequency and win rates will be analyzed. If one action is disproportionately selected and strongly correlated with success, its parameters will be reviewed. For example, if the heavy attack is underused because its windup frames make it too interruptible, its windup may be reduced slightly before re-evaluation.</a:t>
            </a:r>
          </a:p>
          <a:p>
            <a:pPr lvl="0"/>
            <a:r>
              <a:rPr lang="en-US" sz="1200" kern="1200" dirty="0">
                <a:solidFill>
                  <a:schemeClr val="tx1"/>
                </a:solidFill>
                <a:effectLst/>
                <a:latin typeface="+mn-lt"/>
                <a:ea typeface="+mn-ea"/>
                <a:cs typeface="+mn-cs"/>
              </a:rPr>
              <a:t>The parameters available for every move to change will be the following: windup frames, active/execution frames, and recovery frames. Additionally, attacks will be able to adjust damage dealt, movement will be able to adjust distance, and block will be able to adjust damage absorbed (in %). The wait action will remain fixed.</a:t>
            </a:r>
          </a:p>
          <a:p>
            <a:pPr lvl="0"/>
            <a:r>
              <a:rPr lang="en-US" sz="1200" kern="1200" dirty="0">
                <a:solidFill>
                  <a:schemeClr val="tx1"/>
                </a:solidFill>
                <a:effectLst/>
                <a:latin typeface="+mn-lt"/>
                <a:ea typeface="+mn-ea"/>
                <a:cs typeface="+mn-cs"/>
              </a:rPr>
              <a:t>To ensure that the results are meaningful, statistical tracking will be essential. Win rates, action usage frequency, average damage per action, and time-to-victory will all be recorded. This prevents balancing decisions from being based solely on action frequency and instead grounds them in measurable performance metrics. For example, an action may be used frequently but not produce disproportionate advantage, which would not necessarily indicate imbalance. By combining frequency and outcome data, the balancing process becomes more systematic and less subjective.</a:t>
            </a:r>
          </a:p>
          <a:p>
            <a:pPr lvl="0"/>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(Before we conclude, let’s talk about what this experiment will not be capable of if it is successful.)</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69C5AC7E-1E68-4CE6-B179-77F21F4A8ABD}" type="slidenum">
              <a:rPr lang="en-US" smtClean="0"/>
              <a:t>6</a:t>
            </a:fld>
            <a:endParaRPr lang="en-US"/>
          </a:p>
        </p:txBody>
      </p:sp>
    </p:spTree>
    <p:extLst>
      <p:ext uri="{BB962C8B-B14F-4D97-AF65-F5344CB8AC3E}">
        <p14:creationId xmlns:p14="http://schemas.microsoft.com/office/powerpoint/2010/main" val="3668705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Firstly, this will not eliminate the human component of QA testing</a:t>
            </a:r>
          </a:p>
          <a:p>
            <a:pPr lvl="0"/>
            <a:r>
              <a:rPr lang="en-US" sz="1200" kern="1200" dirty="0">
                <a:solidFill>
                  <a:schemeClr val="tx1"/>
                </a:solidFill>
                <a:effectLst/>
                <a:latin typeface="+mn-lt"/>
                <a:ea typeface="+mn-ea"/>
                <a:cs typeface="+mn-cs"/>
              </a:rPr>
              <a:t>Human interaction will still be necessary before and after this process, both to get initial values and focus on final ones. In practice, this system could operate overnight during development, running thousands of simulated matches while designers review summary statistics the next morning. Rather than replacing designers, it would accelerate the balancing process by doing the tedious, repetitive part off the clock.</a:t>
            </a:r>
          </a:p>
          <a:p>
            <a:pPr lvl="0"/>
            <a:r>
              <a:rPr lang="en-US" sz="1200" kern="1200" dirty="0">
                <a:solidFill>
                  <a:schemeClr val="tx1"/>
                </a:solidFill>
                <a:effectLst/>
                <a:latin typeface="+mn-lt"/>
                <a:ea typeface="+mn-ea"/>
                <a:cs typeface="+mn-cs"/>
              </a:rPr>
              <a:t>As such, this technique will not be used to completely determine the final statistics behind actions taken. While balance is important, an over-balanced game can feel homogenized and boring.</a:t>
            </a:r>
          </a:p>
          <a:p>
            <a:pPr lvl="0"/>
            <a:r>
              <a:rPr lang="en-US" sz="1200" kern="1200" dirty="0">
                <a:solidFill>
                  <a:schemeClr val="tx1"/>
                </a:solidFill>
                <a:effectLst/>
                <a:latin typeface="+mn-lt"/>
                <a:ea typeface="+mn-ea"/>
                <a:cs typeface="+mn-cs"/>
              </a:rPr>
              <a:t>Finally, sometimes the developer will have a “gut feeling” about how a move should be balanced. Ignoring the statistics and going with what sounds fun happens often in game design, and in such cases, this technique would serve as a diagnostic tool rather than an absolute authority.</a:t>
            </a:r>
          </a:p>
          <a:p>
            <a:r>
              <a:rPr lang="en-US" sz="1200" i="1" kern="1200" dirty="0">
                <a:solidFill>
                  <a:schemeClr val="tx1"/>
                </a:solidFill>
                <a:effectLst/>
                <a:latin typeface="+mn-lt"/>
                <a:ea typeface="+mn-ea"/>
                <a:cs typeface="+mn-cs"/>
              </a:rPr>
              <a:t>(Now, to summarize this experiment and field some questions regarding it.)</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69C5AC7E-1E68-4CE6-B179-77F21F4A8ABD}" type="slidenum">
              <a:rPr lang="en-US" smtClean="0"/>
              <a:t>7</a:t>
            </a:fld>
            <a:endParaRPr lang="en-US"/>
          </a:p>
        </p:txBody>
      </p:sp>
    </p:spTree>
    <p:extLst>
      <p:ext uri="{BB962C8B-B14F-4D97-AF65-F5344CB8AC3E}">
        <p14:creationId xmlns:p14="http://schemas.microsoft.com/office/powerpoint/2010/main" val="1425221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Today I discussed the possibility of using a Reinforcement Learning Algorithm to balance game mechanics, specifically in the realm of balancing actions in a fighting game.</a:t>
            </a:r>
          </a:p>
          <a:p>
            <a:r>
              <a:rPr lang="en-US" sz="1200" kern="1200" dirty="0">
                <a:solidFill>
                  <a:schemeClr val="tx1"/>
                </a:solidFill>
                <a:effectLst/>
                <a:latin typeface="+mn-lt"/>
                <a:ea typeface="+mn-ea"/>
                <a:cs typeface="+mn-cs"/>
              </a:rPr>
              <a:t>The next time you play a game overtaken by the meta or made unfun by a new character that just released, imagine how much better it might’ve been if they took the time and proper technique to balance it appropriately.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Imagine a world where games not only release faster, but are more polished and accessible to everyone</a:t>
            </a:r>
            <a:r>
              <a:rPr lang="en-US" sz="1200" kern="1200">
                <a:solidFill>
                  <a:schemeClr val="tx1"/>
                </a:solidFill>
                <a:effectLst/>
                <a:latin typeface="+mn-lt"/>
                <a:ea typeface="+mn-ea"/>
                <a:cs typeface="+mn-cs"/>
              </a:rPr>
              <a:t>: because that </a:t>
            </a:r>
            <a:r>
              <a:rPr lang="en-US" sz="1200" kern="1200" dirty="0">
                <a:solidFill>
                  <a:schemeClr val="tx1"/>
                </a:solidFill>
                <a:effectLst/>
                <a:latin typeface="+mn-lt"/>
                <a:ea typeface="+mn-ea"/>
                <a:cs typeface="+mn-cs"/>
              </a:rPr>
              <a:t>sounds like a bright future to me.</a:t>
            </a:r>
          </a:p>
        </p:txBody>
      </p:sp>
      <p:sp>
        <p:nvSpPr>
          <p:cNvPr id="4" name="Slide Number Placeholder 3"/>
          <p:cNvSpPr>
            <a:spLocks noGrp="1"/>
          </p:cNvSpPr>
          <p:nvPr>
            <p:ph type="sldNum" sz="quarter" idx="5"/>
          </p:nvPr>
        </p:nvSpPr>
        <p:spPr/>
        <p:txBody>
          <a:bodyPr/>
          <a:lstStyle/>
          <a:p>
            <a:fld id="{69C5AC7E-1E68-4CE6-B179-77F21F4A8ABD}" type="slidenum">
              <a:rPr lang="en-US" smtClean="0"/>
              <a:t>8</a:t>
            </a:fld>
            <a:endParaRPr lang="en-US"/>
          </a:p>
        </p:txBody>
      </p:sp>
    </p:spTree>
    <p:extLst>
      <p:ext uri="{BB962C8B-B14F-4D97-AF65-F5344CB8AC3E}">
        <p14:creationId xmlns:p14="http://schemas.microsoft.com/office/powerpoint/2010/main" val="2429146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0610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82001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8985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4308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68534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3398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43228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42127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0393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73467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2/17/2026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845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2/17/2026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4243988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a:extLst>
              <a:ext uri="{FF2B5EF4-FFF2-40B4-BE49-F238E27FC236}">
                <a16:creationId xmlns:a16="http://schemas.microsoft.com/office/drawing/2014/main" id="{4AF946D0-FF7D-86D3-968D-6792390C3009}"/>
              </a:ext>
            </a:extLst>
          </p:cNvPr>
          <p:cNvPicPr>
            <a:picLocks noChangeAspect="1"/>
          </p:cNvPicPr>
          <p:nvPr/>
        </p:nvPicPr>
        <p:blipFill>
          <a:blip r:embed="rId2"/>
          <a:srcRect t="9639"/>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AAB476BF-4EE2-5243-CABB-6CC72C39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4204689-9CA9-3355-C7CD-4750D204AE5A}"/>
              </a:ext>
            </a:extLst>
          </p:cNvPr>
          <p:cNvSpPr>
            <a:spLocks noGrp="1"/>
          </p:cNvSpPr>
          <p:nvPr>
            <p:ph type="ctrTitle"/>
          </p:nvPr>
        </p:nvSpPr>
        <p:spPr>
          <a:xfrm>
            <a:off x="7306780" y="978409"/>
            <a:ext cx="4496529" cy="3678268"/>
          </a:xfrm>
        </p:spPr>
        <p:txBody>
          <a:bodyPr anchor="t">
            <a:normAutofit/>
          </a:bodyPr>
          <a:lstStyle/>
          <a:p>
            <a:pPr>
              <a:lnSpc>
                <a:spcPct val="90000"/>
              </a:lnSpc>
            </a:pPr>
            <a:r>
              <a:rPr lang="en-US" sz="4200"/>
              <a:t>Game Mechanics Balancing using Reinforcement Learning</a:t>
            </a:r>
          </a:p>
        </p:txBody>
      </p:sp>
      <p:sp>
        <p:nvSpPr>
          <p:cNvPr id="3" name="Subtitle 2">
            <a:extLst>
              <a:ext uri="{FF2B5EF4-FFF2-40B4-BE49-F238E27FC236}">
                <a16:creationId xmlns:a16="http://schemas.microsoft.com/office/drawing/2014/main" id="{78244D4E-3753-2C83-7086-92B010F227A6}"/>
              </a:ext>
            </a:extLst>
          </p:cNvPr>
          <p:cNvSpPr>
            <a:spLocks noGrp="1"/>
          </p:cNvSpPr>
          <p:nvPr>
            <p:ph type="subTitle" idx="1"/>
          </p:nvPr>
        </p:nvSpPr>
        <p:spPr>
          <a:xfrm>
            <a:off x="7303288" y="4729138"/>
            <a:ext cx="4488812" cy="1150453"/>
          </a:xfrm>
        </p:spPr>
        <p:txBody>
          <a:bodyPr anchor="b">
            <a:normAutofit/>
          </a:bodyPr>
          <a:lstStyle/>
          <a:p>
            <a:r>
              <a:rPr lang="en-US" dirty="0"/>
              <a:t>Alex Sharpe</a:t>
            </a:r>
          </a:p>
        </p:txBody>
      </p:sp>
      <p:sp>
        <p:nvSpPr>
          <p:cNvPr id="13" name="Rectangle 12">
            <a:extLst>
              <a:ext uri="{FF2B5EF4-FFF2-40B4-BE49-F238E27FC236}">
                <a16:creationId xmlns:a16="http://schemas.microsoft.com/office/drawing/2014/main" id="{20D28EA4-6F96-F7C6-1D07-5BA5C2738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6781" y="508090"/>
            <a:ext cx="449275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5" name="Rectangle 14">
            <a:extLst>
              <a:ext uri="{FF2B5EF4-FFF2-40B4-BE49-F238E27FC236}">
                <a16:creationId xmlns:a16="http://schemas.microsoft.com/office/drawing/2014/main" id="{FDFF93C5-0576-D227-80A7-4CFBA879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0119" y="6209925"/>
            <a:ext cx="449275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47893137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Freeform: Shape 104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3" name="Freeform: Shape 1042">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45" name="Rectangle 1044">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1D05DC-EDCB-5B3D-8379-A836371D4221}"/>
              </a:ext>
            </a:extLst>
          </p:cNvPr>
          <p:cNvSpPr>
            <a:spLocks noGrp="1"/>
          </p:cNvSpPr>
          <p:nvPr>
            <p:ph type="title"/>
          </p:nvPr>
        </p:nvSpPr>
        <p:spPr>
          <a:xfrm>
            <a:off x="521209" y="978409"/>
            <a:ext cx="11149874" cy="1298386"/>
          </a:xfrm>
        </p:spPr>
        <p:txBody>
          <a:bodyPr vert="horz" lIns="91440" tIns="45720" rIns="91440" bIns="45720" rtlCol="0" anchor="t">
            <a:normAutofit/>
          </a:bodyPr>
          <a:lstStyle/>
          <a:p>
            <a:r>
              <a:rPr lang="en-US" sz="5400" dirty="0"/>
              <a:t>Video Games</a:t>
            </a:r>
          </a:p>
        </p:txBody>
      </p:sp>
      <p:sp>
        <p:nvSpPr>
          <p:cNvPr id="1047" name="Freeform: Shape 1046">
            <a:extLst>
              <a:ext uri="{FF2B5EF4-FFF2-40B4-BE49-F238E27FC236}">
                <a16:creationId xmlns:a16="http://schemas.microsoft.com/office/drawing/2014/main" id="{DCC11005-BC53-5976-9587-FB0B62EF6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8" name="Picture 4" descr="Overwatch (video game) - Wikipedia">
            <a:extLst>
              <a:ext uri="{FF2B5EF4-FFF2-40B4-BE49-F238E27FC236}">
                <a16:creationId xmlns:a16="http://schemas.microsoft.com/office/drawing/2014/main" id="{1DE9B850-5A41-E21C-5AB5-9418D81CD3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117" r="3" b="34178"/>
          <a:stretch>
            <a:fillRect/>
          </a:stretch>
        </p:blipFill>
        <p:spPr bwMode="auto">
          <a:xfrm>
            <a:off x="517870" y="2467991"/>
            <a:ext cx="3519552" cy="310141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uper Smash Bros. Melee - IGN">
            <a:extLst>
              <a:ext uri="{FF2B5EF4-FFF2-40B4-BE49-F238E27FC236}">
                <a16:creationId xmlns:a16="http://schemas.microsoft.com/office/drawing/2014/main" id="{5B295092-EE3B-9BD6-5EFB-7DC7FB6266B2}"/>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t="10771" r="1" b="1111"/>
          <a:stretch>
            <a:fillRect/>
          </a:stretch>
        </p:blipFill>
        <p:spPr bwMode="auto">
          <a:xfrm>
            <a:off x="4334700" y="2467991"/>
            <a:ext cx="3519552" cy="310141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arvel Rivals | Download and Play for Free - Epic Games Store">
            <a:extLst>
              <a:ext uri="{FF2B5EF4-FFF2-40B4-BE49-F238E27FC236}">
                <a16:creationId xmlns:a16="http://schemas.microsoft.com/office/drawing/2014/main" id="{87C06BE7-6158-54AB-5656-472DFF1AF3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779" r="28371"/>
          <a:stretch>
            <a:fillRect/>
          </a:stretch>
        </p:blipFill>
        <p:spPr bwMode="auto">
          <a:xfrm>
            <a:off x="8150642" y="2467992"/>
            <a:ext cx="3520440" cy="3101414"/>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10" descr="Marvel Rivals | Marvel Database | Fandom">
            <a:extLst>
              <a:ext uri="{FF2B5EF4-FFF2-40B4-BE49-F238E27FC236}">
                <a16:creationId xmlns:a16="http://schemas.microsoft.com/office/drawing/2014/main" id="{7C8F5239-FEA8-B986-641B-B153CADB3C81}"/>
              </a:ext>
            </a:extLst>
          </p:cNvPr>
          <p:cNvSpPr>
            <a:spLocks noChangeAspect="1" noChangeArrowheads="1"/>
          </p:cNvSpPr>
          <p:nvPr/>
        </p:nvSpPr>
        <p:spPr bwMode="auto">
          <a:xfrm>
            <a:off x="5943600" y="821012"/>
            <a:ext cx="2760388" cy="27603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9972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2" name="Freeform: Shape 209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93" name="Freeform: Shape 2092">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094" name="Rectangle 209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5BE9C4-A4A8-6F07-3715-C21407EBF46D}"/>
              </a:ext>
            </a:extLst>
          </p:cNvPr>
          <p:cNvSpPr>
            <a:spLocks noGrp="1"/>
          </p:cNvSpPr>
          <p:nvPr>
            <p:ph type="title"/>
          </p:nvPr>
        </p:nvSpPr>
        <p:spPr>
          <a:xfrm>
            <a:off x="521208" y="5303520"/>
            <a:ext cx="7726680" cy="1062061"/>
          </a:xfrm>
        </p:spPr>
        <p:txBody>
          <a:bodyPr vert="horz" lIns="91440" tIns="45720" rIns="91440" bIns="45720" rtlCol="0" anchor="t">
            <a:normAutofit/>
          </a:bodyPr>
          <a:lstStyle/>
          <a:p>
            <a:r>
              <a:rPr lang="en-US" sz="5400"/>
              <a:t>Game Balancing</a:t>
            </a:r>
          </a:p>
        </p:txBody>
      </p:sp>
      <p:sp>
        <p:nvSpPr>
          <p:cNvPr id="2095" name="Freeform: Shape 2094">
            <a:extLst>
              <a:ext uri="{FF2B5EF4-FFF2-40B4-BE49-F238E27FC236}">
                <a16:creationId xmlns:a16="http://schemas.microsoft.com/office/drawing/2014/main" id="{DCC11005-BC53-5976-9587-FB0B62EF6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Video Game Balance: A Definitive Guide">
            <a:extLst>
              <a:ext uri="{FF2B5EF4-FFF2-40B4-BE49-F238E27FC236}">
                <a16:creationId xmlns:a16="http://schemas.microsoft.com/office/drawing/2014/main" id="{B67C23D0-C026-0517-59B0-B2BD7FF35F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7941" b="-3"/>
          <a:stretch>
            <a:fillRect/>
          </a:stretch>
        </p:blipFill>
        <p:spPr bwMode="auto">
          <a:xfrm>
            <a:off x="825181" y="970929"/>
            <a:ext cx="4836017" cy="409626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ong live the human tester: QA in a post-AI world">
            <a:extLst>
              <a:ext uri="{FF2B5EF4-FFF2-40B4-BE49-F238E27FC236}">
                <a16:creationId xmlns:a16="http://schemas.microsoft.com/office/drawing/2014/main" id="{59CAD59F-D344-4E27-4BEB-18FF37196A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5925" r="17669" b="4"/>
          <a:stretch>
            <a:fillRect/>
          </a:stretch>
        </p:blipFill>
        <p:spPr bwMode="auto">
          <a:xfrm>
            <a:off x="6527737" y="970929"/>
            <a:ext cx="4836048" cy="409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601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9" name="Rectangle 18">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80E72F4-889F-6B55-F934-9C0F6E8D178B}"/>
              </a:ext>
            </a:extLst>
          </p:cNvPr>
          <p:cNvSpPr>
            <a:spLocks noGrp="1"/>
          </p:cNvSpPr>
          <p:nvPr>
            <p:ph type="title"/>
          </p:nvPr>
        </p:nvSpPr>
        <p:spPr>
          <a:xfrm>
            <a:off x="521209" y="978409"/>
            <a:ext cx="11149874" cy="1298386"/>
          </a:xfrm>
        </p:spPr>
        <p:txBody>
          <a:bodyPr vert="horz" lIns="91440" tIns="45720" rIns="91440" bIns="45720" rtlCol="0" anchor="t">
            <a:normAutofit/>
          </a:bodyPr>
          <a:lstStyle/>
          <a:p>
            <a:r>
              <a:rPr lang="en-US" sz="5000" dirty="0"/>
              <a:t>Reinforcement Learning Applications</a:t>
            </a:r>
          </a:p>
        </p:txBody>
      </p:sp>
      <p:sp>
        <p:nvSpPr>
          <p:cNvPr id="21" name="Freeform: Shape 20">
            <a:extLst>
              <a:ext uri="{FF2B5EF4-FFF2-40B4-BE49-F238E27FC236}">
                <a16:creationId xmlns:a16="http://schemas.microsoft.com/office/drawing/2014/main" id="{DCC11005-BC53-5976-9587-FB0B62EF6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Content Placeholder 6">
            <a:extLst>
              <a:ext uri="{FF2B5EF4-FFF2-40B4-BE49-F238E27FC236}">
                <a16:creationId xmlns:a16="http://schemas.microsoft.com/office/drawing/2014/main" id="{4014DAFC-4A9B-2B3B-BCFB-300D0569C531}"/>
              </a:ext>
            </a:extLst>
          </p:cNvPr>
          <p:cNvPicPr>
            <a:picLocks noGrp="1" noChangeAspect="1"/>
          </p:cNvPicPr>
          <p:nvPr>
            <p:ph idx="1"/>
          </p:nvPr>
        </p:nvPicPr>
        <p:blipFill>
          <a:blip r:embed="rId3"/>
          <a:srcRect t="1437" r="3" b="13451"/>
          <a:stretch>
            <a:fillRect/>
          </a:stretch>
        </p:blipFill>
        <p:spPr>
          <a:xfrm>
            <a:off x="6220441" y="2414725"/>
            <a:ext cx="5450641" cy="3154680"/>
          </a:xfrm>
          <a:prstGeom prst="rect">
            <a:avLst/>
          </a:prstGeom>
        </p:spPr>
      </p:pic>
      <p:sp>
        <p:nvSpPr>
          <p:cNvPr id="11" name="TextBox 10">
            <a:extLst>
              <a:ext uri="{FF2B5EF4-FFF2-40B4-BE49-F238E27FC236}">
                <a16:creationId xmlns:a16="http://schemas.microsoft.com/office/drawing/2014/main" id="{19F20521-4029-387D-AF8B-B0E9081F39C0}"/>
              </a:ext>
            </a:extLst>
          </p:cNvPr>
          <p:cNvSpPr txBox="1"/>
          <p:nvPr/>
        </p:nvSpPr>
        <p:spPr>
          <a:xfrm>
            <a:off x="1925136" y="5932926"/>
            <a:ext cx="2636106" cy="553998"/>
          </a:xfrm>
          <a:prstGeom prst="rect">
            <a:avLst/>
          </a:prstGeom>
          <a:noFill/>
        </p:spPr>
        <p:txBody>
          <a:bodyPr wrap="none" rtlCol="0">
            <a:spAutoFit/>
          </a:bodyPr>
          <a:lstStyle/>
          <a:p>
            <a:r>
              <a:rPr lang="en-US" sz="3000" i="1" dirty="0"/>
              <a:t>Level the Level</a:t>
            </a:r>
          </a:p>
        </p:txBody>
      </p:sp>
      <p:sp>
        <p:nvSpPr>
          <p:cNvPr id="12" name="TextBox 11">
            <a:extLst>
              <a:ext uri="{FF2B5EF4-FFF2-40B4-BE49-F238E27FC236}">
                <a16:creationId xmlns:a16="http://schemas.microsoft.com/office/drawing/2014/main" id="{9A6C0AD0-8CE4-A4AF-F40A-8A45748A68E3}"/>
              </a:ext>
            </a:extLst>
          </p:cNvPr>
          <p:cNvSpPr txBox="1"/>
          <p:nvPr/>
        </p:nvSpPr>
        <p:spPr>
          <a:xfrm>
            <a:off x="8000630" y="5955785"/>
            <a:ext cx="1890261" cy="553998"/>
          </a:xfrm>
          <a:prstGeom prst="rect">
            <a:avLst/>
          </a:prstGeom>
          <a:noFill/>
        </p:spPr>
        <p:txBody>
          <a:bodyPr wrap="none" rtlCol="0">
            <a:spAutoFit/>
          </a:bodyPr>
          <a:lstStyle/>
          <a:p>
            <a:r>
              <a:rPr lang="en-US" sz="3000" i="1" dirty="0"/>
              <a:t>Noch Mal!</a:t>
            </a:r>
          </a:p>
        </p:txBody>
      </p:sp>
      <p:pic>
        <p:nvPicPr>
          <p:cNvPr id="14" name="Picture 13">
            <a:extLst>
              <a:ext uri="{FF2B5EF4-FFF2-40B4-BE49-F238E27FC236}">
                <a16:creationId xmlns:a16="http://schemas.microsoft.com/office/drawing/2014/main" id="{6E15705F-492F-FC18-CB9B-52544008D899}"/>
              </a:ext>
            </a:extLst>
          </p:cNvPr>
          <p:cNvPicPr>
            <a:picLocks noChangeAspect="1"/>
          </p:cNvPicPr>
          <p:nvPr/>
        </p:nvPicPr>
        <p:blipFill>
          <a:blip r:embed="rId4"/>
          <a:stretch>
            <a:fillRect/>
          </a:stretch>
        </p:blipFill>
        <p:spPr>
          <a:xfrm>
            <a:off x="483283" y="2298846"/>
            <a:ext cx="5519812" cy="3308728"/>
          </a:xfrm>
          <a:prstGeom prst="rect">
            <a:avLst/>
          </a:prstGeom>
        </p:spPr>
      </p:pic>
    </p:spTree>
    <p:extLst>
      <p:ext uri="{BB962C8B-B14F-4D97-AF65-F5344CB8AC3E}">
        <p14:creationId xmlns:p14="http://schemas.microsoft.com/office/powerpoint/2010/main" val="3804559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454C0-12E8-A3EA-730C-16767A7E1E56}"/>
              </a:ext>
            </a:extLst>
          </p:cNvPr>
          <p:cNvSpPr>
            <a:spLocks noGrp="1"/>
          </p:cNvSpPr>
          <p:nvPr>
            <p:ph type="title"/>
          </p:nvPr>
        </p:nvSpPr>
        <p:spPr/>
        <p:txBody>
          <a:bodyPr/>
          <a:lstStyle/>
          <a:p>
            <a:r>
              <a:rPr lang="en-US" dirty="0"/>
              <a:t>States and Actions</a:t>
            </a:r>
          </a:p>
        </p:txBody>
      </p:sp>
      <p:sp>
        <p:nvSpPr>
          <p:cNvPr id="3" name="Content Placeholder 2">
            <a:extLst>
              <a:ext uri="{FF2B5EF4-FFF2-40B4-BE49-F238E27FC236}">
                <a16:creationId xmlns:a16="http://schemas.microsoft.com/office/drawing/2014/main" id="{9C8423D5-3090-5132-B953-AB02D554E04A}"/>
              </a:ext>
            </a:extLst>
          </p:cNvPr>
          <p:cNvSpPr>
            <a:spLocks noGrp="1"/>
          </p:cNvSpPr>
          <p:nvPr>
            <p:ph sz="half" idx="1"/>
          </p:nvPr>
        </p:nvSpPr>
        <p:spPr/>
        <p:txBody>
          <a:bodyPr>
            <a:normAutofit fontScale="92500" lnSpcReduction="10000"/>
          </a:bodyPr>
          <a:lstStyle/>
          <a:p>
            <a:r>
              <a:rPr lang="en-US" sz="3200" dirty="0"/>
              <a:t>States</a:t>
            </a:r>
          </a:p>
          <a:p>
            <a:pPr lvl="1"/>
            <a:r>
              <a:rPr lang="en-US" sz="2800" dirty="0"/>
              <a:t>Frames as states</a:t>
            </a:r>
          </a:p>
          <a:p>
            <a:pPr lvl="1"/>
            <a:r>
              <a:rPr lang="en-US" sz="2800" dirty="0"/>
              <a:t>Distance, availability, health, etc.</a:t>
            </a:r>
          </a:p>
        </p:txBody>
      </p:sp>
      <p:sp>
        <p:nvSpPr>
          <p:cNvPr id="4" name="Content Placeholder 3">
            <a:extLst>
              <a:ext uri="{FF2B5EF4-FFF2-40B4-BE49-F238E27FC236}">
                <a16:creationId xmlns:a16="http://schemas.microsoft.com/office/drawing/2014/main" id="{9DB49EA4-2B1F-5411-B9D3-A363A5C4AAE7}"/>
              </a:ext>
            </a:extLst>
          </p:cNvPr>
          <p:cNvSpPr>
            <a:spLocks noGrp="1"/>
          </p:cNvSpPr>
          <p:nvPr>
            <p:ph sz="half" idx="2"/>
          </p:nvPr>
        </p:nvSpPr>
        <p:spPr/>
        <p:txBody>
          <a:bodyPr>
            <a:normAutofit fontScale="92500" lnSpcReduction="10000"/>
          </a:bodyPr>
          <a:lstStyle/>
          <a:p>
            <a:r>
              <a:rPr lang="en-US" sz="3200" dirty="0"/>
              <a:t>Actions</a:t>
            </a:r>
          </a:p>
          <a:p>
            <a:pPr lvl="1"/>
            <a:r>
              <a:rPr lang="en-US" sz="2800" dirty="0"/>
              <a:t>Move backwards</a:t>
            </a:r>
          </a:p>
          <a:p>
            <a:pPr lvl="1"/>
            <a:r>
              <a:rPr lang="en-US" sz="2800" dirty="0"/>
              <a:t>Move forwards</a:t>
            </a:r>
          </a:p>
          <a:p>
            <a:pPr lvl="1"/>
            <a:r>
              <a:rPr lang="en-US" sz="2800" dirty="0"/>
              <a:t>Light attack</a:t>
            </a:r>
          </a:p>
          <a:p>
            <a:pPr lvl="1"/>
            <a:r>
              <a:rPr lang="en-US" sz="2800" dirty="0"/>
              <a:t>Heavy attack</a:t>
            </a:r>
          </a:p>
          <a:p>
            <a:pPr lvl="1"/>
            <a:r>
              <a:rPr lang="en-US" sz="2800" dirty="0"/>
              <a:t>Special attack</a:t>
            </a:r>
          </a:p>
          <a:p>
            <a:pPr lvl="1"/>
            <a:r>
              <a:rPr lang="en-US" sz="2800" dirty="0"/>
              <a:t>Block</a:t>
            </a:r>
          </a:p>
          <a:p>
            <a:pPr lvl="1"/>
            <a:r>
              <a:rPr lang="en-US" sz="2800" dirty="0"/>
              <a:t>Wait</a:t>
            </a:r>
          </a:p>
        </p:txBody>
      </p:sp>
    </p:spTree>
    <p:extLst>
      <p:ext uri="{BB962C8B-B14F-4D97-AF65-F5344CB8AC3E}">
        <p14:creationId xmlns:p14="http://schemas.microsoft.com/office/powerpoint/2010/main" val="1675308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F6894-AAC1-B5B2-9CD6-E1390B180258}"/>
              </a:ext>
            </a:extLst>
          </p:cNvPr>
          <p:cNvSpPr>
            <a:spLocks noGrp="1"/>
          </p:cNvSpPr>
          <p:nvPr>
            <p:ph type="title"/>
          </p:nvPr>
        </p:nvSpPr>
        <p:spPr/>
        <p:txBody>
          <a:bodyPr>
            <a:normAutofit fontScale="90000"/>
          </a:bodyPr>
          <a:lstStyle/>
          <a:p>
            <a:r>
              <a:rPr lang="en-US" dirty="0"/>
              <a:t>R = α·(damage dealt) − β·(damage received)</a:t>
            </a:r>
          </a:p>
        </p:txBody>
      </p:sp>
      <p:sp>
        <p:nvSpPr>
          <p:cNvPr id="3" name="Text Placeholder 2">
            <a:extLst>
              <a:ext uri="{FF2B5EF4-FFF2-40B4-BE49-F238E27FC236}">
                <a16:creationId xmlns:a16="http://schemas.microsoft.com/office/drawing/2014/main" id="{C38BBB52-DB49-C12E-7713-D426FC645E48}"/>
              </a:ext>
            </a:extLst>
          </p:cNvPr>
          <p:cNvSpPr>
            <a:spLocks noGrp="1"/>
          </p:cNvSpPr>
          <p:nvPr>
            <p:ph type="body" idx="1"/>
          </p:nvPr>
        </p:nvSpPr>
        <p:spPr>
          <a:xfrm>
            <a:off x="521208" y="2340864"/>
            <a:ext cx="2907792" cy="658368"/>
          </a:xfrm>
        </p:spPr>
        <p:txBody>
          <a:bodyPr>
            <a:noAutofit/>
          </a:bodyPr>
          <a:lstStyle/>
          <a:p>
            <a:r>
              <a:rPr lang="en-US" sz="4000" dirty="0"/>
              <a:t>Aggressive</a:t>
            </a:r>
          </a:p>
        </p:txBody>
      </p:sp>
      <p:sp>
        <p:nvSpPr>
          <p:cNvPr id="4" name="Content Placeholder 3">
            <a:extLst>
              <a:ext uri="{FF2B5EF4-FFF2-40B4-BE49-F238E27FC236}">
                <a16:creationId xmlns:a16="http://schemas.microsoft.com/office/drawing/2014/main" id="{29057A8A-F828-340C-D368-CA3FB3C95109}"/>
              </a:ext>
            </a:extLst>
          </p:cNvPr>
          <p:cNvSpPr>
            <a:spLocks noGrp="1"/>
          </p:cNvSpPr>
          <p:nvPr>
            <p:ph sz="half" idx="2"/>
          </p:nvPr>
        </p:nvSpPr>
        <p:spPr>
          <a:xfrm>
            <a:off x="521208" y="3035808"/>
            <a:ext cx="2907792" cy="3310128"/>
          </a:xfrm>
        </p:spPr>
        <p:txBody>
          <a:bodyPr>
            <a:normAutofit/>
          </a:bodyPr>
          <a:lstStyle/>
          <a:p>
            <a:r>
              <a:rPr lang="en-US" sz="3600" dirty="0"/>
              <a:t>Where α &gt; β</a:t>
            </a:r>
          </a:p>
        </p:txBody>
      </p:sp>
      <p:sp>
        <p:nvSpPr>
          <p:cNvPr id="6" name="Content Placeholder 5">
            <a:extLst>
              <a:ext uri="{FF2B5EF4-FFF2-40B4-BE49-F238E27FC236}">
                <a16:creationId xmlns:a16="http://schemas.microsoft.com/office/drawing/2014/main" id="{FF2E78ED-C6B9-EA5B-AFA3-93E191D76485}"/>
              </a:ext>
            </a:extLst>
          </p:cNvPr>
          <p:cNvSpPr>
            <a:spLocks noGrp="1"/>
          </p:cNvSpPr>
          <p:nvPr>
            <p:ph sz="quarter" idx="4"/>
          </p:nvPr>
        </p:nvSpPr>
        <p:spPr>
          <a:xfrm>
            <a:off x="4649724" y="3035808"/>
            <a:ext cx="2907792" cy="3310128"/>
          </a:xfrm>
        </p:spPr>
        <p:txBody>
          <a:bodyPr>
            <a:normAutofit/>
          </a:bodyPr>
          <a:lstStyle/>
          <a:p>
            <a:r>
              <a:rPr lang="en-US" sz="3600" dirty="0"/>
              <a:t>Where α = β</a:t>
            </a:r>
          </a:p>
          <a:p>
            <a:endParaRPr lang="en-US" sz="3600" dirty="0"/>
          </a:p>
        </p:txBody>
      </p:sp>
      <p:sp>
        <p:nvSpPr>
          <p:cNvPr id="9" name="Text Placeholder 4">
            <a:extLst>
              <a:ext uri="{FF2B5EF4-FFF2-40B4-BE49-F238E27FC236}">
                <a16:creationId xmlns:a16="http://schemas.microsoft.com/office/drawing/2014/main" id="{2C03CCBF-02AC-CDFC-6C2C-FF9E29E4AF1E}"/>
              </a:ext>
            </a:extLst>
          </p:cNvPr>
          <p:cNvSpPr>
            <a:spLocks noGrp="1"/>
          </p:cNvSpPr>
          <p:nvPr>
            <p:ph type="body" sz="quarter" idx="3"/>
          </p:nvPr>
        </p:nvSpPr>
        <p:spPr>
          <a:xfrm>
            <a:off x="4649724" y="2340864"/>
            <a:ext cx="2907792" cy="658368"/>
          </a:xfrm>
        </p:spPr>
        <p:txBody>
          <a:bodyPr>
            <a:noAutofit/>
          </a:bodyPr>
          <a:lstStyle/>
          <a:p>
            <a:r>
              <a:rPr lang="en-US" sz="4000" dirty="0"/>
              <a:t>Neutral</a:t>
            </a:r>
          </a:p>
        </p:txBody>
      </p:sp>
      <p:sp>
        <p:nvSpPr>
          <p:cNvPr id="11" name="Text Placeholder 4">
            <a:extLst>
              <a:ext uri="{FF2B5EF4-FFF2-40B4-BE49-F238E27FC236}">
                <a16:creationId xmlns:a16="http://schemas.microsoft.com/office/drawing/2014/main" id="{C0EEB3F9-43B0-60AA-784A-64C674444132}"/>
              </a:ext>
            </a:extLst>
          </p:cNvPr>
          <p:cNvSpPr txBox="1">
            <a:spLocks/>
          </p:cNvSpPr>
          <p:nvPr/>
        </p:nvSpPr>
        <p:spPr>
          <a:xfrm>
            <a:off x="8778240" y="2340864"/>
            <a:ext cx="2907792" cy="658368"/>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200" b="0" i="1" kern="120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2" name="Text Placeholder 4">
            <a:extLst>
              <a:ext uri="{FF2B5EF4-FFF2-40B4-BE49-F238E27FC236}">
                <a16:creationId xmlns:a16="http://schemas.microsoft.com/office/drawing/2014/main" id="{F9E4690B-CBA5-CAFC-6FAA-63A6356EBE6D}"/>
              </a:ext>
            </a:extLst>
          </p:cNvPr>
          <p:cNvSpPr txBox="1">
            <a:spLocks/>
          </p:cNvSpPr>
          <p:nvPr/>
        </p:nvSpPr>
        <p:spPr>
          <a:xfrm>
            <a:off x="8778240" y="2340864"/>
            <a:ext cx="2907792" cy="658368"/>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200" b="0" i="1" kern="120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3" name="Text Placeholder 4">
            <a:extLst>
              <a:ext uri="{FF2B5EF4-FFF2-40B4-BE49-F238E27FC236}">
                <a16:creationId xmlns:a16="http://schemas.microsoft.com/office/drawing/2014/main" id="{989944A7-5CF7-111F-6246-2A1B61A1D260}"/>
              </a:ext>
            </a:extLst>
          </p:cNvPr>
          <p:cNvSpPr txBox="1">
            <a:spLocks/>
          </p:cNvSpPr>
          <p:nvPr/>
        </p:nvSpPr>
        <p:spPr>
          <a:xfrm>
            <a:off x="8778240" y="2340864"/>
            <a:ext cx="2907792" cy="658368"/>
          </a:xfrm>
          <a:prstGeom prst="rect">
            <a:avLst/>
          </a:prstGeom>
        </p:spPr>
        <p:txBody>
          <a:bodyPr vert="horz" lIns="91440" tIns="45720" rIns="91440" bIns="45720" rtlCol="0" anchor="b">
            <a:noAutofit/>
          </a:bodyPr>
          <a:lstStyle>
            <a:lvl1pPr marL="0" indent="0" algn="l" defTabSz="914400" rtl="0" eaLnBrk="1" latinLnBrk="0" hangingPunct="1">
              <a:lnSpc>
                <a:spcPct val="110000"/>
              </a:lnSpc>
              <a:spcBef>
                <a:spcPts val="1000"/>
              </a:spcBef>
              <a:buFont typeface="Arial" panose="020B0604020202020204" pitchFamily="34" charset="0"/>
              <a:buNone/>
              <a:defRPr sz="2200" b="0" i="1" kern="120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4000" dirty="0"/>
              <a:t>Defensive</a:t>
            </a:r>
          </a:p>
        </p:txBody>
      </p:sp>
      <p:sp>
        <p:nvSpPr>
          <p:cNvPr id="14" name="Content Placeholder 5">
            <a:extLst>
              <a:ext uri="{FF2B5EF4-FFF2-40B4-BE49-F238E27FC236}">
                <a16:creationId xmlns:a16="http://schemas.microsoft.com/office/drawing/2014/main" id="{4223E647-07E5-E55A-3B94-A754BD281141}"/>
              </a:ext>
            </a:extLst>
          </p:cNvPr>
          <p:cNvSpPr txBox="1">
            <a:spLocks/>
          </p:cNvSpPr>
          <p:nvPr/>
        </p:nvSpPr>
        <p:spPr>
          <a:xfrm>
            <a:off x="8778240" y="3035808"/>
            <a:ext cx="2907792" cy="33101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Where α &lt; β</a:t>
            </a:r>
          </a:p>
        </p:txBody>
      </p:sp>
      <p:pic>
        <p:nvPicPr>
          <p:cNvPr id="4098" name="Picture 2" descr="Punch Fist Fight Line Art Vector">
            <a:extLst>
              <a:ext uri="{FF2B5EF4-FFF2-40B4-BE49-F238E27FC236}">
                <a16:creationId xmlns:a16="http://schemas.microsoft.com/office/drawing/2014/main" id="{9B060000-3A03-288F-3A95-2922D37A46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60" b="6190"/>
          <a:stretch>
            <a:fillRect/>
          </a:stretch>
        </p:blipFill>
        <p:spPr bwMode="auto">
          <a:xfrm>
            <a:off x="521208" y="3858769"/>
            <a:ext cx="2807208" cy="25019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hrug Line Icon Simple Outline Style ...">
            <a:extLst>
              <a:ext uri="{FF2B5EF4-FFF2-40B4-BE49-F238E27FC236}">
                <a16:creationId xmlns:a16="http://schemas.microsoft.com/office/drawing/2014/main" id="{5EDE044B-32D5-3766-10DA-C9A2DBF0F57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3661" b="13878"/>
          <a:stretch>
            <a:fillRect/>
          </a:stretch>
        </p:blipFill>
        <p:spPr bwMode="auto">
          <a:xfrm>
            <a:off x="4642104" y="3858769"/>
            <a:ext cx="2907792" cy="226898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FE59B607-58A2-8327-6FD2-4BE14899CC37}"/>
              </a:ext>
            </a:extLst>
          </p:cNvPr>
          <p:cNvPicPr>
            <a:picLocks noChangeAspect="1"/>
          </p:cNvPicPr>
          <p:nvPr/>
        </p:nvPicPr>
        <p:blipFill>
          <a:blip r:embed="rId5"/>
          <a:stretch>
            <a:fillRect/>
          </a:stretch>
        </p:blipFill>
        <p:spPr>
          <a:xfrm>
            <a:off x="8778240" y="3713090"/>
            <a:ext cx="2709913" cy="2560340"/>
          </a:xfrm>
          <a:prstGeom prst="rect">
            <a:avLst/>
          </a:prstGeom>
        </p:spPr>
      </p:pic>
    </p:spTree>
    <p:extLst>
      <p:ext uri="{BB962C8B-B14F-4D97-AF65-F5344CB8AC3E}">
        <p14:creationId xmlns:p14="http://schemas.microsoft.com/office/powerpoint/2010/main" val="365774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11">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F420BC5C-C418-4843-B04B-6918968D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5E1290B-CCA8-F247-B5E4-3497A04E885B}"/>
              </a:ext>
            </a:extLst>
          </p:cNvPr>
          <p:cNvSpPr>
            <a:spLocks noGrp="1"/>
          </p:cNvSpPr>
          <p:nvPr>
            <p:ph type="title"/>
          </p:nvPr>
        </p:nvSpPr>
        <p:spPr>
          <a:xfrm>
            <a:off x="521208" y="978408"/>
            <a:ext cx="4288536" cy="3364992"/>
          </a:xfrm>
        </p:spPr>
        <p:txBody>
          <a:bodyPr vert="horz" lIns="91440" tIns="45720" rIns="91440" bIns="45720" rtlCol="0" anchor="t">
            <a:normAutofit/>
          </a:bodyPr>
          <a:lstStyle/>
          <a:p>
            <a:r>
              <a:rPr lang="en-US" b="1" kern="1200">
                <a:solidFill>
                  <a:schemeClr val="tx1"/>
                </a:solidFill>
                <a:latin typeface="+mj-lt"/>
                <a:ea typeface="+mj-ea"/>
                <a:cs typeface="+mj-cs"/>
              </a:rPr>
              <a:t>What this won’t do</a:t>
            </a:r>
          </a:p>
        </p:txBody>
      </p:sp>
      <p:sp>
        <p:nvSpPr>
          <p:cNvPr id="16" name="Rectangle 15">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28853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3">
            <a:extLst>
              <a:ext uri="{FF2B5EF4-FFF2-40B4-BE49-F238E27FC236}">
                <a16:creationId xmlns:a16="http://schemas.microsoft.com/office/drawing/2014/main" id="{80DEB4B6-654F-5806-988A-6A9BF42A4AB8}"/>
              </a:ext>
            </a:extLst>
          </p:cNvPr>
          <p:cNvGraphicFramePr>
            <a:graphicFrameLocks noGrp="1"/>
          </p:cNvGraphicFramePr>
          <p:nvPr>
            <p:ph sz="half" idx="2"/>
            <p:extLst>
              <p:ext uri="{D42A27DB-BD31-4B8C-83A1-F6EECF244321}">
                <p14:modId xmlns:p14="http://schemas.microsoft.com/office/powerpoint/2010/main" val="3430036947"/>
              </p:ext>
            </p:extLst>
          </p:nvPr>
        </p:nvGraphicFramePr>
        <p:xfrm>
          <a:off x="5532120" y="978408"/>
          <a:ext cx="6153912" cy="53675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6115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807D27-CFF6-B62C-FC8C-0E298FFB89E8}"/>
              </a:ext>
            </a:extLst>
          </p:cNvPr>
          <p:cNvSpPr>
            <a:spLocks noGrp="1"/>
          </p:cNvSpPr>
          <p:nvPr>
            <p:ph type="ctrTitle"/>
          </p:nvPr>
        </p:nvSpPr>
        <p:spPr>
          <a:xfrm>
            <a:off x="517869" y="978408"/>
            <a:ext cx="11153213" cy="3421942"/>
          </a:xfrm>
        </p:spPr>
        <p:txBody>
          <a:bodyPr anchor="t">
            <a:normAutofit/>
          </a:bodyPr>
          <a:lstStyle/>
          <a:p>
            <a:r>
              <a:rPr lang="en-US" sz="8800"/>
              <a:t>Conclusion</a:t>
            </a:r>
          </a:p>
        </p:txBody>
      </p:sp>
      <p:sp>
        <p:nvSpPr>
          <p:cNvPr id="3" name="Subtitle 2">
            <a:extLst>
              <a:ext uri="{FF2B5EF4-FFF2-40B4-BE49-F238E27FC236}">
                <a16:creationId xmlns:a16="http://schemas.microsoft.com/office/drawing/2014/main" id="{0A17AF15-40F1-FCF3-8963-EBD3908A50F2}"/>
              </a:ext>
            </a:extLst>
          </p:cNvPr>
          <p:cNvSpPr>
            <a:spLocks noGrp="1"/>
          </p:cNvSpPr>
          <p:nvPr>
            <p:ph type="subTitle" idx="1"/>
          </p:nvPr>
        </p:nvSpPr>
        <p:spPr>
          <a:xfrm>
            <a:off x="517869" y="4763659"/>
            <a:ext cx="8092731" cy="1082957"/>
          </a:xfrm>
        </p:spPr>
        <p:txBody>
          <a:bodyPr anchor="b">
            <a:normAutofit/>
          </a:bodyPr>
          <a:lstStyle/>
          <a:p>
            <a:endParaRPr lang="en-US"/>
          </a:p>
        </p:txBody>
      </p:sp>
      <p:sp>
        <p:nvSpPr>
          <p:cNvPr id="10" name="Freeform: Shape 9">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74BCF1CC-D6F1-21D9-307D-C36BA9E87F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209925"/>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2429772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229</TotalTime>
  <Words>1668</Words>
  <Application>Microsoft Office PowerPoint</Application>
  <PresentationFormat>Widescreen</PresentationFormat>
  <Paragraphs>86</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Bierstadt</vt:lpstr>
      <vt:lpstr>Neue Haas Grotesk Text Pro</vt:lpstr>
      <vt:lpstr>GestaltVTI</vt:lpstr>
      <vt:lpstr>Game Mechanics Balancing using Reinforcement Learning</vt:lpstr>
      <vt:lpstr>Video Games</vt:lpstr>
      <vt:lpstr>Game Balancing</vt:lpstr>
      <vt:lpstr>Reinforcement Learning Applications</vt:lpstr>
      <vt:lpstr>States and Actions</vt:lpstr>
      <vt:lpstr>R = α·(damage dealt) − β·(damage received)</vt:lpstr>
      <vt:lpstr>What this won’t do</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Sharpe</dc:creator>
  <cp:lastModifiedBy>Alex Sharpe</cp:lastModifiedBy>
  <cp:revision>2</cp:revision>
  <dcterms:created xsi:type="dcterms:W3CDTF">2026-02-17T09:15:59Z</dcterms:created>
  <dcterms:modified xsi:type="dcterms:W3CDTF">2026-02-17T13:05:32Z</dcterms:modified>
</cp:coreProperties>
</file>