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70" r:id="rId4"/>
    <p:sldId id="276" r:id="rId5"/>
    <p:sldId id="277" r:id="rId6"/>
    <p:sldId id="283" r:id="rId7"/>
    <p:sldId id="273" r:id="rId8"/>
    <p:sldId id="279" r:id="rId9"/>
    <p:sldId id="280" r:id="rId10"/>
    <p:sldId id="285" r:id="rId11"/>
    <p:sldId id="269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B10AE-779D-4954-B63F-77E06DC386D6}" v="98" dt="2026-02-17T02:18:35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7" autoAdjust="0"/>
    <p:restoredTop sz="70085" autoAdjust="0"/>
  </p:normalViewPr>
  <p:slideViewPr>
    <p:cSldViewPr>
      <p:cViewPr varScale="1">
        <p:scale>
          <a:sx n="44" d="100"/>
          <a:sy n="44" d="100"/>
        </p:scale>
        <p:origin x="156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ak Barclay" userId="17b41c9943577fc1" providerId="LiveId" clId="{0668D14D-C3F1-47B3-9A31-3EAB242D0BDC}"/>
    <pc:docChg chg="undo redo custSel addSld delSld modSld sldOrd">
      <pc:chgData name="Barak Barclay" userId="17b41c9943577fc1" providerId="LiveId" clId="{0668D14D-C3F1-47B3-9A31-3EAB242D0BDC}" dt="2026-02-17T02:25:51.130" v="1958" actId="403"/>
      <pc:docMkLst>
        <pc:docMk/>
      </pc:docMkLst>
      <pc:sldChg chg="modSp mod">
        <pc:chgData name="Barak Barclay" userId="17b41c9943577fc1" providerId="LiveId" clId="{0668D14D-C3F1-47B3-9A31-3EAB242D0BDC}" dt="2026-02-17T01:28:24.872" v="1326" actId="20577"/>
        <pc:sldMkLst>
          <pc:docMk/>
          <pc:sldMk cId="0" sldId="256"/>
        </pc:sldMkLst>
        <pc:spChg chg="mod">
          <ac:chgData name="Barak Barclay" userId="17b41c9943577fc1" providerId="LiveId" clId="{0668D14D-C3F1-47B3-9A31-3EAB242D0BDC}" dt="2026-02-17T00:07:37.073" v="29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Barak Barclay" userId="17b41c9943577fc1" providerId="LiveId" clId="{0668D14D-C3F1-47B3-9A31-3EAB242D0BDC}" dt="2026-02-17T01:28:24.872" v="1326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Barak Barclay" userId="17b41c9943577fc1" providerId="LiveId" clId="{0668D14D-C3F1-47B3-9A31-3EAB242D0BDC}" dt="2026-02-17T00:53:25.823" v="671" actId="20577"/>
        <pc:sldMkLst>
          <pc:docMk/>
          <pc:sldMk cId="0" sldId="268"/>
        </pc:sldMkLst>
        <pc:spChg chg="mod">
          <ac:chgData name="Barak Barclay" userId="17b41c9943577fc1" providerId="LiveId" clId="{0668D14D-C3F1-47B3-9A31-3EAB242D0BDC}" dt="2026-02-17T00:53:25.823" v="671" actId="20577"/>
          <ac:spMkLst>
            <pc:docMk/>
            <pc:sldMk cId="0" sldId="268"/>
            <ac:spMk id="5" creationId="{768A2E88-107F-40A2-E9B9-F9BB676A0F51}"/>
          </ac:spMkLst>
        </pc:spChg>
        <pc:spChg chg="mod">
          <ac:chgData name="Barak Barclay" userId="17b41c9943577fc1" providerId="LiveId" clId="{0668D14D-C3F1-47B3-9A31-3EAB242D0BDC}" dt="2026-02-17T00:18:37.479" v="442" actId="313"/>
          <ac:spMkLst>
            <pc:docMk/>
            <pc:sldMk cId="0" sldId="268"/>
            <ac:spMk id="6" creationId="{00000000-0000-0000-0000-000000000000}"/>
          </ac:spMkLst>
        </pc:spChg>
      </pc:sldChg>
      <pc:sldChg chg="modSp mod modNotesTx">
        <pc:chgData name="Barak Barclay" userId="17b41c9943577fc1" providerId="LiveId" clId="{0668D14D-C3F1-47B3-9A31-3EAB242D0BDC}" dt="2026-02-17T00:57:06.154" v="680" actId="20577"/>
        <pc:sldMkLst>
          <pc:docMk/>
          <pc:sldMk cId="3710835462" sldId="270"/>
        </pc:sldMkLst>
        <pc:spChg chg="mod">
          <ac:chgData name="Barak Barclay" userId="17b41c9943577fc1" providerId="LiveId" clId="{0668D14D-C3F1-47B3-9A31-3EAB242D0BDC}" dt="2026-02-17T00:48:09.741" v="652" actId="20577"/>
          <ac:spMkLst>
            <pc:docMk/>
            <pc:sldMk cId="3710835462" sldId="270"/>
            <ac:spMk id="5" creationId="{D058CA32-0882-40A6-9AC2-A955415265CC}"/>
          </ac:spMkLst>
        </pc:spChg>
      </pc:sldChg>
      <pc:sldChg chg="del">
        <pc:chgData name="Barak Barclay" userId="17b41c9943577fc1" providerId="LiveId" clId="{0668D14D-C3F1-47B3-9A31-3EAB242D0BDC}" dt="2026-02-16T23:49:34.778" v="256" actId="47"/>
        <pc:sldMkLst>
          <pc:docMk/>
          <pc:sldMk cId="908491712" sldId="271"/>
        </pc:sldMkLst>
      </pc:sldChg>
      <pc:sldChg chg="modSp del mod ord">
        <pc:chgData name="Barak Barclay" userId="17b41c9943577fc1" providerId="LiveId" clId="{0668D14D-C3F1-47B3-9A31-3EAB242D0BDC}" dt="2026-02-17T01:41:56.447" v="1529" actId="47"/>
        <pc:sldMkLst>
          <pc:docMk/>
          <pc:sldMk cId="3558778592" sldId="272"/>
        </pc:sldMkLst>
        <pc:spChg chg="mod">
          <ac:chgData name="Barak Barclay" userId="17b41c9943577fc1" providerId="LiveId" clId="{0668D14D-C3F1-47B3-9A31-3EAB242D0BDC}" dt="2026-02-17T01:41:47.852" v="1528" actId="21"/>
          <ac:spMkLst>
            <pc:docMk/>
            <pc:sldMk cId="3558778592" sldId="272"/>
            <ac:spMk id="5" creationId="{E68B37A3-712F-A695-4FCB-CF69CD08381B}"/>
          </ac:spMkLst>
        </pc:spChg>
      </pc:sldChg>
      <pc:sldChg chg="modSp mod">
        <pc:chgData name="Barak Barclay" userId="17b41c9943577fc1" providerId="LiveId" clId="{0668D14D-C3F1-47B3-9A31-3EAB242D0BDC}" dt="2026-02-17T01:27:24.317" v="1315" actId="6549"/>
        <pc:sldMkLst>
          <pc:docMk/>
          <pc:sldMk cId="3465957151" sldId="273"/>
        </pc:sldMkLst>
        <pc:spChg chg="mod">
          <ac:chgData name="Barak Barclay" userId="17b41c9943577fc1" providerId="LiveId" clId="{0668D14D-C3F1-47B3-9A31-3EAB242D0BDC}" dt="2026-02-17T01:27:24.317" v="1315" actId="6549"/>
          <ac:spMkLst>
            <pc:docMk/>
            <pc:sldMk cId="3465957151" sldId="273"/>
            <ac:spMk id="5" creationId="{70557E18-585D-325F-4688-A1423ADB8E78}"/>
          </ac:spMkLst>
        </pc:spChg>
      </pc:sldChg>
      <pc:sldChg chg="del">
        <pc:chgData name="Barak Barclay" userId="17b41c9943577fc1" providerId="LiveId" clId="{0668D14D-C3F1-47B3-9A31-3EAB242D0BDC}" dt="2026-02-16T23:49:33.254" v="255" actId="47"/>
        <pc:sldMkLst>
          <pc:docMk/>
          <pc:sldMk cId="499746730" sldId="274"/>
        </pc:sldMkLst>
      </pc:sldChg>
      <pc:sldChg chg="del">
        <pc:chgData name="Barak Barclay" userId="17b41c9943577fc1" providerId="LiveId" clId="{0668D14D-C3F1-47B3-9A31-3EAB242D0BDC}" dt="2026-02-17T01:23:48.872" v="1173" actId="47"/>
        <pc:sldMkLst>
          <pc:docMk/>
          <pc:sldMk cId="2528165736" sldId="275"/>
        </pc:sldMkLst>
      </pc:sldChg>
      <pc:sldChg chg="addSp modSp mod modNotesTx">
        <pc:chgData name="Barak Barclay" userId="17b41c9943577fc1" providerId="LiveId" clId="{0668D14D-C3F1-47B3-9A31-3EAB242D0BDC}" dt="2026-02-17T02:20:12.227" v="1940" actId="113"/>
        <pc:sldMkLst>
          <pc:docMk/>
          <pc:sldMk cId="3679066463" sldId="276"/>
        </pc:sldMkLst>
        <pc:spChg chg="mod">
          <ac:chgData name="Barak Barclay" userId="17b41c9943577fc1" providerId="LiveId" clId="{0668D14D-C3F1-47B3-9A31-3EAB242D0BDC}" dt="2026-02-17T02:13:04.040" v="1695" actId="20577"/>
          <ac:spMkLst>
            <pc:docMk/>
            <pc:sldMk cId="3679066463" sldId="276"/>
            <ac:spMk id="5" creationId="{9A09FD77-74B1-4EA9-CE8D-93B243944D86}"/>
          </ac:spMkLst>
        </pc:spChg>
      </pc:sldChg>
      <pc:sldChg chg="modSp mod">
        <pc:chgData name="Barak Barclay" userId="17b41c9943577fc1" providerId="LiveId" clId="{0668D14D-C3F1-47B3-9A31-3EAB242D0BDC}" dt="2026-02-17T02:22:30.055" v="1951" actId="20577"/>
        <pc:sldMkLst>
          <pc:docMk/>
          <pc:sldMk cId="2592555907" sldId="277"/>
        </pc:sldMkLst>
        <pc:spChg chg="mod">
          <ac:chgData name="Barak Barclay" userId="17b41c9943577fc1" providerId="LiveId" clId="{0668D14D-C3F1-47B3-9A31-3EAB242D0BDC}" dt="2026-02-17T02:15:53.599" v="1717" actId="6549"/>
          <ac:spMkLst>
            <pc:docMk/>
            <pc:sldMk cId="2592555907" sldId="277"/>
            <ac:spMk id="5" creationId="{6BEE3E7E-22F2-700D-E226-4D434CC2C8D2}"/>
          </ac:spMkLst>
        </pc:spChg>
        <pc:spChg chg="mod">
          <ac:chgData name="Barak Barclay" userId="17b41c9943577fc1" providerId="LiveId" clId="{0668D14D-C3F1-47B3-9A31-3EAB242D0BDC}" dt="2026-02-17T02:22:30.055" v="1951" actId="20577"/>
          <ac:spMkLst>
            <pc:docMk/>
            <pc:sldMk cId="2592555907" sldId="277"/>
            <ac:spMk id="6" creationId="{190EF4CF-82C3-9FE0-4E0E-050B621F52C9}"/>
          </ac:spMkLst>
        </pc:spChg>
      </pc:sldChg>
      <pc:sldChg chg="del">
        <pc:chgData name="Barak Barclay" userId="17b41c9943577fc1" providerId="LiveId" clId="{0668D14D-C3F1-47B3-9A31-3EAB242D0BDC}" dt="2026-02-16T23:49:31.626" v="254" actId="47"/>
        <pc:sldMkLst>
          <pc:docMk/>
          <pc:sldMk cId="265830292" sldId="278"/>
        </pc:sldMkLst>
      </pc:sldChg>
      <pc:sldChg chg="modSp mod">
        <pc:chgData name="Barak Barclay" userId="17b41c9943577fc1" providerId="LiveId" clId="{0668D14D-C3F1-47B3-9A31-3EAB242D0BDC}" dt="2026-02-17T02:25:51.130" v="1958" actId="403"/>
        <pc:sldMkLst>
          <pc:docMk/>
          <pc:sldMk cId="124980721" sldId="279"/>
        </pc:sldMkLst>
        <pc:spChg chg="mod">
          <ac:chgData name="Barak Barclay" userId="17b41c9943577fc1" providerId="LiveId" clId="{0668D14D-C3F1-47B3-9A31-3EAB242D0BDC}" dt="2026-02-17T02:25:51.130" v="1958" actId="403"/>
          <ac:spMkLst>
            <pc:docMk/>
            <pc:sldMk cId="124980721" sldId="279"/>
            <ac:spMk id="5" creationId="{82E4A761-7EB8-29D4-742B-80C77D63B2DF}"/>
          </ac:spMkLst>
        </pc:spChg>
      </pc:sldChg>
      <pc:sldChg chg="modSp mod">
        <pc:chgData name="Barak Barclay" userId="17b41c9943577fc1" providerId="LiveId" clId="{0668D14D-C3F1-47B3-9A31-3EAB242D0BDC}" dt="2026-02-17T01:46:16.299" v="1582" actId="20577"/>
        <pc:sldMkLst>
          <pc:docMk/>
          <pc:sldMk cId="3715340108" sldId="280"/>
        </pc:sldMkLst>
        <pc:spChg chg="mod">
          <ac:chgData name="Barak Barclay" userId="17b41c9943577fc1" providerId="LiveId" clId="{0668D14D-C3F1-47B3-9A31-3EAB242D0BDC}" dt="2026-02-17T01:46:16.299" v="1582" actId="20577"/>
          <ac:spMkLst>
            <pc:docMk/>
            <pc:sldMk cId="3715340108" sldId="280"/>
            <ac:spMk id="5" creationId="{B9FE627D-2CFD-0287-D8D5-A74BC67CF1C3}"/>
          </ac:spMkLst>
        </pc:spChg>
      </pc:sldChg>
      <pc:sldChg chg="del">
        <pc:chgData name="Barak Barclay" userId="17b41c9943577fc1" providerId="LiveId" clId="{0668D14D-C3F1-47B3-9A31-3EAB242D0BDC}" dt="2026-02-17T01:45:55.866" v="1581" actId="47"/>
        <pc:sldMkLst>
          <pc:docMk/>
          <pc:sldMk cId="1723125156" sldId="281"/>
        </pc:sldMkLst>
      </pc:sldChg>
      <pc:sldChg chg="modSp del mod">
        <pc:chgData name="Barak Barclay" userId="17b41c9943577fc1" providerId="LiveId" clId="{0668D14D-C3F1-47B3-9A31-3EAB242D0BDC}" dt="2026-02-17T01:53:54.836" v="1654" actId="47"/>
        <pc:sldMkLst>
          <pc:docMk/>
          <pc:sldMk cId="3763006497" sldId="282"/>
        </pc:sldMkLst>
        <pc:spChg chg="mod">
          <ac:chgData name="Barak Barclay" userId="17b41c9943577fc1" providerId="LiveId" clId="{0668D14D-C3F1-47B3-9A31-3EAB242D0BDC}" dt="2026-02-17T01:49:58.720" v="1650" actId="403"/>
          <ac:spMkLst>
            <pc:docMk/>
            <pc:sldMk cId="3763006497" sldId="282"/>
            <ac:spMk id="5" creationId="{4F6CCC5E-5FC0-97D0-AC5C-5C2774614BD9}"/>
          </ac:spMkLst>
        </pc:spChg>
        <pc:spChg chg="mod">
          <ac:chgData name="Barak Barclay" userId="17b41c9943577fc1" providerId="LiveId" clId="{0668D14D-C3F1-47B3-9A31-3EAB242D0BDC}" dt="2026-02-17T01:51:14.753" v="1653" actId="20577"/>
          <ac:spMkLst>
            <pc:docMk/>
            <pc:sldMk cId="3763006497" sldId="282"/>
            <ac:spMk id="6" creationId="{D64D99EC-C2DA-6B94-477C-264E26BE40CC}"/>
          </ac:spMkLst>
        </pc:spChg>
      </pc:sldChg>
      <pc:sldChg chg="addSp modSp add mod modNotesTx">
        <pc:chgData name="Barak Barclay" userId="17b41c9943577fc1" providerId="LiveId" clId="{0668D14D-C3F1-47B3-9A31-3EAB242D0BDC}" dt="2026-02-17T01:23:45.154" v="1172" actId="313"/>
        <pc:sldMkLst>
          <pc:docMk/>
          <pc:sldMk cId="3776626012" sldId="283"/>
        </pc:sldMkLst>
        <pc:spChg chg="add">
          <ac:chgData name="Barak Barclay" userId="17b41c9943577fc1" providerId="LiveId" clId="{0668D14D-C3F1-47B3-9A31-3EAB242D0BDC}" dt="2026-02-16T23:39:08.383" v="107"/>
          <ac:spMkLst>
            <pc:docMk/>
            <pc:sldMk cId="3776626012" sldId="283"/>
            <ac:spMk id="2" creationId="{5AA0EA68-B177-5F5D-2F19-2396261ED853}"/>
          </ac:spMkLst>
        </pc:spChg>
        <pc:spChg chg="mod">
          <ac:chgData name="Barak Barclay" userId="17b41c9943577fc1" providerId="LiveId" clId="{0668D14D-C3F1-47B3-9A31-3EAB242D0BDC}" dt="2026-02-17T01:14:38.067" v="1132" actId="20577"/>
          <ac:spMkLst>
            <pc:docMk/>
            <pc:sldMk cId="3776626012" sldId="283"/>
            <ac:spMk id="5" creationId="{BFC4B438-7B7B-DA39-5C27-2EDE73A64E45}"/>
          </ac:spMkLst>
        </pc:spChg>
        <pc:spChg chg="mod">
          <ac:chgData name="Barak Barclay" userId="17b41c9943577fc1" providerId="LiveId" clId="{0668D14D-C3F1-47B3-9A31-3EAB242D0BDC}" dt="2026-02-17T01:23:45.154" v="1172" actId="313"/>
          <ac:spMkLst>
            <pc:docMk/>
            <pc:sldMk cId="3776626012" sldId="283"/>
            <ac:spMk id="6" creationId="{792C7557-505A-0322-AA89-A02AD728FB6E}"/>
          </ac:spMkLst>
        </pc:spChg>
      </pc:sldChg>
      <pc:sldChg chg="addSp delSp modSp add mod ord">
        <pc:chgData name="Barak Barclay" userId="17b41c9943577fc1" providerId="LiveId" clId="{0668D14D-C3F1-47B3-9A31-3EAB242D0BDC}" dt="2026-02-17T00:43:31.438" v="577"/>
        <pc:sldMkLst>
          <pc:docMk/>
          <pc:sldMk cId="671480808" sldId="284"/>
        </pc:sldMkLst>
        <pc:spChg chg="add del mod">
          <ac:chgData name="Barak Barclay" userId="17b41c9943577fc1" providerId="LiveId" clId="{0668D14D-C3F1-47B3-9A31-3EAB242D0BDC}" dt="2026-02-17T00:40:32.918" v="575" actId="113"/>
          <ac:spMkLst>
            <pc:docMk/>
            <pc:sldMk cId="671480808" sldId="284"/>
            <ac:spMk id="5" creationId="{F1721BE2-0661-8268-BB4C-EF1F0E5FE61C}"/>
          </ac:spMkLst>
        </pc:spChg>
        <pc:spChg chg="mod">
          <ac:chgData name="Barak Barclay" userId="17b41c9943577fc1" providerId="LiveId" clId="{0668D14D-C3F1-47B3-9A31-3EAB242D0BDC}" dt="2026-02-17T00:23:12.733" v="461" actId="20577"/>
          <ac:spMkLst>
            <pc:docMk/>
            <pc:sldMk cId="671480808" sldId="284"/>
            <ac:spMk id="6" creationId="{6F4A4DFE-6FF7-B92C-86B1-237858C78E68}"/>
          </ac:spMkLst>
        </pc:spChg>
        <pc:picChg chg="add del mod ord">
          <ac:chgData name="Barak Barclay" userId="17b41c9943577fc1" providerId="LiveId" clId="{0668D14D-C3F1-47B3-9A31-3EAB242D0BDC}" dt="2026-02-17T00:27:34.977" v="488" actId="22"/>
          <ac:picMkLst>
            <pc:docMk/>
            <pc:sldMk cId="671480808" sldId="284"/>
            <ac:picMk id="3" creationId="{AA6C1159-85FC-B291-88FD-4F429EBDB93E}"/>
          </ac:picMkLst>
        </pc:picChg>
        <pc:picChg chg="add mod">
          <ac:chgData name="Barak Barclay" userId="17b41c9943577fc1" providerId="LiveId" clId="{0668D14D-C3F1-47B3-9A31-3EAB242D0BDC}" dt="2026-02-17T00:40:21.273" v="572" actId="1076"/>
          <ac:picMkLst>
            <pc:docMk/>
            <pc:sldMk cId="671480808" sldId="284"/>
            <ac:picMk id="7" creationId="{850ADC98-3347-723B-1684-3810093C4C5E}"/>
          </ac:picMkLst>
        </pc:picChg>
        <pc:picChg chg="add mod">
          <ac:chgData name="Barak Barclay" userId="17b41c9943577fc1" providerId="LiveId" clId="{0668D14D-C3F1-47B3-9A31-3EAB242D0BDC}" dt="2026-02-17T00:40:10.322" v="570" actId="1076"/>
          <ac:picMkLst>
            <pc:docMk/>
            <pc:sldMk cId="671480808" sldId="284"/>
            <ac:picMk id="9" creationId="{F92ADF1C-5403-BA18-843C-65A2735F5894}"/>
          </ac:picMkLst>
        </pc:picChg>
        <pc:picChg chg="add mod">
          <ac:chgData name="Barak Barclay" userId="17b41c9943577fc1" providerId="LiveId" clId="{0668D14D-C3F1-47B3-9A31-3EAB242D0BDC}" dt="2026-02-17T00:40:08.639" v="569" actId="1076"/>
          <ac:picMkLst>
            <pc:docMk/>
            <pc:sldMk cId="671480808" sldId="284"/>
            <ac:picMk id="11" creationId="{A733B492-9322-1171-4322-AC115BD34F44}"/>
          </ac:picMkLst>
        </pc:picChg>
        <pc:picChg chg="add mod">
          <ac:chgData name="Barak Barclay" userId="17b41c9943577fc1" providerId="LiveId" clId="{0668D14D-C3F1-47B3-9A31-3EAB242D0BDC}" dt="2026-02-17T00:40:18.182" v="571" actId="1076"/>
          <ac:picMkLst>
            <pc:docMk/>
            <pc:sldMk cId="671480808" sldId="284"/>
            <ac:picMk id="13" creationId="{53DD5BC7-BBC5-D507-E298-6349CB43DD80}"/>
          </ac:picMkLst>
        </pc:picChg>
        <pc:picChg chg="add">
          <ac:chgData name="Barak Barclay" userId="17b41c9943577fc1" providerId="LiveId" clId="{0668D14D-C3F1-47B3-9A31-3EAB242D0BDC}" dt="2026-02-17T00:32:06.005" v="503"/>
          <ac:picMkLst>
            <pc:docMk/>
            <pc:sldMk cId="671480808" sldId="284"/>
            <ac:picMk id="2050" creationId="{80A0FC19-3B0E-2322-8D34-21BB04444E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0658A-C394-44E3-B61F-15EFCCFA9DA0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665C3-81C7-43B7-9349-E62C44DEF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8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Normalization: </a:t>
            </a:r>
            <a:r>
              <a:rPr lang="en-US" dirty="0"/>
              <a:t>Growth metrics in the stock market can be extremely volatile; one company might have 5% growth while another has 5,000%. If you feed these raw numbers into a Reinforcement Learning agent, the massive outliers will "overwhelm" the smaller, more common values, leading to training instability. Symmetric log-scaling is a transformation that "squashes" large numbers while preserving their direction (positive or negative) and their scale near zero.</a:t>
            </a:r>
          </a:p>
          <a:p>
            <a:endParaRPr lang="en-US" dirty="0"/>
          </a:p>
          <a:p>
            <a:r>
              <a:rPr lang="en-US" b="1" dirty="0">
                <a:latin typeface="+mn-lt"/>
              </a:rPr>
              <a:t>State Space Normalization:</a:t>
            </a:r>
            <a:r>
              <a:rPr lang="en-US" dirty="0">
                <a:latin typeface="+mn-lt"/>
              </a:rPr>
              <a:t> </a:t>
            </a:r>
            <a:r>
              <a:rPr lang="en-US" dirty="0"/>
              <a:t>Deep Reinforcement Learning (RL) agents struggle when inputs have vastly different scales—for example, a </a:t>
            </a:r>
            <a:r>
              <a:rPr lang="en-US" b="0" dirty="0"/>
              <a:t>Market Cap</a:t>
            </a:r>
            <a:r>
              <a:rPr lang="en-US" dirty="0"/>
              <a:t> in the trillions versus a </a:t>
            </a:r>
            <a:r>
              <a:rPr lang="en-US" b="0" dirty="0"/>
              <a:t>PEG Ratio </a:t>
            </a:r>
            <a:r>
              <a:rPr lang="en-US" dirty="0"/>
              <a:t>near 1.0. Normalization ensures these values are on a similar "playing field" for the function approximation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65C3-81C7-43B7-9349-E62C44DEF5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30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Dollar-Cost Averaging </a:t>
            </a:r>
            <a:r>
              <a:rPr lang="en-US" b="0" dirty="0"/>
              <a:t>is </a:t>
            </a:r>
            <a:r>
              <a:rPr lang="en-US" dirty="0"/>
              <a:t>an investment strategy where a fixed dollar amount is invested on a regular schedule, regardless of the asset's price.</a:t>
            </a:r>
          </a:p>
          <a:p>
            <a:endParaRPr lang="en-US" dirty="0"/>
          </a:p>
          <a:p>
            <a:r>
              <a:rPr lang="en-US" b="1" dirty="0"/>
              <a:t>Time Constraint: </a:t>
            </a:r>
            <a:r>
              <a:rPr lang="en-US" b="0" dirty="0"/>
              <a:t>I will either introduce a time constraint or use the average for the day</a:t>
            </a:r>
          </a:p>
          <a:p>
            <a:endParaRPr lang="en-US" dirty="0"/>
          </a:p>
          <a:p>
            <a:r>
              <a:rPr lang="en-US" sz="1200" b="1" dirty="0">
                <a:latin typeface="+mn-lt"/>
              </a:rPr>
              <a:t>The 3-Year Rule: </a:t>
            </a:r>
            <a:r>
              <a:rPr lang="en-US" dirty="0"/>
              <a:t>Most RL agents "over-trade" to chase small gains. By forcing a 3-year lock-up, I am mathematically forcing the agent to prioritize companies with "Durable Competitive Advantages" (High ROE and Low Debt) over temporary price spikes.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65C3-81C7-43B7-9349-E62C44DEF5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9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Ranking-Based Policy: </a:t>
            </a:r>
            <a:r>
              <a:rPr lang="en-US" dirty="0"/>
              <a:t>Instead of the agent outputting a probability for every possible combination of 8 to 200 stocks (which would be a mathematically impossible number of combinations), it assigns a </a:t>
            </a:r>
            <a:r>
              <a:rPr lang="en-US" b="1" dirty="0"/>
              <a:t>preference score</a:t>
            </a:r>
            <a:r>
              <a:rPr lang="en-US" dirty="0"/>
              <a:t> to every individual stock in the S&amp;P 500.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 err="1"/>
              <a:t>Softmax</a:t>
            </a:r>
            <a:r>
              <a:rPr lang="en-US" b="1" dirty="0"/>
              <a:t> layer</a:t>
            </a:r>
            <a:r>
              <a:rPr lang="en-US" dirty="0"/>
              <a:t> is a mathematical function that takes those raw preference scores and turns them into a probability distribution that sums to 1.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Internal Rate of Return (IRR)</a:t>
            </a:r>
            <a:r>
              <a:rPr lang="en-US" dirty="0"/>
              <a:t> is a financial metric used to estimate the profitability of potential investments.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High-Dimensional Fundamental States: </a:t>
            </a:r>
            <a:r>
              <a:rPr lang="en-US" dirty="0"/>
              <a:t>In my project, the </a:t>
            </a:r>
            <a:r>
              <a:rPr lang="en-US" b="1" dirty="0"/>
              <a:t>State Space</a:t>
            </a:r>
            <a:r>
              <a:rPr lang="en-US" dirty="0"/>
              <a:t> is not just a single number; it is a "high-dimensional" collection of data points.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Non-linear Function Approximation:</a:t>
            </a:r>
            <a:r>
              <a:rPr lang="en-US" dirty="0"/>
              <a:t> Neural networks use "activation functions" that allow the agent to understand complex, non-obvious relationships—for example, a high ROE might be good, but only if the Debt-to-Equity ratio is below a certain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65C3-81C7-43B7-9349-E62C44DEF5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36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807077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07077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9200" y="5807077"/>
            <a:ext cx="28448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 descr="UCCS Signature - Revers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905" y="2667000"/>
            <a:ext cx="7688189" cy="1064345"/>
          </a:xfrm>
          <a:prstGeom prst="rect">
            <a:avLst/>
          </a:prstGeom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6489C93-559C-E0E8-AD5E-6C0FF3D09A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00" y="4392972"/>
            <a:ext cx="4800600" cy="91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ADDE-98E8-4149-84E6-9A28F99CE161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 descr="UCCS Signature - Reverse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51380"/>
            <a:ext cx="2743200" cy="373833"/>
          </a:xfrm>
          <a:prstGeom prst="rect">
            <a:avLst/>
          </a:prstGeom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5FAEC4B-BC15-718B-ACB7-3C20F45C72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994" y="6297678"/>
            <a:ext cx="2232406" cy="4237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Reinforcement Learning for Long-Term Stock Market Asset Rotation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Choosing stocks within the S&amp;P 500 using Fundamental Features and Liquidity Constraints</a:t>
            </a:r>
          </a:p>
          <a:p>
            <a:endParaRPr lang="en-US" dirty="0"/>
          </a:p>
          <a:p>
            <a:r>
              <a:rPr lang="en-US" dirty="0"/>
              <a:t>Presenter: Barak Barclay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and Stock Constraints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8A2E88-107F-40A2-E9B9-F9BB676A0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</a:rPr>
              <a:t>Problem: </a:t>
            </a:r>
            <a:r>
              <a:rPr lang="en-US" dirty="0">
                <a:latin typeface="+mn-lt"/>
              </a:rPr>
              <a:t>Traditional algorithmic trading prioritizes high-frequency noise over operational quality.</a:t>
            </a:r>
          </a:p>
          <a:p>
            <a:r>
              <a:rPr lang="en-US" b="1" dirty="0">
                <a:latin typeface="+mn-lt"/>
              </a:rPr>
              <a:t>Vision: </a:t>
            </a:r>
            <a:r>
              <a:rPr lang="en-US" dirty="0">
                <a:latin typeface="+mn-lt"/>
              </a:rPr>
              <a:t>Using RL to identify long-term value through "Fundamental Features/Metrics".</a:t>
            </a:r>
          </a:p>
          <a:p>
            <a:r>
              <a:rPr lang="en-US" b="1" dirty="0">
                <a:latin typeface="+mn-lt"/>
              </a:rPr>
              <a:t>Stock Constraints:</a:t>
            </a:r>
          </a:p>
          <a:p>
            <a:pPr lvl="1"/>
            <a:r>
              <a:rPr lang="en-US" dirty="0">
                <a:latin typeface="+mn-lt"/>
              </a:rPr>
              <a:t>S&amp;P 500 businesses.</a:t>
            </a:r>
          </a:p>
          <a:p>
            <a:pPr lvl="1"/>
            <a:r>
              <a:rPr lang="en-US" b="1" dirty="0">
                <a:latin typeface="+mn-lt"/>
              </a:rPr>
              <a:t>The Double Blacklist</a:t>
            </a:r>
            <a:r>
              <a:rPr lang="en-US" b="1" dirty="0"/>
              <a:t> (Stretch Goal): </a:t>
            </a:r>
            <a:endParaRPr lang="en-US" dirty="0">
              <a:latin typeface="+mn-lt"/>
            </a:endParaRPr>
          </a:p>
          <a:p>
            <a:pPr lvl="2"/>
            <a:r>
              <a:rPr lang="en-US" b="1" dirty="0"/>
              <a:t>Sin Stocks:</a:t>
            </a:r>
            <a:r>
              <a:rPr lang="en-US" dirty="0"/>
              <a:t> </a:t>
            </a:r>
            <a:r>
              <a:rPr lang="en-US" b="0" dirty="0"/>
              <a:t>No gambling, tobacco, or addictive substance sectors.</a:t>
            </a:r>
          </a:p>
          <a:p>
            <a:pPr lvl="2"/>
            <a:r>
              <a:rPr lang="en-US" b="1" dirty="0">
                <a:latin typeface="+mn-lt"/>
              </a:rPr>
              <a:t>Debt-Profiteers:</a:t>
            </a:r>
            <a:r>
              <a:rPr lang="en-US" dirty="0">
                <a:latin typeface="+mn-lt"/>
              </a:rPr>
              <a:t> </a:t>
            </a:r>
            <a:r>
              <a:rPr lang="en-US" b="0" dirty="0"/>
              <a:t>No banks or financial conglomerates (including Berkshire Hathaway).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59D8-6E1B-1A32-212D-0A9D253F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0078AB-DC16-0BC8-E52A-6D3E6E5F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and Feature Engineering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58CA32-0882-40A6-9AC2-A95541526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latin typeface="+mn-lt"/>
              </a:rPr>
              <a:t>The 14 Features: </a:t>
            </a:r>
            <a:r>
              <a:rPr lang="en-US" dirty="0">
                <a:latin typeface="+mn-lt"/>
              </a:rPr>
              <a:t>Each stock is analyzed via 7 metrics + their growth rates:</a:t>
            </a:r>
          </a:p>
          <a:p>
            <a:pPr lvl="1"/>
            <a:r>
              <a:rPr lang="en-US" b="1" dirty="0"/>
              <a:t>Earnings/Income: </a:t>
            </a:r>
            <a:r>
              <a:rPr lang="en-US" dirty="0"/>
              <a:t>EPS and Net Income.</a:t>
            </a:r>
          </a:p>
          <a:p>
            <a:pPr lvl="1"/>
            <a:r>
              <a:rPr lang="en-US" b="1" dirty="0"/>
              <a:t>Efficiency/Scale: </a:t>
            </a:r>
            <a:r>
              <a:rPr lang="en-US" dirty="0"/>
              <a:t>ROE and Market Cap.</a:t>
            </a:r>
          </a:p>
          <a:p>
            <a:pPr lvl="1"/>
            <a:r>
              <a:rPr lang="en-US" b="1" dirty="0"/>
              <a:t>Health/Safety:</a:t>
            </a:r>
            <a:r>
              <a:rPr lang="en-US" dirty="0"/>
              <a:t> Net Cash and Free Cash Flow.</a:t>
            </a:r>
          </a:p>
          <a:p>
            <a:pPr lvl="1"/>
            <a:r>
              <a:rPr lang="en-US" b="1" dirty="0"/>
              <a:t>Value: </a:t>
            </a:r>
            <a:r>
              <a:rPr lang="en-US" dirty="0"/>
              <a:t>PEG Ratio.</a:t>
            </a:r>
          </a:p>
          <a:p>
            <a:r>
              <a:rPr lang="en-US" b="1" dirty="0">
                <a:latin typeface="+mn-lt"/>
              </a:rPr>
              <a:t>Imputation Strategy:</a:t>
            </a:r>
            <a:r>
              <a:rPr lang="en-US" dirty="0">
                <a:latin typeface="+mn-lt"/>
              </a:rPr>
              <a:t> "</a:t>
            </a:r>
            <a:r>
              <a:rPr lang="en-US" dirty="0" err="1">
                <a:latin typeface="+mn-lt"/>
              </a:rPr>
              <a:t>NaN</a:t>
            </a:r>
            <a:r>
              <a:rPr lang="en-US" dirty="0">
                <a:latin typeface="+mn-lt"/>
              </a:rPr>
              <a:t>" data (e.g., PEG for negative earnings) mapped to a penalty value.</a:t>
            </a:r>
          </a:p>
          <a:p>
            <a:r>
              <a:rPr lang="en-US" b="1" dirty="0">
                <a:latin typeface="+mn-lt"/>
              </a:rPr>
              <a:t>Normalization: </a:t>
            </a:r>
            <a:r>
              <a:rPr lang="en-US" dirty="0">
                <a:latin typeface="+mn-lt"/>
              </a:rPr>
              <a:t>Growth metrics will be transformed using symmetric log-scaling for numerical stability.</a:t>
            </a:r>
          </a:p>
          <a:p>
            <a:r>
              <a:rPr lang="en-US" b="1" dirty="0">
                <a:latin typeface="+mn-lt"/>
              </a:rPr>
              <a:t>State Space Normalization:</a:t>
            </a:r>
            <a:r>
              <a:rPr lang="en-US" dirty="0">
                <a:latin typeface="+mn-lt"/>
              </a:rPr>
              <a:t> Z-score and Symmetric Log-Scaling used to stabilize Deep RL function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371083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699F-EC9E-A27C-E04E-74A38844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DB009C-2C03-84B2-C904-C15DF649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Capital and Temporal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09FD77-74B1-4EA9-CE8D-93B243944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b="1" dirty="0">
                    <a:latin typeface="+mn-lt"/>
                  </a:rPr>
                  <a:t>Dollar-Cost Averaging (DCA) Inflow: </a:t>
                </a:r>
                <a:r>
                  <a:rPr lang="en-US" sz="2400" dirty="0">
                    <a:latin typeface="+mn-lt"/>
                  </a:rPr>
                  <a:t>Starting with $100; recurring $100 deposit every Monday.</a:t>
                </a:r>
              </a:p>
              <a:p>
                <a:r>
                  <a:rPr lang="en-US" sz="2400" b="1" dirty="0">
                    <a:latin typeface="+mn-lt"/>
                  </a:rPr>
                  <a:t>Day Constraint: </a:t>
                </a:r>
                <a:r>
                  <a:rPr lang="en-US" sz="2400" dirty="0">
                    <a:latin typeface="+mn-lt"/>
                  </a:rPr>
                  <a:t>Agents can only buy stock on Mondays and sell on Fridays.</a:t>
                </a:r>
              </a:p>
              <a:p>
                <a:r>
                  <a:rPr lang="en-US" sz="2400" b="1" dirty="0">
                    <a:latin typeface="+mn-lt"/>
                  </a:rPr>
                  <a:t>The "Zero-Interest" Constraint: </a:t>
                </a:r>
                <a:r>
                  <a:rPr lang="en-US" sz="2400" dirty="0">
                    <a:latin typeface="+mn-lt"/>
                  </a:rPr>
                  <a:t>The environment assumes cash yields 0% while uninvested.</a:t>
                </a:r>
              </a:p>
              <a:p>
                <a:r>
                  <a:rPr lang="en-US" sz="2400" b="1" dirty="0">
                    <a:latin typeface="+mn-lt"/>
                  </a:rPr>
                  <a:t>Constrained Action Space:</a:t>
                </a:r>
                <a:r>
                  <a:rPr lang="en-US" sz="2400" dirty="0">
                    <a:latin typeface="+mn-lt"/>
                  </a:rPr>
                  <a:t> Agent limited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≤200</m:t>
                    </m:r>
                  </m:oMath>
                </a14:m>
                <a:r>
                  <a:rPr lang="en-US" sz="2400" dirty="0">
                    <a:latin typeface="+mn-lt"/>
                  </a:rPr>
                  <a:t> stock portfolio to ensure diversification.</a:t>
                </a:r>
              </a:p>
              <a:p>
                <a:r>
                  <a:rPr lang="en-US" sz="2400" b="1" dirty="0">
                    <a:latin typeface="+mn-lt"/>
                  </a:rPr>
                  <a:t>The 3-Year Rule: </a:t>
                </a:r>
                <a:r>
                  <a:rPr lang="en-US" sz="2400" dirty="0">
                    <a:latin typeface="+mn-lt"/>
                  </a:rPr>
                  <a:t>Every purchase "lot" is locked for 156 weeks.</a:t>
                </a:r>
              </a:p>
              <a:p>
                <a:pPr lvl="1"/>
                <a:r>
                  <a:rPr lang="en-US" sz="2400" dirty="0"/>
                  <a:t>Capital cannot be permanently moved until the specific lot matures.</a:t>
                </a:r>
              </a:p>
              <a:p>
                <a:pPr lvl="1"/>
                <a:r>
                  <a:rPr lang="en-US" sz="2400" b="1" dirty="0"/>
                  <a:t>Stretch Goal:</a:t>
                </a:r>
                <a:r>
                  <a:rPr lang="en-US" sz="2400" dirty="0"/>
                  <a:t> Test against 2, 4, and 5-year rules</a:t>
                </a:r>
              </a:p>
              <a:p>
                <a:r>
                  <a:rPr lang="en-US" sz="2400" b="1" dirty="0">
                    <a:latin typeface="+mn-lt"/>
                  </a:rPr>
                  <a:t>Execution: </a:t>
                </a:r>
                <a:r>
                  <a:rPr lang="en-US" sz="2400" dirty="0">
                    <a:latin typeface="+mn-lt"/>
                  </a:rPr>
                  <a:t>Fractional shares will be used to maintain equal-weighting (1/K).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09FD77-74B1-4EA9-CE8D-93B243944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2" t="-1793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06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358B-06E5-1F85-0F49-3E8B50BE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0EF4CF-82C3-9FE0-4E0E-050B621F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Temporal Agent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EE3E7E-22F2-700D-E226-4D434CC2C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Mixture of Agents:</a:t>
            </a:r>
            <a:r>
              <a:rPr lang="en-US" dirty="0">
                <a:latin typeface="+mn-lt"/>
              </a:rPr>
              <a:t> Five parallel agents trained on 1y, 2y, 3y, 5y, and 10y windows.</a:t>
            </a:r>
          </a:p>
          <a:p>
            <a:r>
              <a:rPr lang="en-US" b="1" dirty="0">
                <a:latin typeface="+mn-lt"/>
              </a:rPr>
              <a:t>Agent Autonomy:</a:t>
            </a:r>
            <a:r>
              <a:rPr lang="en-US" dirty="0">
                <a:latin typeface="+mn-lt"/>
              </a:rPr>
              <a:t> Each agent learns to weigh metrics differently based on their specific historical horizon.</a:t>
            </a:r>
          </a:p>
          <a:p>
            <a:r>
              <a:rPr lang="en-US" b="1" dirty="0">
                <a:latin typeface="+mn-lt"/>
              </a:rPr>
              <a:t>Optional Weekend Cycle (Stretch Goal):</a:t>
            </a:r>
            <a:r>
              <a:rPr lang="en-US" dirty="0">
                <a:latin typeface="+mn-lt"/>
              </a:rPr>
              <a:t> Agents may choose to sell on Friday and rebuy the following Monday; this would </a:t>
            </a:r>
            <a:r>
              <a:rPr lang="en-US" b="1" dirty="0">
                <a:latin typeface="+mn-lt"/>
              </a:rPr>
              <a:t>not</a:t>
            </a:r>
            <a:r>
              <a:rPr lang="en-US" dirty="0">
                <a:latin typeface="+mn-lt"/>
              </a:rPr>
              <a:t> reset 3-year maturity timer.</a:t>
            </a:r>
          </a:p>
          <a:p>
            <a:r>
              <a:rPr lang="en-US" b="1" dirty="0">
                <a:latin typeface="+mn-lt"/>
              </a:rPr>
              <a:t>Stretch Goal: </a:t>
            </a:r>
            <a:r>
              <a:rPr lang="en-US" dirty="0">
                <a:latin typeface="+mn-lt"/>
              </a:rPr>
              <a:t>Allow the agent to account for other long-term patterns in the stock market</a:t>
            </a:r>
          </a:p>
        </p:txBody>
      </p:sp>
    </p:spTree>
    <p:extLst>
      <p:ext uri="{BB962C8B-B14F-4D97-AF65-F5344CB8AC3E}">
        <p14:creationId xmlns:p14="http://schemas.microsoft.com/office/powerpoint/2010/main" val="259255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E5BD-ECF4-118F-B6B1-3FF7337F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92C7557-505A-0322-AA89-A02AD728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RL Framework and Policy Development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4B438-7B7B-DA39-5C27-2EDE73A6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The Markov Decision Process (MDP) Foundation:</a:t>
            </a:r>
          </a:p>
          <a:p>
            <a:pPr lvl="1"/>
            <a:r>
              <a:rPr lang="en-US" sz="2400" dirty="0"/>
              <a:t>State (S): The 14 fundamental features (EPS, ROE, Net Cash, etc.). </a:t>
            </a:r>
          </a:p>
          <a:p>
            <a:pPr lvl="1"/>
            <a:r>
              <a:rPr lang="en-US" sz="2400" dirty="0"/>
              <a:t>Action (A): A Ranking-Based Policy using a </a:t>
            </a:r>
            <a:r>
              <a:rPr lang="en-US" sz="2400" dirty="0" err="1"/>
              <a:t>Softmax</a:t>
            </a:r>
            <a:r>
              <a:rPr lang="en-US" sz="2400" dirty="0"/>
              <a:t> layer to select the Top-K active set (8 to 200 stocks). </a:t>
            </a:r>
          </a:p>
          <a:p>
            <a:pPr lvl="1"/>
            <a:r>
              <a:rPr lang="en-US" sz="2400" dirty="0"/>
              <a:t>Reward (R): Total Profit and Internal Rate of Return (IRR), utilizing Reward Shaping via penalty imputation for negative earnings/missing data. </a:t>
            </a:r>
          </a:p>
          <a:p>
            <a:r>
              <a:rPr lang="en-US" sz="2400" dirty="0"/>
              <a:t>Deep RL &amp; Function Approximation:</a:t>
            </a:r>
          </a:p>
          <a:p>
            <a:pPr lvl="1"/>
            <a:r>
              <a:rPr lang="en-US" sz="2400" dirty="0"/>
              <a:t>Utilizing Deep Neural Networks to map high-dimensional fundamental states to preference rankings (Non-linear Function Approximation). </a:t>
            </a:r>
          </a:p>
          <a:p>
            <a:r>
              <a:rPr lang="en-US" sz="2400" dirty="0"/>
              <a:t>Experience Replay (ER): </a:t>
            </a:r>
          </a:p>
          <a:p>
            <a:pPr lvl="1"/>
            <a:r>
              <a:rPr lang="en-US" sz="2400" dirty="0"/>
              <a:t>Agents sample from diverse historical market "regimes" to maintain policy stability and prevent "forgetting" past volatility. </a:t>
            </a:r>
          </a:p>
        </p:txBody>
      </p:sp>
    </p:spTree>
    <p:extLst>
      <p:ext uri="{BB962C8B-B14F-4D97-AF65-F5344CB8AC3E}">
        <p14:creationId xmlns:p14="http://schemas.microsoft.com/office/powerpoint/2010/main" val="377662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68DA-E14C-48D9-6C9B-9085864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DE36C9-BDEE-228C-26A9-89FE136E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557E18-585D-325F-4688-A1423ADB8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Primary Metric:</a:t>
            </a:r>
            <a:r>
              <a:rPr lang="en-US" dirty="0">
                <a:latin typeface="+mn-lt"/>
              </a:rPr>
              <a:t> Total Profit and Internal Rate of Return (IRR).</a:t>
            </a:r>
          </a:p>
          <a:p>
            <a:pPr lvl="1"/>
            <a:r>
              <a:rPr lang="en-US" dirty="0"/>
              <a:t>IRR is critical for accounting for the periodic $100 cash inflows.</a:t>
            </a:r>
          </a:p>
          <a:p>
            <a:r>
              <a:rPr lang="en-US" b="1" dirty="0">
                <a:latin typeface="+mn-lt"/>
              </a:rPr>
              <a:t>Goal-Conditioned Analysis (Stretch Goal): </a:t>
            </a:r>
            <a:r>
              <a:rPr lang="en-US" dirty="0">
                <a:latin typeface="+mn-lt"/>
              </a:rPr>
              <a:t>Comparing agent behavior across other profiles:</a:t>
            </a:r>
          </a:p>
          <a:p>
            <a:pPr lvl="1"/>
            <a:r>
              <a:rPr lang="en-US" b="1" dirty="0"/>
              <a:t>Max Wealth over a period of time</a:t>
            </a:r>
            <a:endParaRPr lang="en-US" dirty="0"/>
          </a:p>
          <a:p>
            <a:pPr lvl="1"/>
            <a:r>
              <a:rPr lang="en-US" b="1" dirty="0">
                <a:latin typeface="+mn-lt"/>
              </a:rPr>
              <a:t>Fastest reach a goal (e.g. $100,000)</a:t>
            </a:r>
          </a:p>
        </p:txBody>
      </p:sp>
    </p:spTree>
    <p:extLst>
      <p:ext uri="{BB962C8B-B14F-4D97-AF65-F5344CB8AC3E}">
        <p14:creationId xmlns:p14="http://schemas.microsoft.com/office/powerpoint/2010/main" val="346595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F6BF-4ACD-7A37-5C7C-8DA58D78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DB1474-33BF-6B53-CB34-6C848093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Agent Decision Process (Step-by-Step)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E4A761-7EB8-29D4-742B-80C77D63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b="1" dirty="0">
                <a:latin typeface="+mn-lt"/>
              </a:rPr>
              <a:t>Step 1: Metric Weighting</a:t>
            </a:r>
          </a:p>
          <a:p>
            <a:pPr lvl="1"/>
            <a:r>
              <a:rPr lang="en-US" sz="2400" dirty="0"/>
              <a:t>Each agent determines its own internal ranking based on the 14 fundamental features.</a:t>
            </a:r>
          </a:p>
          <a:p>
            <a:r>
              <a:rPr lang="en-US" sz="2400" b="1" dirty="0">
                <a:latin typeface="+mn-lt"/>
              </a:rPr>
              <a:t>Step 2: Selection Thresholding</a:t>
            </a:r>
          </a:p>
          <a:p>
            <a:pPr lvl="1"/>
            <a:r>
              <a:rPr lang="en-US" sz="2400" dirty="0">
                <a:latin typeface="+mn-lt"/>
              </a:rPr>
              <a:t>The agent chooses an "Active Set" of stocks that pass its learned quality thresholds for that specific market week.</a:t>
            </a:r>
          </a:p>
          <a:p>
            <a:r>
              <a:rPr lang="en-US" sz="2400" b="1" dirty="0">
                <a:latin typeface="+mn-lt"/>
              </a:rPr>
              <a:t>Step 3: Cardinality Balancing</a:t>
            </a:r>
          </a:p>
          <a:p>
            <a:pPr lvl="1"/>
            <a:r>
              <a:rPr lang="en-US" sz="2400" dirty="0">
                <a:latin typeface="+mn-lt"/>
              </a:rPr>
              <a:t>The agent ensures the Active Set contains between 8 and 200 stocks to satisfy the project's diversification constraint for the total portfolio.</a:t>
            </a:r>
          </a:p>
          <a:p>
            <a:r>
              <a:rPr lang="en-US" sz="2400" b="1" dirty="0">
                <a:latin typeface="+mn-lt"/>
              </a:rPr>
              <a:t>Step 4: Equal-Weight Deployment</a:t>
            </a:r>
          </a:p>
          <a:p>
            <a:pPr lvl="1"/>
            <a:r>
              <a:rPr lang="en-US" sz="2400" dirty="0">
                <a:latin typeface="+mn-lt"/>
              </a:rPr>
              <a:t>The incoming $100 is split exactly 1/K into fractional shares of the chosen Active Set.</a:t>
            </a:r>
          </a:p>
          <a:p>
            <a:r>
              <a:rPr lang="en-US" sz="2400" b="1" dirty="0">
                <a:latin typeface="+mn-lt"/>
              </a:rPr>
              <a:t>Step 5: Lot Management</a:t>
            </a:r>
          </a:p>
          <a:p>
            <a:pPr lvl="1"/>
            <a:r>
              <a:rPr lang="en-US" sz="2400" dirty="0">
                <a:latin typeface="+mn-lt"/>
              </a:rPr>
              <a:t>The purchase date for this new lot </a:t>
            </a:r>
            <a:r>
              <a:rPr lang="en-US" sz="2400" dirty="0"/>
              <a:t>is recorded </a:t>
            </a:r>
            <a:r>
              <a:rPr lang="en-US" sz="2400" dirty="0">
                <a:latin typeface="+mn-lt"/>
              </a:rPr>
              <a:t>to begin a 156-week maturity countdown.</a:t>
            </a:r>
          </a:p>
        </p:txBody>
      </p:sp>
    </p:spTree>
    <p:extLst>
      <p:ext uri="{BB962C8B-B14F-4D97-AF65-F5344CB8AC3E}">
        <p14:creationId xmlns:p14="http://schemas.microsoft.com/office/powerpoint/2010/main" val="12498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7549A-3B6A-36AA-0CFC-8E9EB653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50A538-012A-5B21-EE60-7D615D8C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Stretch Goal: The Meta-Learner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FE627D-2CFD-0287-D8D5-A74BC67CF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latin typeface="+mn-lt"/>
              </a:rPr>
              <a:t>Concept:</a:t>
            </a:r>
            <a:r>
              <a:rPr lang="en-US" dirty="0">
                <a:latin typeface="+mn-lt"/>
              </a:rPr>
              <a:t> An Actor-Critic agent acting as a "Manager“ or "Meta-Learner".</a:t>
            </a:r>
          </a:p>
          <a:p>
            <a:r>
              <a:rPr lang="en-US" b="1" dirty="0">
                <a:latin typeface="+mn-lt"/>
              </a:rPr>
              <a:t>The Actor (Policy):</a:t>
            </a:r>
            <a:r>
              <a:rPr lang="en-US" dirty="0">
                <a:latin typeface="+mn-lt"/>
              </a:rPr>
              <a:t> Dynamically weighs the advice of the five agents (1y, 2y, 3y, 5y, 10y) based on current environmental feedback.</a:t>
            </a:r>
          </a:p>
          <a:p>
            <a:r>
              <a:rPr lang="en-US" b="1" dirty="0">
                <a:latin typeface="+mn-lt"/>
              </a:rPr>
              <a:t>The Critic (Value Function): </a:t>
            </a:r>
            <a:r>
              <a:rPr lang="en-US" dirty="0">
                <a:latin typeface="+mn-lt"/>
              </a:rPr>
              <a:t>Observes macro-signals—such as the VIX (Volatility Index) and the 200-day Moving Average—to estimate the expected total profit of the current weighting strategy.</a:t>
            </a:r>
          </a:p>
          <a:p>
            <a:r>
              <a:rPr lang="en-US" b="1" dirty="0">
                <a:latin typeface="+mn-lt"/>
              </a:rPr>
              <a:t>Meta-Learning Logic: </a:t>
            </a:r>
            <a:r>
              <a:rPr lang="en-US" dirty="0">
                <a:latin typeface="+mn-lt"/>
              </a:rPr>
              <a:t>The Meta-Learner identifies which specific market "regime" (e.g., high-volatility crash vs. steady growth) is active and prioritizes the expert whose historical training window best matches those conditions.</a:t>
            </a:r>
          </a:p>
          <a:p>
            <a:r>
              <a:rPr lang="en-US" b="1" dirty="0">
                <a:latin typeface="+mn-lt"/>
              </a:rPr>
              <a:t>Consensus Optimization: </a:t>
            </a:r>
            <a:r>
              <a:rPr lang="en-US" dirty="0">
                <a:latin typeface="+mn-lt"/>
              </a:rPr>
              <a:t>While the ensemble currently uses weighted voting, the Meta-Learner replaces this with a learned hierarchy.</a:t>
            </a:r>
          </a:p>
        </p:txBody>
      </p:sp>
    </p:spTree>
    <p:extLst>
      <p:ext uri="{BB962C8B-B14F-4D97-AF65-F5344CB8AC3E}">
        <p14:creationId xmlns:p14="http://schemas.microsoft.com/office/powerpoint/2010/main" val="371534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9B66D-CEED-1F92-AB97-91777AE1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13C73D-BAEE-B7F3-F177-61EE71B9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 or Comments?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A840AE-A58E-A1FD-A4F2-AE96C2C4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566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C03C-3DC2-2804-D24E-79A12F74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A4DFE-6FF7-B92C-86B1-237858C78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721BE2-0661-8268-BB4C-EF1F0E5FE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716817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latin typeface="+mn-lt"/>
              </a:rPr>
              <a:t>Net income</a:t>
            </a:r>
            <a:r>
              <a:rPr lang="en-US" dirty="0">
                <a:latin typeface="+mn-lt"/>
              </a:rPr>
              <a:t> is a business’s profit after subtracting expenses, taxes, interest, and depreciation from revenue or gross income.</a:t>
            </a:r>
          </a:p>
          <a:p>
            <a:r>
              <a:rPr lang="en-US" b="1" dirty="0">
                <a:latin typeface="+mn-lt"/>
              </a:rPr>
              <a:t>Net cash</a:t>
            </a:r>
            <a:r>
              <a:rPr lang="en-US" dirty="0">
                <a:latin typeface="+mn-lt"/>
              </a:rPr>
              <a:t> is a liquidity metric representing a company's total cash and cash equivalents minus its total debt or current liabilities. </a:t>
            </a:r>
          </a:p>
          <a:p>
            <a:r>
              <a:rPr lang="en-US" b="1" dirty="0">
                <a:latin typeface="+mn-lt"/>
              </a:rPr>
              <a:t>Free cash flow (FCF)</a:t>
            </a:r>
            <a:r>
              <a:rPr lang="en-US" dirty="0">
                <a:latin typeface="+mn-lt"/>
              </a:rPr>
              <a:t> is the cash a company generates after covering its operating expenses and capital expenditures (</a:t>
            </a:r>
            <a:r>
              <a:rPr lang="en-US" dirty="0" err="1">
                <a:latin typeface="+mn-lt"/>
              </a:rPr>
              <a:t>CapEx</a:t>
            </a:r>
            <a:r>
              <a:rPr lang="en-US" dirty="0">
                <a:latin typeface="+mn-lt"/>
              </a:rPr>
              <a:t>), representing the money available to pay dividends, reduce debt, or reinvest for growth. 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0ADC98-3347-723B-1684-3810093C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35667"/>
            <a:ext cx="5715000" cy="885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ADF1C-5403-BA18-843C-65A2735F5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703" y="5107070"/>
            <a:ext cx="4572638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33B492-9322-1171-4322-AC115BD3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9" y="5719491"/>
            <a:ext cx="7316221" cy="400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DD5BC7-BBC5-D507-E298-6349CB43D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317018"/>
            <a:ext cx="5572903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80808"/>
      </p:ext>
    </p:extLst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FA347C9-0511-AA46-BA7E-754B246E9CF1}" vid="{8B10020A-6B71-DA4E-ABE6-7C5A2419F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uccs-powerpoint-template-2014-cobranded</Template>
  <TotalTime>353</TotalTime>
  <Words>1357</Words>
  <Application>Microsoft Office PowerPoint</Application>
  <PresentationFormat>Widescreen</PresentationFormat>
  <Paragraphs>92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Black</vt:lpstr>
      <vt:lpstr>Cambria Math</vt:lpstr>
      <vt:lpstr>uccs-powerpoint-template-2014-cobranded</vt:lpstr>
      <vt:lpstr>Reinforcement Learning for Long-Term Stock Market Asset Rotation</vt:lpstr>
      <vt:lpstr>Introduction and Stock Constraints</vt:lpstr>
      <vt:lpstr>Data and Feature Engineering</vt:lpstr>
      <vt:lpstr>Capital and Temporal Constraints</vt:lpstr>
      <vt:lpstr>Temporal Agent Architecture</vt:lpstr>
      <vt:lpstr>The RL Framework and Policy Development</vt:lpstr>
      <vt:lpstr>Evaluation Framework</vt:lpstr>
      <vt:lpstr>The Agent Decision Process (Step-by-Step)</vt:lpstr>
      <vt:lpstr>Stretch Goal: The Meta-Learner</vt:lpstr>
      <vt:lpstr>Questions or Comments?</vt:lpstr>
      <vt:lpstr>PowerPoint Presentation</vt:lpstr>
      <vt:lpstr>Definitions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Schaming</dc:creator>
  <cp:lastModifiedBy>Barak Barclay</cp:lastModifiedBy>
  <cp:revision>17</cp:revision>
  <dcterms:created xsi:type="dcterms:W3CDTF">2021-01-22T16:46:01Z</dcterms:created>
  <dcterms:modified xsi:type="dcterms:W3CDTF">2026-02-17T18:42:45Z</dcterms:modified>
</cp:coreProperties>
</file>