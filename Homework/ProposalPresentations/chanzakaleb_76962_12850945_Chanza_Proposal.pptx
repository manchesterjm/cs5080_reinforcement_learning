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Arial Black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g0LC8iZTNM2LW0uZQ6YoJ8/zd0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Black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ec50706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bec50706b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ec50706b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bec50706b3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ec50706b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bec50706b3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ec50706b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bec50706b3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ec50706b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bec50706b3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87bfab4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c87bfab44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ec50706b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bec50706b3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ec50706b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bec50706b3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ec50706b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bec50706b3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ec50706b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bec50706b3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8772451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c87724510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"/>
          <p:cNvSpPr txBox="1"/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" name="Google Shape;17;p6"/>
          <p:cNvSpPr txBox="1"/>
          <p:nvPr>
            <p:ph idx="10" type="dt"/>
          </p:nvPr>
        </p:nvSpPr>
        <p:spPr>
          <a:xfrm>
            <a:off x="508000" y="58070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"/>
          <p:cNvSpPr txBox="1"/>
          <p:nvPr>
            <p:ph idx="11" type="ftr"/>
          </p:nvPr>
        </p:nvSpPr>
        <p:spPr>
          <a:xfrm>
            <a:off x="4165600" y="58070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2" type="sldNum"/>
          </p:nvPr>
        </p:nvSpPr>
        <p:spPr>
          <a:xfrm>
            <a:off x="8839200" y="58070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" type="body"/>
          </p:nvPr>
        </p:nvSpPr>
        <p:spPr>
          <a:xfrm>
            <a:off x="609600" y="1600201"/>
            <a:ext cx="109728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0" type="dt"/>
          </p:nvPr>
        </p:nvSpPr>
        <p:spPr>
          <a:xfrm>
            <a:off x="508000" y="58070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1" type="ftr"/>
          </p:nvPr>
        </p:nvSpPr>
        <p:spPr>
          <a:xfrm>
            <a:off x="4165600" y="58070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2" type="sldNum"/>
          </p:nvPr>
        </p:nvSpPr>
        <p:spPr>
          <a:xfrm>
            <a:off x="8839200" y="58070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CCS Signature - Reverse.eps" id="28" name="Google Shape;2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51905" y="2667000"/>
            <a:ext cx="7688189" cy="1064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white text&#10;&#10;AI-generated content may be incorrect." id="29" name="Google Shape;2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5700" y="4392972"/>
            <a:ext cx="4800600" cy="911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title"/>
          </p:nvPr>
        </p:nvSpPr>
        <p:spPr>
          <a:xfrm>
            <a:off x="963084" y="4406902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508000" y="58070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4165600" y="58070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839200" y="58070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609600" y="1600202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6197600" y="1600202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0"/>
          <p:cNvSpPr txBox="1"/>
          <p:nvPr>
            <p:ph idx="10" type="dt"/>
          </p:nvPr>
        </p:nvSpPr>
        <p:spPr>
          <a:xfrm>
            <a:off x="508000" y="58070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1" type="ftr"/>
          </p:nvPr>
        </p:nvSpPr>
        <p:spPr>
          <a:xfrm>
            <a:off x="4165600" y="58070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839200" y="58070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609600" y="1535114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1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11"/>
          <p:cNvSpPr txBox="1"/>
          <p:nvPr>
            <p:ph idx="3" type="body"/>
          </p:nvPr>
        </p:nvSpPr>
        <p:spPr>
          <a:xfrm>
            <a:off x="6193370" y="1535114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1"/>
          <p:cNvSpPr txBox="1"/>
          <p:nvPr>
            <p:ph idx="4" type="body"/>
          </p:nvPr>
        </p:nvSpPr>
        <p:spPr>
          <a:xfrm>
            <a:off x="6193370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11"/>
          <p:cNvSpPr txBox="1"/>
          <p:nvPr>
            <p:ph idx="10" type="dt"/>
          </p:nvPr>
        </p:nvSpPr>
        <p:spPr>
          <a:xfrm>
            <a:off x="508000" y="58070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1" type="ftr"/>
          </p:nvPr>
        </p:nvSpPr>
        <p:spPr>
          <a:xfrm>
            <a:off x="4165600" y="58070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839200" y="58070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0" type="dt"/>
          </p:nvPr>
        </p:nvSpPr>
        <p:spPr>
          <a:xfrm>
            <a:off x="508000" y="58070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1" type="ftr"/>
          </p:nvPr>
        </p:nvSpPr>
        <p:spPr>
          <a:xfrm>
            <a:off x="4165600" y="58070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8839200" y="58070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idx="10" type="dt"/>
          </p:nvPr>
        </p:nvSpPr>
        <p:spPr>
          <a:xfrm>
            <a:off x="508000" y="58070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165600" y="58070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839200" y="58070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609603" y="273050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508000" y="58070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165600" y="58070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839200" y="58070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389717" y="5367339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508000" y="58070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1" type="ftr"/>
          </p:nvPr>
        </p:nvSpPr>
        <p:spPr>
          <a:xfrm>
            <a:off x="4165600" y="58070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839200" y="58070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 rot="5400000">
            <a:off x="3886200" y="-1676399"/>
            <a:ext cx="44196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0" type="dt"/>
          </p:nvPr>
        </p:nvSpPr>
        <p:spPr>
          <a:xfrm>
            <a:off x="508000" y="58070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1" type="ftr"/>
          </p:nvPr>
        </p:nvSpPr>
        <p:spPr>
          <a:xfrm>
            <a:off x="4165600" y="58070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839200" y="58070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0" type="dt"/>
          </p:nvPr>
        </p:nvSpPr>
        <p:spPr>
          <a:xfrm>
            <a:off x="508000" y="58070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1" type="ftr"/>
          </p:nvPr>
        </p:nvSpPr>
        <p:spPr>
          <a:xfrm>
            <a:off x="4165600" y="58070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839200" y="58070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609600" y="1600201"/>
            <a:ext cx="109728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1" i="1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5"/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CCS Signature - Reverse.png" id="12" name="Google Shape;12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09600" y="6351380"/>
            <a:ext cx="2743200" cy="3738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white text&#10;&#10;AI-generated content may be incorrect." id="13" name="Google Shape;1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49994" y="6297678"/>
            <a:ext cx="2232406" cy="4237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Proposal Presentation</a:t>
            </a:r>
            <a:endParaRPr/>
          </a:p>
        </p:txBody>
      </p:sp>
      <p:sp>
        <p:nvSpPr>
          <p:cNvPr id="92" name="Google Shape;92;p1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rPr lang="en-US"/>
              <a:t>Presented by Kaleb Chanza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Presenter Introduction</a:t>
            </a:r>
            <a:endParaRPr/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609600" y="1417650"/>
            <a:ext cx="10972800" cy="45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My name is Kaleb Chanza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 am a Graduate Student Attending for Software Engineering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 have not had any experience with AI development or Machine Learning concepts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ec50706b3_0_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04" name="Google Shape;104;g3bec50706b3_0_0"/>
          <p:cNvSpPr txBox="1"/>
          <p:nvPr>
            <p:ph idx="1" type="body"/>
          </p:nvPr>
        </p:nvSpPr>
        <p:spPr>
          <a:xfrm>
            <a:off x="609600" y="1417650"/>
            <a:ext cx="5341200" cy="45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As the modern world has continued to develop, traffic and issues stemming from it remain a persistent issue.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[2]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While better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design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for future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infrastructure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is able to address these problems, it is difficult to address severe traffic in current urban areas.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[3]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g3bec50706b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3200" y="1570039"/>
            <a:ext cx="5572125" cy="36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bec50706b3_0_0"/>
          <p:cNvSpPr txBox="1"/>
          <p:nvPr/>
        </p:nvSpPr>
        <p:spPr>
          <a:xfrm>
            <a:off x="7324300" y="5265750"/>
            <a:ext cx="31299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Image Taken From Source 1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ec50706b3_0_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Traffic Congestion Solution</a:t>
            </a:r>
            <a:endParaRPr/>
          </a:p>
        </p:txBody>
      </p:sp>
      <p:sp>
        <p:nvSpPr>
          <p:cNvPr id="112" name="Google Shape;112;g3bec50706b3_0_5"/>
          <p:cNvSpPr txBox="1"/>
          <p:nvPr>
            <p:ph idx="1" type="body"/>
          </p:nvPr>
        </p:nvSpPr>
        <p:spPr>
          <a:xfrm>
            <a:off x="609600" y="1417650"/>
            <a:ext cx="5321400" cy="47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64285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One avenue for solving this problem has been the incorporation of Adaptive Traffic Signal Control (ATSC).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440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This concept has seen a variety of different implementations with great success.</a:t>
            </a:r>
            <a:r>
              <a:rPr lang="en-US" sz="1250">
                <a:latin typeface="Arial"/>
                <a:ea typeface="Arial"/>
                <a:cs typeface="Arial"/>
                <a:sym typeface="Arial"/>
              </a:rPr>
              <a:t>[4]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440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Older implementations of ATSC are limited in how much they can assist, so research has turned to using AI.</a:t>
            </a:r>
            <a:r>
              <a:rPr lang="en-US" sz="1250">
                <a:latin typeface="Arial"/>
                <a:ea typeface="Arial"/>
                <a:cs typeface="Arial"/>
                <a:sym typeface="Arial"/>
              </a:rPr>
              <a:t>[5]</a:t>
            </a:r>
            <a:endParaRPr sz="12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g3bec50706b3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9800" y="710278"/>
            <a:ext cx="3755050" cy="499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bec50706b3_0_5"/>
          <p:cNvSpPr txBox="1"/>
          <p:nvPr/>
        </p:nvSpPr>
        <p:spPr>
          <a:xfrm>
            <a:off x="7522375" y="5709175"/>
            <a:ext cx="31299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Image Taken From Source 4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ec50706b3_0_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Related Work</a:t>
            </a:r>
            <a:endParaRPr/>
          </a:p>
        </p:txBody>
      </p:sp>
      <p:sp>
        <p:nvSpPr>
          <p:cNvPr id="120" name="Google Shape;120;g3bec50706b3_0_10"/>
          <p:cNvSpPr txBox="1"/>
          <p:nvPr>
            <p:ph idx="1" type="body"/>
          </p:nvPr>
        </p:nvSpPr>
        <p:spPr>
          <a:xfrm>
            <a:off x="609600" y="1417650"/>
            <a:ext cx="5331300" cy="45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64285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Reinforcement Learning has served as the basis for a large number of ATSC projects.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440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Recent research utilizes Deep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Reinforcement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Learning concepts and/or Multi-Agent Design. </a:t>
            </a:r>
            <a:r>
              <a:rPr lang="en-US" sz="1250">
                <a:latin typeface="Arial"/>
                <a:ea typeface="Arial"/>
                <a:cs typeface="Arial"/>
                <a:sym typeface="Arial"/>
              </a:rPr>
              <a:t>[6]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440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 potentially effective idea suggested by recent papers has been the incorporation of information given by vehicles. </a:t>
            </a:r>
            <a:r>
              <a:rPr lang="en-US" sz="1250">
                <a:latin typeface="Arial"/>
                <a:ea typeface="Arial"/>
                <a:cs typeface="Arial"/>
                <a:sym typeface="Arial"/>
              </a:rPr>
              <a:t>[7] [8]</a:t>
            </a:r>
            <a:endParaRPr sz="12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g3bec50706b3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2675" y="1624002"/>
            <a:ext cx="5419725" cy="360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bec50706b3_0_10"/>
          <p:cNvSpPr txBox="1"/>
          <p:nvPr/>
        </p:nvSpPr>
        <p:spPr>
          <a:xfrm>
            <a:off x="7307588" y="5440325"/>
            <a:ext cx="31299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Image Taken From Source 7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ec50706b3_0_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Project Proposal</a:t>
            </a:r>
            <a:endParaRPr/>
          </a:p>
        </p:txBody>
      </p:sp>
      <p:sp>
        <p:nvSpPr>
          <p:cNvPr id="128" name="Google Shape;128;g3bec50706b3_0_15"/>
          <p:cNvSpPr txBox="1"/>
          <p:nvPr>
            <p:ph idx="1" type="body"/>
          </p:nvPr>
        </p:nvSpPr>
        <p:spPr>
          <a:xfrm>
            <a:off x="609600" y="1417650"/>
            <a:ext cx="10972800" cy="47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goal of this project will be the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development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of a Multi-Agent Deep Reinforcement Learning method that is capable of consistently reducing traffic congestion.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 want to develop a method where multiple traffic light agents are capable of communicating with each other to learn more effectively.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 want to use the idea of utilizing information from vehicles to improve how the traffic lights function.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ec50706b3_0_2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Implementation Environment</a:t>
            </a:r>
            <a:endParaRPr/>
          </a:p>
        </p:txBody>
      </p:sp>
      <p:sp>
        <p:nvSpPr>
          <p:cNvPr id="134" name="Google Shape;134;g3bec50706b3_0_20"/>
          <p:cNvSpPr txBox="1"/>
          <p:nvPr>
            <p:ph idx="1" type="body"/>
          </p:nvPr>
        </p:nvSpPr>
        <p:spPr>
          <a:xfrm>
            <a:off x="609600" y="1539100"/>
            <a:ext cx="5331300" cy="4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Most papers related to the concept of ATSC used the “Simulation of Urban Mobility” (SUMO) to conduct experiments.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[9]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This application will allow me to easily test implementations of my algorithms on both simple and real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world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implementations.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g3bec50706b3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6575" y="1176339"/>
            <a:ext cx="4695825" cy="450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bec50706b3_0_20"/>
          <p:cNvSpPr txBox="1"/>
          <p:nvPr/>
        </p:nvSpPr>
        <p:spPr>
          <a:xfrm>
            <a:off x="7669525" y="5752300"/>
            <a:ext cx="31299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Image Taken From Source 10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87bfab44f_0_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Agent Implementation</a:t>
            </a:r>
            <a:endParaRPr/>
          </a:p>
        </p:txBody>
      </p:sp>
      <p:sp>
        <p:nvSpPr>
          <p:cNvPr id="142" name="Google Shape;142;g3c87bfab44f_0_0"/>
          <p:cNvSpPr txBox="1"/>
          <p:nvPr>
            <p:ph idx="1" type="body"/>
          </p:nvPr>
        </p:nvSpPr>
        <p:spPr>
          <a:xfrm>
            <a:off x="609600" y="1417650"/>
            <a:ext cx="5331300" cy="4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64285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When looking at how to implement the ATSC method, it will be necessary to create an agent that can be duplicated for each traffic light.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64285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These agents will need to learn about average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traffic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across different times of day and be able to adapt to create more efficient patterns.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64285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An element of utilizing average vehicle speed will be used to understand how this affects an agent’s learning and development.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64285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There are several different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existing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methods that can be either learned from or expanded upon. [7][8][11]-[18]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g3c87bfab44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2675" y="2043102"/>
            <a:ext cx="5419725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c87bfab44f_0_0"/>
          <p:cNvSpPr txBox="1"/>
          <p:nvPr/>
        </p:nvSpPr>
        <p:spPr>
          <a:xfrm>
            <a:off x="7307575" y="4921975"/>
            <a:ext cx="31299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Image Taken From Source 7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ec50706b3_0_2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Evaluation</a:t>
            </a:r>
            <a:endParaRPr/>
          </a:p>
        </p:txBody>
      </p:sp>
      <p:sp>
        <p:nvSpPr>
          <p:cNvPr id="150" name="Google Shape;150;g3bec50706b3_0_25"/>
          <p:cNvSpPr txBox="1"/>
          <p:nvPr>
            <p:ph idx="1" type="body"/>
          </p:nvPr>
        </p:nvSpPr>
        <p:spPr>
          <a:xfrm>
            <a:off x="609600" y="1581975"/>
            <a:ext cx="53514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When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looking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at current research, there are a few metrics that are commonly measured: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/>
              <a:t>Queue Length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Average Wait Time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Pressure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Throughput</a:t>
            </a:r>
            <a:endParaRPr/>
          </a:p>
        </p:txBody>
      </p:sp>
      <p:pic>
        <p:nvPicPr>
          <p:cNvPr id="151" name="Google Shape;151;g3bec50706b3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1417639"/>
            <a:ext cx="5926200" cy="361182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bec50706b3_0_25"/>
          <p:cNvSpPr txBox="1"/>
          <p:nvPr/>
        </p:nvSpPr>
        <p:spPr>
          <a:xfrm>
            <a:off x="7494150" y="5181125"/>
            <a:ext cx="31299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Image Taken From Source 8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ec50706b3_0_3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Real World Data</a:t>
            </a:r>
            <a:endParaRPr/>
          </a:p>
        </p:txBody>
      </p:sp>
      <p:sp>
        <p:nvSpPr>
          <p:cNvPr id="158" name="Google Shape;158;g3bec50706b3_0_30"/>
          <p:cNvSpPr txBox="1"/>
          <p:nvPr>
            <p:ph idx="1" type="body"/>
          </p:nvPr>
        </p:nvSpPr>
        <p:spPr>
          <a:xfrm>
            <a:off x="609600" y="1417650"/>
            <a:ext cx="5341200" cy="45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Previous research has indicated that utilizing real world data is both possible and necessary for accurate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performance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metrics.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[7]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If available, I want to use the data used in previous research papers as well as information for Colorado Springs.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g3bec50706b3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0800" y="1464415"/>
            <a:ext cx="5479200" cy="392916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bec50706b3_0_30"/>
          <p:cNvSpPr txBox="1"/>
          <p:nvPr/>
        </p:nvSpPr>
        <p:spPr>
          <a:xfrm>
            <a:off x="7125450" y="5393575"/>
            <a:ext cx="31299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Image Taken From Source 8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ec50706b3_0_3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Potential Issues</a:t>
            </a:r>
            <a:endParaRPr/>
          </a:p>
        </p:txBody>
      </p:sp>
      <p:sp>
        <p:nvSpPr>
          <p:cNvPr id="166" name="Google Shape;166;g3bec50706b3_0_35"/>
          <p:cNvSpPr txBox="1"/>
          <p:nvPr>
            <p:ph idx="1" type="body"/>
          </p:nvPr>
        </p:nvSpPr>
        <p:spPr>
          <a:xfrm>
            <a:off x="609600" y="1417650"/>
            <a:ext cx="10972800" cy="45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One of the main issues is my own inexperience with reinforcement learning concepts and the tools for this project.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It is consistently mentioned in the research that traditional reinforcement learning struggles with high-dimensional environments like this.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Acquiring the necessary data for real world testing needs to be done early since I don’t know what steps are required.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ec50706b3_0_4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Questions</a:t>
            </a:r>
            <a:endParaRPr/>
          </a:p>
        </p:txBody>
      </p:sp>
      <p:sp>
        <p:nvSpPr>
          <p:cNvPr id="172" name="Google Shape;172;g3bec50706b3_0_40"/>
          <p:cNvSpPr txBox="1"/>
          <p:nvPr>
            <p:ph idx="1" type="body"/>
          </p:nvPr>
        </p:nvSpPr>
        <p:spPr>
          <a:xfrm>
            <a:off x="1981200" y="1417651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>
                <a:latin typeface="Arial"/>
                <a:ea typeface="Arial"/>
                <a:cs typeface="Arial"/>
                <a:sym typeface="Arial"/>
              </a:rPr>
              <a:t>?</a:t>
            </a:r>
            <a:endParaRPr b="1" sz="9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877245102_0_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Works Cited</a:t>
            </a:r>
            <a:endParaRPr/>
          </a:p>
        </p:txBody>
      </p:sp>
      <p:sp>
        <p:nvSpPr>
          <p:cNvPr id="178" name="Google Shape;178;g3c877245102_0_0"/>
          <p:cNvSpPr txBox="1"/>
          <p:nvPr>
            <p:ph idx="1" type="body"/>
          </p:nvPr>
        </p:nvSpPr>
        <p:spPr>
          <a:xfrm>
            <a:off x="609600" y="1288075"/>
            <a:ext cx="534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US" sz="960">
                <a:latin typeface="Arial"/>
                <a:ea typeface="Arial"/>
                <a:cs typeface="Arial"/>
                <a:sym typeface="Arial"/>
              </a:rPr>
              <a:t>[1] “TIME,” 2023. </a:t>
            </a:r>
            <a:r>
              <a:rPr lang="en-US" sz="96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[Online]. Available: </a:t>
            </a:r>
            <a:r>
              <a:rPr lang="en-US" sz="960">
                <a:latin typeface="Arial"/>
                <a:ea typeface="Arial"/>
                <a:cs typeface="Arial"/>
                <a:sym typeface="Arial"/>
              </a:rPr>
              <a:t>https://time.com/6318377/traffic-by-city/</a:t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US" sz="960">
                <a:latin typeface="Arial"/>
                <a:ea typeface="Arial"/>
                <a:cs typeface="Arial"/>
                <a:sym typeface="Arial"/>
              </a:rPr>
              <a:t>[2] </a:t>
            </a:r>
            <a:r>
              <a:rPr lang="en-US" sz="96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“INRIX,” 2025. [Online]. Available: </a:t>
            </a:r>
            <a:r>
              <a:rPr lang="en-US" sz="960">
                <a:latin typeface="Arial"/>
                <a:ea typeface="Arial"/>
                <a:cs typeface="Arial"/>
                <a:sym typeface="Arial"/>
              </a:rPr>
              <a:t>https://inrix.com/scorecard/</a:t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960">
                <a:latin typeface="Arial"/>
                <a:ea typeface="Arial"/>
                <a:cs typeface="Arial"/>
                <a:sym typeface="Arial"/>
              </a:rPr>
              <a:t>[3] </a:t>
            </a:r>
            <a:r>
              <a:rPr lang="en-US" sz="932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J. Wang, D. Wei, K. He, H. Gong, and P. Wang, “Encapsulating urban traffic rhythms into road networks,” </a:t>
            </a:r>
            <a:r>
              <a:rPr i="1" lang="en-US" sz="932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Sci. Rep.</a:t>
            </a:r>
            <a:r>
              <a:rPr lang="en-US" sz="932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vol. 4, no. 1, pp. 1–7, Feb. 2014.</a:t>
            </a:r>
            <a:r>
              <a:rPr lang="en-US" sz="960">
                <a:latin typeface="Arial"/>
                <a:ea typeface="Arial"/>
                <a:cs typeface="Arial"/>
                <a:sym typeface="Arial"/>
              </a:rPr>
              <a:t> </a:t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960">
                <a:latin typeface="Arial"/>
                <a:ea typeface="Arial"/>
                <a:cs typeface="Arial"/>
                <a:sym typeface="Arial"/>
              </a:rPr>
              <a:t>[4] Sims, A.; and Dobinson, K. 1980. The Sydney coordinated adaptive traffic (SCAT) system philosophy and benefits. IEEE Transactions on Vehicular Technology, 29(2): 130–137.</a:t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960">
                <a:latin typeface="Arial"/>
                <a:ea typeface="Arial"/>
                <a:cs typeface="Arial"/>
                <a:sym typeface="Arial"/>
              </a:rPr>
              <a:t>[5] Tan, T.; Bao, F.; Deng, Y.; Jin, A.; Dai, Q.; and Wang, J. 2020. Cooperative Deep Reinforcement Learning for Large-Scale Traffic Grid Signal Control. IEEE Transactions on Cybernetics, 50(6): 2687–2700.</a:t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960">
                <a:latin typeface="Arial"/>
                <a:ea typeface="Arial"/>
                <a:cs typeface="Arial"/>
                <a:sym typeface="Arial"/>
              </a:rPr>
              <a:t>[6] Mao, F.; Li, Z.; and Li, L. 2023. A Comparison of Deep Reinforcement Learning Models for Isolated Traffic Signal Control. IEEE Intelligent Transportation Systems Magazine, 15(1): 160–180.</a:t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960">
                <a:latin typeface="Arial"/>
                <a:ea typeface="Arial"/>
                <a:cs typeface="Arial"/>
                <a:sym typeface="Arial"/>
              </a:rPr>
              <a:t>[7] Huang, H.; Hu, Z.; Li, M.; Lu, Z.; and Wen, X. 2024. Co</a:t>
            </a:r>
            <a:r>
              <a:rPr lang="en-US" sz="96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960">
                <a:latin typeface="Arial"/>
                <a:ea typeface="Arial"/>
                <a:cs typeface="Arial"/>
                <a:sym typeface="Arial"/>
              </a:rPr>
              <a:t>operative Optimization of Traffic Signals and Vehicle Speed Using a Novel Multi-Agent Deep Reinforcement Learning. IEEE Transactions on Vehicular Technology, 73(6): 7785–7798.</a:t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960">
                <a:latin typeface="Arial"/>
                <a:ea typeface="Arial"/>
                <a:cs typeface="Arial"/>
                <a:sym typeface="Arial"/>
              </a:rPr>
              <a:t>[8] Zhou, B.; Zhou, Q.; Hu, S.; Ma, D.; Jin, S.; and Lee, D.H. 2024. Cooperative Traffic Signal Control Using a Distributed Agent-Based Deep Reinforcement Learning With Incentive Communication. IEEE Transactions on Intelligent Transportation Systems, 25(8): 10147–10160.</a:t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960">
                <a:latin typeface="Arial"/>
                <a:ea typeface="Arial"/>
                <a:cs typeface="Arial"/>
                <a:sym typeface="Arial"/>
              </a:rPr>
              <a:t>[9] Lopez, P. A.; Behrisch, M.; Bieker-Walz, L.; Erdmann, J.; Fl¨otter¨od, Y.-P.; Hilbrich, R.; L¨ucken, L.; Rummel, J.; Wagner, P.; and Wiessner, E. 2018. Microscopic Traffic Simulation using SUMO. In 2018 21st International Conference on Intelligent Transportation Systems (ITSC), 2575–2582.</a:t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c877245102_0_0"/>
          <p:cNvSpPr txBox="1"/>
          <p:nvPr>
            <p:ph idx="1" type="body"/>
          </p:nvPr>
        </p:nvSpPr>
        <p:spPr>
          <a:xfrm>
            <a:off x="6096000" y="1417650"/>
            <a:ext cx="534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960">
                <a:latin typeface="Arial"/>
                <a:ea typeface="Arial"/>
                <a:cs typeface="Arial"/>
                <a:sym typeface="Arial"/>
              </a:rPr>
              <a:t>[10] “</a:t>
            </a:r>
            <a:r>
              <a:rPr lang="en-US" sz="960">
                <a:latin typeface="Arial"/>
                <a:ea typeface="Arial"/>
                <a:cs typeface="Arial"/>
                <a:sym typeface="Arial"/>
              </a:rPr>
              <a:t>SUMO</a:t>
            </a:r>
            <a:r>
              <a:rPr lang="en-US" sz="960">
                <a:latin typeface="Arial"/>
                <a:ea typeface="Arial"/>
                <a:cs typeface="Arial"/>
                <a:sym typeface="Arial"/>
              </a:rPr>
              <a:t>,” 2026. </a:t>
            </a:r>
            <a:r>
              <a:rPr lang="en-US" sz="96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[Online]. Available: </a:t>
            </a:r>
            <a:r>
              <a:rPr lang="en-US" sz="960">
                <a:latin typeface="Arial"/>
                <a:ea typeface="Arial"/>
                <a:cs typeface="Arial"/>
                <a:sym typeface="Arial"/>
              </a:rPr>
              <a:t>https://sumo.sourceforge.net/docs/index.htmll</a:t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960">
                <a:latin typeface="Arial"/>
                <a:ea typeface="Arial"/>
                <a:cs typeface="Arial"/>
                <a:sym typeface="Arial"/>
              </a:rPr>
              <a:t>[11] Agarwal, I.; Singh, A.; Agarwal, A.; Mishra, S.; Satapathy, S. K.; Cho, S.-B.; Prusty, M. R.; and Mohanty, S. N. 2024. Enhancing Road Safety and Cybersecurity in Traffic Management Systems: Leveraging the Potential of Reinforcement Learning. IEEE Access, 12: 9963–9975.</a:t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960">
                <a:latin typeface="Arial"/>
                <a:ea typeface="Arial"/>
                <a:cs typeface="Arial"/>
                <a:sym typeface="Arial"/>
              </a:rPr>
              <a:t>[12] Zhu, R.; Wu, S.; Li, L.; Ding, W.; Lv, P.; and Sui, L. 2024. Adaptive Broad Deep Reinforcement Learning for Intelligent Traffic Light Control. IEEE Internet of Things Journal,</a:t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960">
                <a:latin typeface="Arial"/>
                <a:ea typeface="Arial"/>
                <a:cs typeface="Arial"/>
                <a:sym typeface="Arial"/>
              </a:rPr>
              <a:t>11(17): 28496–28507.</a:t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960">
                <a:latin typeface="Arial"/>
                <a:ea typeface="Arial"/>
                <a:cs typeface="Arial"/>
                <a:sym typeface="Arial"/>
              </a:rPr>
              <a:t>[13] Ei Mon, E.; Ochiai, H.; and Aswakul, C. 2024. Application of Traffic Light Control in Oversaturated Urban Network Using Multi-Agent Deep Reinforcement Learning. IEEE Access, 12: 82384–82395.</a:t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960">
                <a:latin typeface="Arial"/>
                <a:ea typeface="Arial"/>
                <a:cs typeface="Arial"/>
                <a:sym typeface="Arial"/>
              </a:rPr>
              <a:t>[14] Han, G.; Han, Y.; Wang, H.; Ruan, T.; and Li, C. 2024. Coordinated Control of Urban Expressway Integrating Adjacent Signalized Intersections Using Adversarial Network Based</a:t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60">
                <a:latin typeface="Arial"/>
                <a:ea typeface="Arial"/>
                <a:cs typeface="Arial"/>
                <a:sym typeface="Arial"/>
              </a:rPr>
              <a:t>Reinforcement Learning Method. IEEE Transactions on Intelligent Transportation Systems, 25(2): 1857–1871.</a:t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960">
                <a:latin typeface="Arial"/>
                <a:ea typeface="Arial"/>
                <a:cs typeface="Arial"/>
                <a:sym typeface="Arial"/>
              </a:rPr>
              <a:t>[15] Xu, D.; Yu, Z.; Liao, X.; and Guo, H. 2024. A Graph Deep Reinforcement Learning Traffic Signal Control for Multiple Intersections Considering Missing Data. IEEE Transactions on Vehicular Technology, 73(12): 18307–18319.</a:t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960">
                <a:latin typeface="Arial"/>
                <a:ea typeface="Arial"/>
                <a:cs typeface="Arial"/>
                <a:sym typeface="Arial"/>
              </a:rPr>
              <a:t>[16] Jiang, Q.; Qin, M.; Zhang, H.; Zhang, X.; and Sun, W. 2024. BlindLight: High Robustness Reinforcement Learning Method to Solve Partially Blinded Traffic Signal Control Problem. IEEE Transactions on Intelligent Transportation Systems, 25(11): 16625–16641</a:t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960">
                <a:latin typeface="Arial"/>
                <a:ea typeface="Arial"/>
                <a:cs typeface="Arial"/>
                <a:sym typeface="Arial"/>
              </a:rPr>
              <a:t>[17] Lee, D. 2024. Transfer Learning-Based Deep Reinforcement Learning Approach for Robust Route Guidance in Mixed Traffic Environment. IEEE Access, 12: 61667– 61680.</a:t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960">
                <a:latin typeface="Arial"/>
                <a:ea typeface="Arial"/>
                <a:cs typeface="Arial"/>
                <a:sym typeface="Arial"/>
              </a:rPr>
              <a:t>[18] Fereidooni, Z.; Palesi, L. A. I.; and Nesi, P. 2025. Multi</a:t>
            </a:r>
            <a:r>
              <a:rPr lang="en-US" sz="96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960">
                <a:latin typeface="Arial"/>
                <a:ea typeface="Arial"/>
                <a:cs typeface="Arial"/>
                <a:sym typeface="Arial"/>
              </a:rPr>
              <a:t>Agent Optimizing Traffic Light Signals Using Deep Reinforcement Learning. IEEE Access, 13: 106974–106988.</a:t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96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ccs-powerpoint-template-2014-cobrande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2021-01-22T16:46:01Z</dcterms:created>
  <dc:creator>Michael Schaming</dc:creator>
</cp:coreProperties>
</file>