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56" r:id="rId5"/>
    <p:sldId id="295" r:id="rId6"/>
    <p:sldId id="296" r:id="rId7"/>
    <p:sldId id="297" r:id="rId8"/>
    <p:sldId id="300" r:id="rId9"/>
    <p:sldId id="302" r:id="rId10"/>
    <p:sldId id="301" r:id="rId11"/>
    <p:sldId id="298" r:id="rId12"/>
    <p:sldId id="280" r:id="rId13"/>
    <p:sldId id="292"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B879"/>
    <a:srgbClr val="D3B979"/>
    <a:srgbClr val="D2C121"/>
    <a:srgbClr val="D2BF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4" y="104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2072D7-2EB2-4638-9852-F611AC393572}" type="datetimeFigureOut">
              <a:rPr lang="en-US" smtClean="0"/>
              <a:t>2/13/2026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A055F2-2943-4D6C-B8FE-6ACCF7424660}" type="slidenum">
              <a:rPr lang="en-US" smtClean="0"/>
              <a:t>‹#›</a:t>
            </a:fld>
            <a:endParaRPr lang="en-US"/>
          </a:p>
        </p:txBody>
      </p:sp>
    </p:spTree>
    <p:extLst>
      <p:ext uri="{BB962C8B-B14F-4D97-AF65-F5344CB8AC3E}">
        <p14:creationId xmlns:p14="http://schemas.microsoft.com/office/powerpoint/2010/main" val="2478174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055F2-2943-4D6C-B8FE-6ACCF7424660}" type="slidenum">
              <a:rPr lang="en-US" smtClean="0"/>
              <a:t>1</a:t>
            </a:fld>
            <a:endParaRPr lang="en-US"/>
          </a:p>
        </p:txBody>
      </p:sp>
    </p:spTree>
    <p:extLst>
      <p:ext uri="{BB962C8B-B14F-4D97-AF65-F5344CB8AC3E}">
        <p14:creationId xmlns:p14="http://schemas.microsoft.com/office/powerpoint/2010/main" val="1395486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381000" y="5807075"/>
            <a:ext cx="2133600" cy="365125"/>
          </a:xfrm>
        </p:spPr>
        <p:txBody>
          <a:bodyPr/>
          <a:lstStyle/>
          <a:p>
            <a:endParaRPr lang="en-US"/>
          </a:p>
        </p:txBody>
      </p:sp>
      <p:sp>
        <p:nvSpPr>
          <p:cNvPr id="5" name="Footer Placeholder 4"/>
          <p:cNvSpPr>
            <a:spLocks noGrp="1"/>
          </p:cNvSpPr>
          <p:nvPr>
            <p:ph type="ftr" sz="quarter" idx="11"/>
          </p:nvPr>
        </p:nvSpPr>
        <p:spPr>
          <a:xfrm>
            <a:off x="3124200" y="5807075"/>
            <a:ext cx="2895600" cy="365125"/>
          </a:xfrm>
        </p:spPr>
        <p:txBody>
          <a:bodyPr/>
          <a:lstStyle/>
          <a:p>
            <a:endParaRPr lang="en-US"/>
          </a:p>
        </p:txBody>
      </p:sp>
      <p:sp>
        <p:nvSpPr>
          <p:cNvPr id="6"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381000" y="5807075"/>
            <a:ext cx="2133600" cy="365125"/>
          </a:xfrm>
        </p:spPr>
        <p:txBody>
          <a:bodyPr/>
          <a:lstStyle/>
          <a:p>
            <a:endParaRPr lang="en-US"/>
          </a:p>
        </p:txBody>
      </p:sp>
      <p:sp>
        <p:nvSpPr>
          <p:cNvPr id="11" name="Footer Placeholder 4"/>
          <p:cNvSpPr>
            <a:spLocks noGrp="1"/>
          </p:cNvSpPr>
          <p:nvPr>
            <p:ph type="ftr" sz="quarter" idx="11"/>
          </p:nvPr>
        </p:nvSpPr>
        <p:spPr>
          <a:xfrm>
            <a:off x="3124200" y="5807075"/>
            <a:ext cx="2895600" cy="365125"/>
          </a:xfrm>
        </p:spPr>
        <p:txBody>
          <a:bodyPr/>
          <a:lstStyle/>
          <a:p>
            <a:endParaRPr lang="en-US"/>
          </a:p>
        </p:txBody>
      </p:sp>
      <p:sp>
        <p:nvSpPr>
          <p:cNvPr id="12"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none"/>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a:xfrm>
            <a:off x="381000" y="5807075"/>
            <a:ext cx="2133600" cy="365125"/>
          </a:xfrm>
        </p:spPr>
        <p:txBody>
          <a:bodyPr/>
          <a:lstStyle/>
          <a:p>
            <a:endParaRPr lang="en-US"/>
          </a:p>
        </p:txBody>
      </p:sp>
      <p:sp>
        <p:nvSpPr>
          <p:cNvPr id="8" name="Footer Placeholder 4"/>
          <p:cNvSpPr>
            <a:spLocks noGrp="1"/>
          </p:cNvSpPr>
          <p:nvPr>
            <p:ph type="ftr" sz="quarter" idx="11"/>
          </p:nvPr>
        </p:nvSpPr>
        <p:spPr>
          <a:xfrm>
            <a:off x="3124200" y="5807075"/>
            <a:ext cx="2895600" cy="365125"/>
          </a:xfrm>
        </p:spPr>
        <p:txBody>
          <a:bodyPr/>
          <a:lstStyle/>
          <a:p>
            <a:endParaRPr lang="en-US"/>
          </a:p>
        </p:txBody>
      </p:sp>
      <p:sp>
        <p:nvSpPr>
          <p:cNvPr id="9"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a:xfrm>
            <a:off x="381000" y="5807075"/>
            <a:ext cx="2133600" cy="365125"/>
          </a:xfrm>
        </p:spPr>
        <p:txBody>
          <a:bodyPr/>
          <a:lstStyle/>
          <a:p>
            <a:endParaRPr lang="en-US"/>
          </a:p>
        </p:txBody>
      </p:sp>
      <p:sp>
        <p:nvSpPr>
          <p:cNvPr id="9" name="Footer Placeholder 4"/>
          <p:cNvSpPr>
            <a:spLocks noGrp="1"/>
          </p:cNvSpPr>
          <p:nvPr>
            <p:ph type="ftr" sz="quarter" idx="11"/>
          </p:nvPr>
        </p:nvSpPr>
        <p:spPr>
          <a:xfrm>
            <a:off x="3124200" y="5807075"/>
            <a:ext cx="2895600" cy="365125"/>
          </a:xfrm>
        </p:spPr>
        <p:txBody>
          <a:bodyPr/>
          <a:lstStyle/>
          <a:p>
            <a:endParaRPr lang="en-US"/>
          </a:p>
        </p:txBody>
      </p:sp>
      <p:sp>
        <p:nvSpPr>
          <p:cNvPr id="10"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381000" y="5807075"/>
            <a:ext cx="2133600" cy="365125"/>
          </a:xfrm>
        </p:spPr>
        <p:txBody>
          <a:bodyPr/>
          <a:lstStyle/>
          <a:p>
            <a:endParaRPr lang="en-US"/>
          </a:p>
        </p:txBody>
      </p:sp>
      <p:sp>
        <p:nvSpPr>
          <p:cNvPr id="11" name="Footer Placeholder 4"/>
          <p:cNvSpPr>
            <a:spLocks noGrp="1"/>
          </p:cNvSpPr>
          <p:nvPr>
            <p:ph type="ftr" sz="quarter" idx="11"/>
          </p:nvPr>
        </p:nvSpPr>
        <p:spPr>
          <a:xfrm>
            <a:off x="3124200" y="5807075"/>
            <a:ext cx="2895600" cy="365125"/>
          </a:xfrm>
        </p:spPr>
        <p:txBody>
          <a:bodyPr/>
          <a:lstStyle/>
          <a:p>
            <a:endParaRPr lang="en-US"/>
          </a:p>
        </p:txBody>
      </p:sp>
      <p:sp>
        <p:nvSpPr>
          <p:cNvPr id="12"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3"/>
          <p:cNvSpPr>
            <a:spLocks noGrp="1"/>
          </p:cNvSpPr>
          <p:nvPr>
            <p:ph type="dt" sz="half" idx="10"/>
          </p:nvPr>
        </p:nvSpPr>
        <p:spPr>
          <a:xfrm>
            <a:off x="381000" y="5807075"/>
            <a:ext cx="2133600" cy="365125"/>
          </a:xfrm>
        </p:spPr>
        <p:txBody>
          <a:bodyPr/>
          <a:lstStyle/>
          <a:p>
            <a:endParaRPr lang="en-US"/>
          </a:p>
        </p:txBody>
      </p:sp>
      <p:sp>
        <p:nvSpPr>
          <p:cNvPr id="7" name="Footer Placeholder 4"/>
          <p:cNvSpPr>
            <a:spLocks noGrp="1"/>
          </p:cNvSpPr>
          <p:nvPr>
            <p:ph type="ftr" sz="quarter" idx="11"/>
          </p:nvPr>
        </p:nvSpPr>
        <p:spPr>
          <a:xfrm>
            <a:off x="3124200" y="5807075"/>
            <a:ext cx="2895600" cy="365125"/>
          </a:xfrm>
        </p:spPr>
        <p:txBody>
          <a:bodyPr/>
          <a:lstStyle/>
          <a:p>
            <a:endParaRPr lang="en-US"/>
          </a:p>
        </p:txBody>
      </p:sp>
      <p:sp>
        <p:nvSpPr>
          <p:cNvPr id="8"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10"/>
          </p:nvPr>
        </p:nvSpPr>
        <p:spPr>
          <a:xfrm>
            <a:off x="381000" y="5807075"/>
            <a:ext cx="2133600" cy="365125"/>
          </a:xfrm>
        </p:spPr>
        <p:txBody>
          <a:bodyPr/>
          <a:lstStyle/>
          <a:p>
            <a:endParaRPr lang="en-US"/>
          </a:p>
        </p:txBody>
      </p:sp>
      <p:sp>
        <p:nvSpPr>
          <p:cNvPr id="6" name="Footer Placeholder 4"/>
          <p:cNvSpPr>
            <a:spLocks noGrp="1"/>
          </p:cNvSpPr>
          <p:nvPr>
            <p:ph type="ftr" sz="quarter" idx="11"/>
          </p:nvPr>
        </p:nvSpPr>
        <p:spPr>
          <a:xfrm>
            <a:off x="3124200" y="5807075"/>
            <a:ext cx="2895600" cy="365125"/>
          </a:xfrm>
        </p:spPr>
        <p:txBody>
          <a:bodyPr/>
          <a:lstStyle/>
          <a:p>
            <a:endParaRPr lang="en-US"/>
          </a:p>
        </p:txBody>
      </p:sp>
      <p:sp>
        <p:nvSpPr>
          <p:cNvPr id="7"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381000" y="5807075"/>
            <a:ext cx="2133600" cy="365125"/>
          </a:xfrm>
        </p:spPr>
        <p:txBody>
          <a:bodyPr/>
          <a:lstStyle/>
          <a:p>
            <a:endParaRPr lang="en-US"/>
          </a:p>
        </p:txBody>
      </p:sp>
      <p:sp>
        <p:nvSpPr>
          <p:cNvPr id="9" name="Footer Placeholder 4"/>
          <p:cNvSpPr>
            <a:spLocks noGrp="1"/>
          </p:cNvSpPr>
          <p:nvPr>
            <p:ph type="ftr" sz="quarter" idx="11"/>
          </p:nvPr>
        </p:nvSpPr>
        <p:spPr>
          <a:xfrm>
            <a:off x="3124200" y="5807075"/>
            <a:ext cx="2895600" cy="365125"/>
          </a:xfrm>
        </p:spPr>
        <p:txBody>
          <a:bodyPr/>
          <a:lstStyle/>
          <a:p>
            <a:endParaRPr lang="en-US"/>
          </a:p>
        </p:txBody>
      </p:sp>
      <p:sp>
        <p:nvSpPr>
          <p:cNvPr id="10"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381000" y="5807075"/>
            <a:ext cx="2133600" cy="365125"/>
          </a:xfrm>
        </p:spPr>
        <p:txBody>
          <a:bodyPr/>
          <a:lstStyle/>
          <a:p>
            <a:endParaRPr lang="en-US"/>
          </a:p>
        </p:txBody>
      </p:sp>
      <p:sp>
        <p:nvSpPr>
          <p:cNvPr id="9" name="Footer Placeholder 4"/>
          <p:cNvSpPr>
            <a:spLocks noGrp="1"/>
          </p:cNvSpPr>
          <p:nvPr>
            <p:ph type="ftr" sz="quarter" idx="11"/>
          </p:nvPr>
        </p:nvSpPr>
        <p:spPr>
          <a:xfrm>
            <a:off x="3124200" y="5807075"/>
            <a:ext cx="2895600" cy="365125"/>
          </a:xfrm>
        </p:spPr>
        <p:txBody>
          <a:bodyPr/>
          <a:lstStyle/>
          <a:p>
            <a:endParaRPr lang="en-US"/>
          </a:p>
        </p:txBody>
      </p:sp>
      <p:sp>
        <p:nvSpPr>
          <p:cNvPr id="10"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381000" y="5807075"/>
            <a:ext cx="2133600" cy="365125"/>
          </a:xfrm>
        </p:spPr>
        <p:txBody>
          <a:bodyPr/>
          <a:lstStyle/>
          <a:p>
            <a:endParaRPr lang="en-US"/>
          </a:p>
        </p:txBody>
      </p:sp>
      <p:sp>
        <p:nvSpPr>
          <p:cNvPr id="8" name="Footer Placeholder 4"/>
          <p:cNvSpPr>
            <a:spLocks noGrp="1"/>
          </p:cNvSpPr>
          <p:nvPr>
            <p:ph type="ftr" sz="quarter" idx="11"/>
          </p:nvPr>
        </p:nvSpPr>
        <p:spPr>
          <a:xfrm>
            <a:off x="3124200" y="5807075"/>
            <a:ext cx="2895600" cy="365125"/>
          </a:xfrm>
        </p:spPr>
        <p:txBody>
          <a:bodyPr/>
          <a:lstStyle/>
          <a:p>
            <a:endParaRPr lang="en-US"/>
          </a:p>
        </p:txBody>
      </p:sp>
      <p:sp>
        <p:nvSpPr>
          <p:cNvPr id="9"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381000" y="5807075"/>
            <a:ext cx="2133600" cy="365125"/>
          </a:xfrm>
        </p:spPr>
        <p:txBody>
          <a:bodyPr/>
          <a:lstStyle/>
          <a:p>
            <a:endParaRPr lang="en-US"/>
          </a:p>
        </p:txBody>
      </p:sp>
      <p:sp>
        <p:nvSpPr>
          <p:cNvPr id="8" name="Footer Placeholder 4"/>
          <p:cNvSpPr>
            <a:spLocks noGrp="1"/>
          </p:cNvSpPr>
          <p:nvPr>
            <p:ph type="ftr" sz="quarter" idx="11"/>
          </p:nvPr>
        </p:nvSpPr>
        <p:spPr>
          <a:xfrm>
            <a:off x="3124200" y="5807075"/>
            <a:ext cx="2895600" cy="365125"/>
          </a:xfrm>
        </p:spPr>
        <p:txBody>
          <a:bodyPr/>
          <a:lstStyle/>
          <a:p>
            <a:endParaRPr lang="en-US"/>
          </a:p>
        </p:txBody>
      </p:sp>
      <p:sp>
        <p:nvSpPr>
          <p:cNvPr id="9"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Rectangle 5"/>
          <p:cNvSpPr/>
          <p:nvPr userDrawn="1"/>
        </p:nvSpPr>
        <p:spPr>
          <a:xfrm>
            <a:off x="0" y="0"/>
            <a:ext cx="9144000" cy="6858000"/>
          </a:xfrm>
          <a:prstGeom prst="rect">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pic>
        <p:nvPicPr>
          <p:cNvPr id="10" name="Picture 9" descr="UCCS Signature - Revers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6300" y="2438400"/>
            <a:ext cx="7391400" cy="1023257"/>
          </a:xfrm>
          <a:prstGeom prst="rect">
            <a:avLst/>
          </a:prstGeom>
        </p:spPr>
      </p:pic>
      <p:pic>
        <p:nvPicPr>
          <p:cNvPr id="5" name="Picture 4" descr="UCwCampusesRev.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6000" y="4191000"/>
            <a:ext cx="5029200" cy="960704"/>
          </a:xfrm>
          <a:prstGeom prst="rect">
            <a:avLst/>
          </a:prstGeom>
        </p:spPr>
      </p:pic>
    </p:spTree>
    <p:extLst>
      <p:ext uri="{BB962C8B-B14F-4D97-AF65-F5344CB8AC3E}">
        <p14:creationId xmlns:p14="http://schemas.microsoft.com/office/powerpoint/2010/main" val="173747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419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49ADDE-98E8-4149-84E6-9A28F99CE161}" type="datetimeFigureOut">
              <a:rPr lang="en-US" smtClean="0"/>
              <a:pPr/>
              <a:t>2/13/2026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3EFB43-BEAF-4970-A06C-24B01B76FA99}" type="slidenum">
              <a:rPr lang="en-US" smtClean="0"/>
              <a:pPr/>
              <a:t>‹#›</a:t>
            </a:fld>
            <a:endParaRPr lang="en-US"/>
          </a:p>
        </p:txBody>
      </p:sp>
      <p:sp>
        <p:nvSpPr>
          <p:cNvPr id="7" name="Rectangle 6"/>
          <p:cNvSpPr/>
          <p:nvPr/>
        </p:nvSpPr>
        <p:spPr>
          <a:xfrm>
            <a:off x="0" y="6172200"/>
            <a:ext cx="9144000" cy="685800"/>
          </a:xfrm>
          <a:prstGeom prst="rect">
            <a:avLst/>
          </a:prstGeom>
          <a:solidFill>
            <a:schemeClr val="tx1"/>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UCCS Signature - Reverse.png"/>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7200" y="6351379"/>
            <a:ext cx="2581774" cy="354221"/>
          </a:xfrm>
          <a:prstGeom prst="rect">
            <a:avLst/>
          </a:prstGeom>
        </p:spPr>
      </p:pic>
      <p:pic>
        <p:nvPicPr>
          <p:cNvPr id="12" name="Picture 11" descr="UCwCampusesRev.png"/>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6477000" y="6283472"/>
            <a:ext cx="2209801" cy="42212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Finetuning Large Language Models with Proprietary Data</a:t>
            </a:r>
          </a:p>
        </p:txBody>
      </p:sp>
      <p:sp>
        <p:nvSpPr>
          <p:cNvPr id="5" name="Subtitle 4"/>
          <p:cNvSpPr>
            <a:spLocks noGrp="1"/>
          </p:cNvSpPr>
          <p:nvPr>
            <p:ph type="subTitle" idx="1"/>
          </p:nvPr>
        </p:nvSpPr>
        <p:spPr/>
        <p:txBody>
          <a:bodyPr>
            <a:normAutofit/>
          </a:bodyPr>
          <a:lstStyle/>
          <a:p>
            <a:r>
              <a:rPr lang="en-US" dirty="0"/>
              <a:t>Joe Weibel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77BF5-0DEC-F221-D704-13C5CFD466CC}"/>
              </a:ext>
            </a:extLst>
          </p:cNvPr>
          <p:cNvSpPr>
            <a:spLocks noGrp="1"/>
          </p:cNvSpPr>
          <p:nvPr>
            <p:ph type="title"/>
          </p:nvPr>
        </p:nvSpPr>
        <p:spPr>
          <a:xfrm>
            <a:off x="563389" y="0"/>
            <a:ext cx="8229600" cy="1143000"/>
          </a:xfrm>
        </p:spPr>
        <p:txBody>
          <a:bodyPr/>
          <a:lstStyle/>
          <a:p>
            <a:r>
              <a:rPr lang="en-US" dirty="0"/>
              <a:t>Background</a:t>
            </a:r>
          </a:p>
        </p:txBody>
      </p:sp>
      <p:sp>
        <p:nvSpPr>
          <p:cNvPr id="3" name="Content Placeholder 2">
            <a:extLst>
              <a:ext uri="{FF2B5EF4-FFF2-40B4-BE49-F238E27FC236}">
                <a16:creationId xmlns:a16="http://schemas.microsoft.com/office/drawing/2014/main" id="{3AB2F8DE-B837-274A-B912-21E44290ED9E}"/>
              </a:ext>
            </a:extLst>
          </p:cNvPr>
          <p:cNvSpPr>
            <a:spLocks noGrp="1"/>
          </p:cNvSpPr>
          <p:nvPr>
            <p:ph idx="1"/>
          </p:nvPr>
        </p:nvSpPr>
        <p:spPr>
          <a:xfrm>
            <a:off x="516194" y="1110554"/>
            <a:ext cx="8229600" cy="5001177"/>
          </a:xfrm>
        </p:spPr>
        <p:txBody>
          <a:bodyPr>
            <a:normAutofit/>
          </a:bodyPr>
          <a:lstStyle/>
          <a:p>
            <a:r>
              <a:rPr lang="en-US" sz="2000" dirty="0">
                <a:latin typeface="Times New Roman" panose="02020603050405020304" pitchFamily="18" charset="0"/>
                <a:cs typeface="Times New Roman" panose="02020603050405020304" pitchFamily="18" charset="0"/>
              </a:rPr>
              <a:t>Large Language Model (LLM) – Neural network that has been training on large amounts of data to predict the next token value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Reinforcement Learning from Human Feedback (RLHF) – Training paradigm that will assist with aligning what the model outputs with desired output using a feedback reward structure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Proximal Policy Optimization (PPO) – A reinforcement learning algorithm that uses controlled updates to the policy based on the reward signals without making drastic changes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Low-Rank Adaptation (</a:t>
            </a:r>
            <a:r>
              <a:rPr lang="en-US" sz="2000" dirty="0" err="1">
                <a:latin typeface="Times New Roman" panose="02020603050405020304" pitchFamily="18" charset="0"/>
                <a:cs typeface="Times New Roman" panose="02020603050405020304" pitchFamily="18" charset="0"/>
              </a:rPr>
              <a:t>LoRA</a:t>
            </a:r>
            <a:r>
              <a:rPr lang="en-US" sz="2000" dirty="0">
                <a:latin typeface="Times New Roman" panose="02020603050405020304" pitchFamily="18" charset="0"/>
                <a:cs typeface="Times New Roman" panose="02020603050405020304" pitchFamily="18" charset="0"/>
              </a:rPr>
              <a:t>) – Freezes the original model’s weights and adds new matrices to the model. Instead of tuning the entire model, I only tune the low rank matrices added to increase efficiency</a:t>
            </a:r>
          </a:p>
        </p:txBody>
      </p:sp>
    </p:spTree>
    <p:extLst>
      <p:ext uri="{BB962C8B-B14F-4D97-AF65-F5344CB8AC3E}">
        <p14:creationId xmlns:p14="http://schemas.microsoft.com/office/powerpoint/2010/main" val="380310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800CE-38EA-8AAD-6E65-DC1CDFF50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5DCB7-546E-0F3B-AE33-8AD7494E0215}"/>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A4320306-931B-E8FC-BA51-C8C5CF6192F3}"/>
              </a:ext>
            </a:extLst>
          </p:cNvPr>
          <p:cNvSpPr>
            <a:spLocks noGrp="1"/>
          </p:cNvSpPr>
          <p:nvPr>
            <p:ph idx="1"/>
          </p:nvPr>
        </p:nvSpPr>
        <p:spPr/>
        <p:txBody>
          <a:bodyPr>
            <a:normAutofit lnSpcReduction="10000"/>
          </a:bodyPr>
          <a:lstStyle/>
          <a:p>
            <a:r>
              <a:rPr lang="en-US" sz="2000" dirty="0">
                <a:latin typeface="Times New Roman" panose="02020603050405020304" pitchFamily="18" charset="0"/>
                <a:cs typeface="Times New Roman" panose="02020603050405020304" pitchFamily="18" charset="0"/>
              </a:rPr>
              <a:t>Most large language models are training on broad and any accessible public data that can not align with what is being done in an air gapped network or just doesn’t align with proprietary business practices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Finetuning an entire model is computationally expensive and can have issues such as overfitting and forgetting what it was initially trained 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Using </a:t>
            </a:r>
            <a:r>
              <a:rPr lang="en-US" sz="2000" dirty="0" err="1">
                <a:latin typeface="Times New Roman" panose="02020603050405020304" pitchFamily="18" charset="0"/>
                <a:cs typeface="Times New Roman" panose="02020603050405020304" pitchFamily="18" charset="0"/>
              </a:rPr>
              <a:t>LoRA</a:t>
            </a:r>
            <a:r>
              <a:rPr lang="en-US" sz="2000" dirty="0">
                <a:latin typeface="Times New Roman" panose="02020603050405020304" pitchFamily="18" charset="0"/>
                <a:cs typeface="Times New Roman" panose="02020603050405020304" pitchFamily="18" charset="0"/>
              </a:rPr>
              <a:t> is more efficient at fine tuning that a complete retrain of the model and using reinforcement learning will help build trust in the agent's responses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What is the best way to adapt pretrained models that don’t align with an organization, to proprietary data to increase efficiencies across the organization?</a:t>
            </a:r>
          </a:p>
        </p:txBody>
      </p:sp>
    </p:spTree>
    <p:extLst>
      <p:ext uri="{BB962C8B-B14F-4D97-AF65-F5344CB8AC3E}">
        <p14:creationId xmlns:p14="http://schemas.microsoft.com/office/powerpoint/2010/main" val="891403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810FC-D8FA-EA75-5B23-56EF50FD0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1731F-34BC-05CE-1C91-B8BB971E519E}"/>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5B8B071F-2774-35C8-1EA1-DE03044E6E07}"/>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Can </a:t>
            </a:r>
            <a:r>
              <a:rPr lang="en-US" sz="2000" dirty="0" err="1">
                <a:latin typeface="Times New Roman" panose="02020603050405020304" pitchFamily="18" charset="0"/>
                <a:cs typeface="Times New Roman" panose="02020603050405020304" pitchFamily="18" charset="0"/>
              </a:rPr>
              <a:t>LoRA</a:t>
            </a:r>
            <a:r>
              <a:rPr lang="en-US" sz="2000" dirty="0">
                <a:latin typeface="Times New Roman" panose="02020603050405020304" pitchFamily="18" charset="0"/>
                <a:cs typeface="Times New Roman" panose="02020603050405020304" pitchFamily="18" charset="0"/>
              </a:rPr>
              <a:t> compete with a model that has been fully fine-tuned? Is the efficiency in finetuning a good trade off?</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Quantify the difference between how different models perform</a:t>
            </a:r>
          </a:p>
          <a:p>
            <a:pPr lvl="1"/>
            <a:r>
              <a:rPr lang="en-US" sz="2000" dirty="0">
                <a:latin typeface="Times New Roman" panose="02020603050405020304" pitchFamily="18" charset="0"/>
                <a:cs typeface="Times New Roman" panose="02020603050405020304" pitchFamily="18" charset="0"/>
              </a:rPr>
              <a:t>Base model</a:t>
            </a:r>
          </a:p>
          <a:p>
            <a:pPr lvl="1"/>
            <a:r>
              <a:rPr lang="en-US" sz="2000" dirty="0">
                <a:latin typeface="Times New Roman" panose="02020603050405020304" pitchFamily="18" charset="0"/>
                <a:cs typeface="Times New Roman" panose="02020603050405020304" pitchFamily="18" charset="0"/>
              </a:rPr>
              <a:t>PPO aligned model with </a:t>
            </a:r>
            <a:r>
              <a:rPr lang="en-US" sz="2000" dirty="0" err="1">
                <a:latin typeface="Times New Roman" panose="02020603050405020304" pitchFamily="18" charset="0"/>
                <a:cs typeface="Times New Roman" panose="02020603050405020304" pitchFamily="18" charset="0"/>
              </a:rPr>
              <a:t>LoRA</a:t>
            </a:r>
            <a:endParaRPr lang="en-US" sz="2000" dirty="0">
              <a:latin typeface="Times New Roman" panose="02020603050405020304" pitchFamily="18" charset="0"/>
              <a:cs typeface="Times New Roman" panose="02020603050405020304" pitchFamily="18" charset="0"/>
            </a:endParaRPr>
          </a:p>
          <a:p>
            <a:pPr lvl="1"/>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 want to gain experience with this project so I can implement a solution in a professional setting at my current job to gain efficiencies across the software development lifecycle</a:t>
            </a:r>
          </a:p>
        </p:txBody>
      </p:sp>
    </p:spTree>
    <p:extLst>
      <p:ext uri="{BB962C8B-B14F-4D97-AF65-F5344CB8AC3E}">
        <p14:creationId xmlns:p14="http://schemas.microsoft.com/office/powerpoint/2010/main" val="2761487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63808-9332-7ED0-4AEE-3472BCFAB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3CAA8-820F-690F-A244-579F0DAFB758}"/>
              </a:ext>
            </a:extLst>
          </p:cNvPr>
          <p:cNvSpPr>
            <a:spLocks noGrp="1"/>
          </p:cNvSpPr>
          <p:nvPr>
            <p:ph type="title"/>
          </p:nvPr>
        </p:nvSpPr>
        <p:spPr>
          <a:xfrm>
            <a:off x="392307" y="50462"/>
            <a:ext cx="8229600" cy="1143000"/>
          </a:xfrm>
        </p:spPr>
        <p:txBody>
          <a:bodyPr/>
          <a:lstStyle/>
          <a:p>
            <a:pPr algn="ctr"/>
            <a:r>
              <a:rPr lang="en-US" dirty="0"/>
              <a:t>Related Work – </a:t>
            </a:r>
            <a:r>
              <a:rPr lang="en-US" dirty="0" err="1"/>
              <a:t>arxiv</a:t>
            </a:r>
            <a:r>
              <a:rPr lang="en-US" dirty="0"/>
              <a:t> 2017</a:t>
            </a:r>
          </a:p>
        </p:txBody>
      </p:sp>
      <p:sp>
        <p:nvSpPr>
          <p:cNvPr id="3" name="Content Placeholder 2">
            <a:extLst>
              <a:ext uri="{FF2B5EF4-FFF2-40B4-BE49-F238E27FC236}">
                <a16:creationId xmlns:a16="http://schemas.microsoft.com/office/drawing/2014/main" id="{EB39B5BE-9B81-148B-6612-D64890EAD48C}"/>
              </a:ext>
            </a:extLst>
          </p:cNvPr>
          <p:cNvSpPr>
            <a:spLocks noGrp="1"/>
          </p:cNvSpPr>
          <p:nvPr>
            <p:ph idx="1"/>
          </p:nvPr>
        </p:nvSpPr>
        <p:spPr>
          <a:xfrm>
            <a:off x="392307" y="1045661"/>
            <a:ext cx="8229600" cy="4419600"/>
          </a:xfrm>
        </p:spPr>
        <p:txBody>
          <a:bodyPr>
            <a:normAutofit/>
          </a:bodyPr>
          <a:lstStyle/>
          <a:p>
            <a:r>
              <a:rPr lang="en-US" sz="2000" dirty="0">
                <a:latin typeface="Times New Roman" panose="02020603050405020304" pitchFamily="18" charset="0"/>
                <a:cs typeface="Times New Roman" panose="02020603050405020304" pitchFamily="18" charset="0"/>
              </a:rPr>
              <a:t>Design a policy gradient algorithm that is as stable and reliable as trust region policy optimization, simpler to implement, more sample efficient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Results showed PPO was comparable or outperformed all algorithms it was tested against while keeping the reward feedback loops to remain stable</a:t>
            </a:r>
          </a:p>
          <a:p>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C8ADCE-F62A-F1CE-E9AC-1A1D0DDA4C63}"/>
              </a:ext>
            </a:extLst>
          </p:cNvPr>
          <p:cNvSpPr txBox="1"/>
          <p:nvPr/>
        </p:nvSpPr>
        <p:spPr>
          <a:xfrm>
            <a:off x="392307" y="5539494"/>
            <a:ext cx="8229600" cy="584775"/>
          </a:xfrm>
          <a:prstGeom prst="rect">
            <a:avLst/>
          </a:prstGeom>
          <a:noFill/>
        </p:spPr>
        <p:txBody>
          <a:bodyPr wrap="square" rtlCol="0">
            <a:spAutoFit/>
          </a:bodyPr>
          <a:lstStyle/>
          <a:p>
            <a:r>
              <a:rPr lang="en-US" sz="1600" i="1" dirty="0"/>
              <a:t>Schulman, John, et al. "Proximal policy optimization algorithms." </a:t>
            </a:r>
            <a:r>
              <a:rPr lang="en-US" sz="1600" i="1" dirty="0" err="1"/>
              <a:t>arXiv</a:t>
            </a:r>
            <a:r>
              <a:rPr lang="en-US" sz="1600" i="1" dirty="0"/>
              <a:t> preprint arXiv:1707.06347 (2017).</a:t>
            </a:r>
          </a:p>
        </p:txBody>
      </p:sp>
      <p:graphicFrame>
        <p:nvGraphicFramePr>
          <p:cNvPr id="6" name="Table 5">
            <a:extLst>
              <a:ext uri="{FF2B5EF4-FFF2-40B4-BE49-F238E27FC236}">
                <a16:creationId xmlns:a16="http://schemas.microsoft.com/office/drawing/2014/main" id="{D2DC766C-803D-7A55-CBE0-55F4CF1C5D35}"/>
              </a:ext>
            </a:extLst>
          </p:cNvPr>
          <p:cNvGraphicFramePr>
            <a:graphicFrameLocks noGrp="1"/>
          </p:cNvGraphicFramePr>
          <p:nvPr>
            <p:extLst>
              <p:ext uri="{D42A27DB-BD31-4B8C-83A1-F6EECF244321}">
                <p14:modId xmlns:p14="http://schemas.microsoft.com/office/powerpoint/2010/main" val="1173221656"/>
              </p:ext>
            </p:extLst>
          </p:nvPr>
        </p:nvGraphicFramePr>
        <p:xfrm>
          <a:off x="130768" y="2971035"/>
          <a:ext cx="8752677" cy="2568459"/>
        </p:xfrm>
        <a:graphic>
          <a:graphicData uri="http://schemas.openxmlformats.org/drawingml/2006/table">
            <a:tbl>
              <a:tblPr firstRow="1" bandRow="1">
                <a:tableStyleId>{5C22544A-7EE6-4342-B048-85BDC9FD1C3A}</a:tableStyleId>
              </a:tblPr>
              <a:tblGrid>
                <a:gridCol w="2917559">
                  <a:extLst>
                    <a:ext uri="{9D8B030D-6E8A-4147-A177-3AD203B41FA5}">
                      <a16:colId xmlns:a16="http://schemas.microsoft.com/office/drawing/2014/main" val="107539580"/>
                    </a:ext>
                  </a:extLst>
                </a:gridCol>
                <a:gridCol w="2917559">
                  <a:extLst>
                    <a:ext uri="{9D8B030D-6E8A-4147-A177-3AD203B41FA5}">
                      <a16:colId xmlns:a16="http://schemas.microsoft.com/office/drawing/2014/main" val="1319275764"/>
                    </a:ext>
                  </a:extLst>
                </a:gridCol>
                <a:gridCol w="2917559">
                  <a:extLst>
                    <a:ext uri="{9D8B030D-6E8A-4147-A177-3AD203B41FA5}">
                      <a16:colId xmlns:a16="http://schemas.microsoft.com/office/drawing/2014/main" val="3161646771"/>
                    </a:ext>
                  </a:extLst>
                </a:gridCol>
              </a:tblGrid>
              <a:tr h="373899">
                <a:tc>
                  <a:txBody>
                    <a:bodyPr/>
                    <a:lstStyle/>
                    <a:p>
                      <a:r>
                        <a:rPr lang="en-US" dirty="0"/>
                        <a:t>Baseline Algorithm</a:t>
                      </a:r>
                    </a:p>
                  </a:txBody>
                  <a:tcPr/>
                </a:tc>
                <a:tc>
                  <a:txBody>
                    <a:bodyPr/>
                    <a:lstStyle/>
                    <a:p>
                      <a:r>
                        <a:rPr lang="en-US" dirty="0"/>
                        <a:t>Environment</a:t>
                      </a:r>
                    </a:p>
                  </a:txBody>
                  <a:tcPr/>
                </a:tc>
                <a:tc>
                  <a:txBody>
                    <a:bodyPr/>
                    <a:lstStyle/>
                    <a:p>
                      <a:r>
                        <a:rPr lang="en-US" dirty="0"/>
                        <a:t>Result</a:t>
                      </a:r>
                    </a:p>
                  </a:txBody>
                  <a:tcPr/>
                </a:tc>
                <a:extLst>
                  <a:ext uri="{0D108BD9-81ED-4DB2-BD59-A6C34878D82A}">
                    <a16:rowId xmlns:a16="http://schemas.microsoft.com/office/drawing/2014/main" val="2231435494"/>
                  </a:ext>
                </a:extLst>
              </a:tr>
              <a:tr h="622573">
                <a:tc>
                  <a:txBody>
                    <a:bodyPr/>
                    <a:lstStyle/>
                    <a:p>
                      <a:r>
                        <a:rPr lang="en-US" dirty="0"/>
                        <a:t>Vanilla Gradient Policy</a:t>
                      </a:r>
                    </a:p>
                  </a:txBody>
                  <a:tcPr/>
                </a:tc>
                <a:tc>
                  <a:txBody>
                    <a:bodyPr/>
                    <a:lstStyle/>
                    <a:p>
                      <a:r>
                        <a:rPr lang="en-US" dirty="0" err="1"/>
                        <a:t>MuJoCo</a:t>
                      </a:r>
                      <a:r>
                        <a:rPr lang="en-US" dirty="0"/>
                        <a:t> Continuous control: Walker2d</a:t>
                      </a:r>
                    </a:p>
                  </a:txBody>
                  <a:tcPr/>
                </a:tc>
                <a:tc>
                  <a:txBody>
                    <a:bodyPr/>
                    <a:lstStyle/>
                    <a:p>
                      <a:r>
                        <a:rPr lang="en-US" dirty="0"/>
                        <a:t>Vanilla PG: -0.39</a:t>
                      </a:r>
                    </a:p>
                    <a:p>
                      <a:r>
                        <a:rPr lang="en-US" dirty="0"/>
                        <a:t>PPO: 0.82</a:t>
                      </a:r>
                    </a:p>
                  </a:txBody>
                  <a:tcPr/>
                </a:tc>
                <a:extLst>
                  <a:ext uri="{0D108BD9-81ED-4DB2-BD59-A6C34878D82A}">
                    <a16:rowId xmlns:a16="http://schemas.microsoft.com/office/drawing/2014/main" val="2370805312"/>
                  </a:ext>
                </a:extLst>
              </a:tr>
              <a:tr h="622573">
                <a:tc>
                  <a:txBody>
                    <a:bodyPr/>
                    <a:lstStyle/>
                    <a:p>
                      <a:r>
                        <a:rPr lang="en-US" dirty="0"/>
                        <a:t>TRPO</a:t>
                      </a:r>
                    </a:p>
                  </a:txBody>
                  <a:tcPr/>
                </a:tc>
                <a:tc>
                  <a:txBody>
                    <a:bodyPr/>
                    <a:lstStyle/>
                    <a:p>
                      <a:r>
                        <a:rPr lang="en-US" dirty="0" err="1"/>
                        <a:t>MuJoCo</a:t>
                      </a:r>
                      <a:r>
                        <a:rPr lang="en-US" dirty="0"/>
                        <a:t> Continuous control</a:t>
                      </a:r>
                    </a:p>
                  </a:txBody>
                  <a:tcPr/>
                </a:tc>
                <a:tc>
                  <a:txBody>
                    <a:bodyPr/>
                    <a:lstStyle/>
                    <a:p>
                      <a:r>
                        <a:rPr lang="en-US" dirty="0"/>
                        <a:t>PPO achieved comparable results or outperformed TRPO</a:t>
                      </a:r>
                    </a:p>
                  </a:txBody>
                  <a:tcPr/>
                </a:tc>
                <a:extLst>
                  <a:ext uri="{0D108BD9-81ED-4DB2-BD59-A6C34878D82A}">
                    <a16:rowId xmlns:a16="http://schemas.microsoft.com/office/drawing/2014/main" val="2434404199"/>
                  </a:ext>
                </a:extLst>
              </a:tr>
              <a:tr h="622573">
                <a:tc>
                  <a:txBody>
                    <a:bodyPr/>
                    <a:lstStyle/>
                    <a:p>
                      <a:r>
                        <a:rPr lang="en-US" dirty="0"/>
                        <a:t>Fixed KL penalty PG</a:t>
                      </a:r>
                    </a:p>
                  </a:txBody>
                  <a:tcPr/>
                </a:tc>
                <a:tc>
                  <a:txBody>
                    <a:bodyPr/>
                    <a:lstStyle/>
                    <a:p>
                      <a:r>
                        <a:rPr lang="en-US" dirty="0" err="1"/>
                        <a:t>MuJoCo</a:t>
                      </a:r>
                      <a:r>
                        <a:rPr lang="en-US" dirty="0"/>
                        <a:t> Continuous control</a:t>
                      </a:r>
                    </a:p>
                  </a:txBody>
                  <a:tcPr/>
                </a:tc>
                <a:tc>
                  <a:txBody>
                    <a:bodyPr/>
                    <a:lstStyle/>
                    <a:p>
                      <a:r>
                        <a:rPr lang="en-US" dirty="0"/>
                        <a:t>KL: 0.62-0.72</a:t>
                      </a:r>
                    </a:p>
                    <a:p>
                      <a:r>
                        <a:rPr lang="en-US" dirty="0"/>
                        <a:t>PPO: 0.82</a:t>
                      </a:r>
                    </a:p>
                  </a:txBody>
                  <a:tcPr/>
                </a:tc>
                <a:extLst>
                  <a:ext uri="{0D108BD9-81ED-4DB2-BD59-A6C34878D82A}">
                    <a16:rowId xmlns:a16="http://schemas.microsoft.com/office/drawing/2014/main" val="3473392749"/>
                  </a:ext>
                </a:extLst>
              </a:tr>
            </a:tbl>
          </a:graphicData>
        </a:graphic>
      </p:graphicFrame>
    </p:spTree>
    <p:extLst>
      <p:ext uri="{BB962C8B-B14F-4D97-AF65-F5344CB8AC3E}">
        <p14:creationId xmlns:p14="http://schemas.microsoft.com/office/powerpoint/2010/main" val="1224270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E82F6-5272-C9E6-F033-4E9F36F85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72C9D-CC68-1F1F-0728-41CE8FE0DA23}"/>
              </a:ext>
            </a:extLst>
          </p:cNvPr>
          <p:cNvSpPr>
            <a:spLocks noGrp="1"/>
          </p:cNvSpPr>
          <p:nvPr>
            <p:ph type="title"/>
          </p:nvPr>
        </p:nvSpPr>
        <p:spPr>
          <a:xfrm>
            <a:off x="457200" y="0"/>
            <a:ext cx="8229600" cy="1143000"/>
          </a:xfrm>
        </p:spPr>
        <p:txBody>
          <a:bodyPr/>
          <a:lstStyle/>
          <a:p>
            <a:pPr algn="ctr"/>
            <a:r>
              <a:rPr lang="en-US" dirty="0"/>
              <a:t>Related Work – ICLR 2022</a:t>
            </a:r>
          </a:p>
        </p:txBody>
      </p:sp>
      <p:sp>
        <p:nvSpPr>
          <p:cNvPr id="3" name="Content Placeholder 2">
            <a:extLst>
              <a:ext uri="{FF2B5EF4-FFF2-40B4-BE49-F238E27FC236}">
                <a16:creationId xmlns:a16="http://schemas.microsoft.com/office/drawing/2014/main" id="{A0C1988C-2365-12F0-F102-A3F1A5DE2F93}"/>
              </a:ext>
            </a:extLst>
          </p:cNvPr>
          <p:cNvSpPr>
            <a:spLocks noGrp="1"/>
          </p:cNvSpPr>
          <p:nvPr>
            <p:ph idx="1"/>
          </p:nvPr>
        </p:nvSpPr>
        <p:spPr>
          <a:xfrm>
            <a:off x="457200" y="1081058"/>
            <a:ext cx="8229600" cy="4419600"/>
          </a:xfrm>
        </p:spPr>
        <p:txBody>
          <a:bodyPr>
            <a:normAutofit/>
          </a:bodyPr>
          <a:lstStyle/>
          <a:p>
            <a:r>
              <a:rPr lang="en-US" sz="2000" dirty="0">
                <a:latin typeface="Times New Roman" panose="02020603050405020304" pitchFamily="18" charset="0"/>
                <a:cs typeface="Times New Roman" panose="02020603050405020304" pitchFamily="18" charset="0"/>
              </a:rPr>
              <a:t>Retraining all parameters in a large language model is unnecessary and you can achieve optimal results by training less than 0.1% of all parameters</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Used GPT-3 175B, GPT-2 medium and large</a:t>
            </a:r>
          </a:p>
          <a:p>
            <a:endParaRPr lang="en-US"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LoRA</a:t>
            </a:r>
            <a:r>
              <a:rPr lang="en-US" sz="2000" dirty="0">
                <a:latin typeface="Times New Roman" panose="02020603050405020304" pitchFamily="18" charset="0"/>
                <a:cs typeface="Times New Roman" panose="02020603050405020304" pitchFamily="18" charset="0"/>
              </a:rPr>
              <a:t> demonstrates only training a few low rank parameters can achieve the same performance of full finetuning</a:t>
            </a:r>
          </a:p>
        </p:txBody>
      </p:sp>
      <p:sp>
        <p:nvSpPr>
          <p:cNvPr id="4" name="TextBox 3">
            <a:extLst>
              <a:ext uri="{FF2B5EF4-FFF2-40B4-BE49-F238E27FC236}">
                <a16:creationId xmlns:a16="http://schemas.microsoft.com/office/drawing/2014/main" id="{99A11F57-C2AA-EE7E-B04A-0DDDC152F3DC}"/>
              </a:ext>
            </a:extLst>
          </p:cNvPr>
          <p:cNvSpPr txBox="1"/>
          <p:nvPr/>
        </p:nvSpPr>
        <p:spPr>
          <a:xfrm>
            <a:off x="457200" y="5568991"/>
            <a:ext cx="8229600" cy="584775"/>
          </a:xfrm>
          <a:prstGeom prst="rect">
            <a:avLst/>
          </a:prstGeom>
          <a:noFill/>
        </p:spPr>
        <p:txBody>
          <a:bodyPr wrap="square" rtlCol="0">
            <a:spAutoFit/>
          </a:bodyPr>
          <a:lstStyle/>
          <a:p>
            <a:r>
              <a:rPr lang="en-US" sz="1600" i="1" dirty="0"/>
              <a:t>Hu, Edward J., et al. "Lora: Low-rank adaptation of large language models." ICLR 1.2 (2022): 3.</a:t>
            </a:r>
          </a:p>
        </p:txBody>
      </p:sp>
      <p:graphicFrame>
        <p:nvGraphicFramePr>
          <p:cNvPr id="5" name="Table 4">
            <a:extLst>
              <a:ext uri="{FF2B5EF4-FFF2-40B4-BE49-F238E27FC236}">
                <a16:creationId xmlns:a16="http://schemas.microsoft.com/office/drawing/2014/main" id="{FF530DFD-D9B6-24C0-4264-6C63D255DAFE}"/>
              </a:ext>
            </a:extLst>
          </p:cNvPr>
          <p:cNvGraphicFramePr>
            <a:graphicFrameLocks noGrp="1"/>
          </p:cNvGraphicFramePr>
          <p:nvPr>
            <p:extLst>
              <p:ext uri="{D42A27DB-BD31-4B8C-83A1-F6EECF244321}">
                <p14:modId xmlns:p14="http://schemas.microsoft.com/office/powerpoint/2010/main" val="2347299137"/>
              </p:ext>
            </p:extLst>
          </p:nvPr>
        </p:nvGraphicFramePr>
        <p:xfrm>
          <a:off x="192712" y="4311447"/>
          <a:ext cx="8758576" cy="1112520"/>
        </p:xfrm>
        <a:graphic>
          <a:graphicData uri="http://schemas.openxmlformats.org/drawingml/2006/table">
            <a:tbl>
              <a:tblPr firstRow="1" bandRow="1">
                <a:tableStyleId>{5C22544A-7EE6-4342-B048-85BDC9FD1C3A}</a:tableStyleId>
              </a:tblPr>
              <a:tblGrid>
                <a:gridCol w="2189644">
                  <a:extLst>
                    <a:ext uri="{9D8B030D-6E8A-4147-A177-3AD203B41FA5}">
                      <a16:colId xmlns:a16="http://schemas.microsoft.com/office/drawing/2014/main" val="2816027731"/>
                    </a:ext>
                  </a:extLst>
                </a:gridCol>
                <a:gridCol w="2189644">
                  <a:extLst>
                    <a:ext uri="{9D8B030D-6E8A-4147-A177-3AD203B41FA5}">
                      <a16:colId xmlns:a16="http://schemas.microsoft.com/office/drawing/2014/main" val="3764290372"/>
                    </a:ext>
                  </a:extLst>
                </a:gridCol>
                <a:gridCol w="2189644">
                  <a:extLst>
                    <a:ext uri="{9D8B030D-6E8A-4147-A177-3AD203B41FA5}">
                      <a16:colId xmlns:a16="http://schemas.microsoft.com/office/drawing/2014/main" val="834196162"/>
                    </a:ext>
                  </a:extLst>
                </a:gridCol>
                <a:gridCol w="2189644">
                  <a:extLst>
                    <a:ext uri="{9D8B030D-6E8A-4147-A177-3AD203B41FA5}">
                      <a16:colId xmlns:a16="http://schemas.microsoft.com/office/drawing/2014/main" val="652347894"/>
                    </a:ext>
                  </a:extLst>
                </a:gridCol>
              </a:tblGrid>
              <a:tr h="370840">
                <a:tc>
                  <a:txBody>
                    <a:bodyPr/>
                    <a:lstStyle/>
                    <a:p>
                      <a:r>
                        <a:rPr lang="en-US" dirty="0"/>
                        <a:t>Training method</a:t>
                      </a:r>
                    </a:p>
                  </a:txBody>
                  <a:tcPr/>
                </a:tc>
                <a:tc>
                  <a:txBody>
                    <a:bodyPr/>
                    <a:lstStyle/>
                    <a:p>
                      <a:r>
                        <a:rPr lang="en-US" dirty="0"/>
                        <a:t>Parameters</a:t>
                      </a:r>
                    </a:p>
                  </a:txBody>
                  <a:tcPr/>
                </a:tc>
                <a:tc>
                  <a:txBody>
                    <a:bodyPr/>
                    <a:lstStyle/>
                    <a:p>
                      <a:r>
                        <a:rPr lang="en-US" dirty="0" err="1"/>
                        <a:t>WikiSQL</a:t>
                      </a:r>
                      <a:r>
                        <a:rPr lang="en-US" dirty="0"/>
                        <a:t> accuracy</a:t>
                      </a:r>
                    </a:p>
                  </a:txBody>
                  <a:tcPr/>
                </a:tc>
                <a:tc>
                  <a:txBody>
                    <a:bodyPr/>
                    <a:lstStyle/>
                    <a:p>
                      <a:r>
                        <a:rPr lang="en-US" dirty="0"/>
                        <a:t>MNLI accuracy</a:t>
                      </a:r>
                    </a:p>
                  </a:txBody>
                  <a:tcPr/>
                </a:tc>
                <a:extLst>
                  <a:ext uri="{0D108BD9-81ED-4DB2-BD59-A6C34878D82A}">
                    <a16:rowId xmlns:a16="http://schemas.microsoft.com/office/drawing/2014/main" val="365751659"/>
                  </a:ext>
                </a:extLst>
              </a:tr>
              <a:tr h="370840">
                <a:tc>
                  <a:txBody>
                    <a:bodyPr/>
                    <a:lstStyle/>
                    <a:p>
                      <a:r>
                        <a:rPr lang="en-US" dirty="0"/>
                        <a:t>Full fine-tuning</a:t>
                      </a:r>
                    </a:p>
                  </a:txBody>
                  <a:tcPr/>
                </a:tc>
                <a:tc>
                  <a:txBody>
                    <a:bodyPr/>
                    <a:lstStyle/>
                    <a:p>
                      <a:r>
                        <a:rPr lang="en-US" dirty="0"/>
                        <a:t>175B</a:t>
                      </a:r>
                    </a:p>
                  </a:txBody>
                  <a:tcPr/>
                </a:tc>
                <a:tc>
                  <a:txBody>
                    <a:bodyPr/>
                    <a:lstStyle/>
                    <a:p>
                      <a:r>
                        <a:rPr lang="en-US" dirty="0"/>
                        <a:t>73.0%</a:t>
                      </a:r>
                    </a:p>
                  </a:txBody>
                  <a:tcPr/>
                </a:tc>
                <a:tc>
                  <a:txBody>
                    <a:bodyPr/>
                    <a:lstStyle/>
                    <a:p>
                      <a:r>
                        <a:rPr lang="en-US" dirty="0"/>
                        <a:t>89.5%</a:t>
                      </a:r>
                    </a:p>
                  </a:txBody>
                  <a:tcPr/>
                </a:tc>
                <a:extLst>
                  <a:ext uri="{0D108BD9-81ED-4DB2-BD59-A6C34878D82A}">
                    <a16:rowId xmlns:a16="http://schemas.microsoft.com/office/drawing/2014/main" val="3321058761"/>
                  </a:ext>
                </a:extLst>
              </a:tr>
              <a:tr h="370840">
                <a:tc>
                  <a:txBody>
                    <a:bodyPr/>
                    <a:lstStyle/>
                    <a:p>
                      <a:r>
                        <a:rPr lang="en-US" dirty="0" err="1"/>
                        <a:t>LoRA</a:t>
                      </a:r>
                      <a:endParaRPr lang="en-US" dirty="0"/>
                    </a:p>
                  </a:txBody>
                  <a:tcPr/>
                </a:tc>
                <a:tc>
                  <a:txBody>
                    <a:bodyPr/>
                    <a:lstStyle/>
                    <a:p>
                      <a:r>
                        <a:rPr lang="en-US" dirty="0"/>
                        <a:t>4.7M-37.7M</a:t>
                      </a:r>
                    </a:p>
                  </a:txBody>
                  <a:tcPr/>
                </a:tc>
                <a:tc>
                  <a:txBody>
                    <a:bodyPr/>
                    <a:lstStyle/>
                    <a:p>
                      <a:r>
                        <a:rPr lang="en-US" dirty="0"/>
                        <a:t>73.4% - 73.8%</a:t>
                      </a:r>
                    </a:p>
                  </a:txBody>
                  <a:tcPr/>
                </a:tc>
                <a:tc>
                  <a:txBody>
                    <a:bodyPr/>
                    <a:lstStyle/>
                    <a:p>
                      <a:r>
                        <a:rPr lang="en-US" dirty="0"/>
                        <a:t>91.3% - 91.7%</a:t>
                      </a:r>
                    </a:p>
                  </a:txBody>
                  <a:tcPr/>
                </a:tc>
                <a:extLst>
                  <a:ext uri="{0D108BD9-81ED-4DB2-BD59-A6C34878D82A}">
                    <a16:rowId xmlns:a16="http://schemas.microsoft.com/office/drawing/2014/main" val="1610757059"/>
                  </a:ext>
                </a:extLst>
              </a:tr>
            </a:tbl>
          </a:graphicData>
        </a:graphic>
      </p:graphicFrame>
    </p:spTree>
    <p:extLst>
      <p:ext uri="{BB962C8B-B14F-4D97-AF65-F5344CB8AC3E}">
        <p14:creationId xmlns:p14="http://schemas.microsoft.com/office/powerpoint/2010/main" val="2367250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C1497-D7BA-026A-9D04-6D7E1307E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B203C8-9776-87AB-43B4-7060ABBB2DD2}"/>
              </a:ext>
            </a:extLst>
          </p:cNvPr>
          <p:cNvSpPr>
            <a:spLocks noGrp="1"/>
          </p:cNvSpPr>
          <p:nvPr>
            <p:ph type="title"/>
          </p:nvPr>
        </p:nvSpPr>
        <p:spPr>
          <a:xfrm>
            <a:off x="457200" y="76200"/>
            <a:ext cx="8229600" cy="1143000"/>
          </a:xfrm>
        </p:spPr>
        <p:txBody>
          <a:bodyPr/>
          <a:lstStyle/>
          <a:p>
            <a:pPr algn="ctr"/>
            <a:r>
              <a:rPr lang="en-US" dirty="0"/>
              <a:t>Related Work – </a:t>
            </a:r>
            <a:r>
              <a:rPr lang="en-US" dirty="0" err="1"/>
              <a:t>NeurIPS</a:t>
            </a:r>
            <a:r>
              <a:rPr lang="en-US" dirty="0"/>
              <a:t> 2023</a:t>
            </a:r>
          </a:p>
        </p:txBody>
      </p:sp>
      <p:sp>
        <p:nvSpPr>
          <p:cNvPr id="3" name="Content Placeholder 2">
            <a:extLst>
              <a:ext uri="{FF2B5EF4-FFF2-40B4-BE49-F238E27FC236}">
                <a16:creationId xmlns:a16="http://schemas.microsoft.com/office/drawing/2014/main" id="{55859081-3D97-B01E-BA79-9EF3603ECE47}"/>
              </a:ext>
            </a:extLst>
          </p:cNvPr>
          <p:cNvSpPr>
            <a:spLocks noGrp="1"/>
          </p:cNvSpPr>
          <p:nvPr>
            <p:ph idx="1"/>
          </p:nvPr>
        </p:nvSpPr>
        <p:spPr>
          <a:xfrm>
            <a:off x="457200" y="1219200"/>
            <a:ext cx="8229600" cy="4419600"/>
          </a:xfrm>
        </p:spPr>
        <p:txBody>
          <a:bodyPr>
            <a:normAutofit/>
          </a:bodyPr>
          <a:lstStyle/>
          <a:p>
            <a:r>
              <a:rPr lang="en-US" sz="2000" dirty="0">
                <a:latin typeface="Times New Roman" panose="02020603050405020304" pitchFamily="18" charset="0"/>
                <a:cs typeface="Times New Roman" panose="02020603050405020304" pitchFamily="18" charset="0"/>
              </a:rPr>
              <a:t>Wanted to prove LLMs can be fine tuned at a low precision without losing performance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Full fine tuning of </a:t>
            </a:r>
            <a:r>
              <a:rPr lang="en-US" sz="2000" dirty="0" err="1">
                <a:latin typeface="Times New Roman" panose="02020603050405020304" pitchFamily="18" charset="0"/>
                <a:cs typeface="Times New Roman" panose="02020603050405020304" pitchFamily="18" charset="0"/>
              </a:rPr>
              <a:t>LlaMA</a:t>
            </a:r>
            <a:r>
              <a:rPr lang="en-US" sz="2000" dirty="0">
                <a:latin typeface="Times New Roman" panose="02020603050405020304" pitchFamily="18" charset="0"/>
                <a:cs typeface="Times New Roman" panose="02020603050405020304" pitchFamily="18" charset="0"/>
              </a:rPr>
              <a:t> 65B required over 780GB of GPU memory while full fine tuning with </a:t>
            </a:r>
            <a:r>
              <a:rPr lang="en-US" sz="2000" dirty="0" err="1">
                <a:latin typeface="Times New Roman" panose="02020603050405020304" pitchFamily="18" charset="0"/>
                <a:cs typeface="Times New Roman" panose="02020603050405020304" pitchFamily="18" charset="0"/>
              </a:rPr>
              <a:t>QLoRA</a:t>
            </a:r>
            <a:r>
              <a:rPr lang="en-US" sz="2000" dirty="0">
                <a:latin typeface="Times New Roman" panose="02020603050405020304" pitchFamily="18" charset="0"/>
                <a:cs typeface="Times New Roman" panose="02020603050405020304" pitchFamily="18" charset="0"/>
              </a:rPr>
              <a:t> reduced this to less than 48GB</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best </a:t>
            </a:r>
            <a:r>
              <a:rPr lang="en-US" sz="2000" dirty="0" err="1">
                <a:latin typeface="Times New Roman" panose="02020603050405020304" pitchFamily="18" charset="0"/>
                <a:cs typeface="Times New Roman" panose="02020603050405020304" pitchFamily="18" charset="0"/>
              </a:rPr>
              <a:t>QLoRA</a:t>
            </a:r>
            <a:r>
              <a:rPr lang="en-US" sz="2000" dirty="0">
                <a:latin typeface="Times New Roman" panose="02020603050405020304" pitchFamily="18" charset="0"/>
                <a:cs typeface="Times New Roman" panose="02020603050405020304" pitchFamily="18" charset="0"/>
              </a:rPr>
              <a:t> model, Guanaco 65B, achieved 99.3% of </a:t>
            </a:r>
            <a:r>
              <a:rPr lang="en-US" sz="2000" dirty="0" err="1">
                <a:latin typeface="Times New Roman" panose="02020603050405020304" pitchFamily="18" charset="0"/>
                <a:cs typeface="Times New Roman" panose="02020603050405020304" pitchFamily="18" charset="0"/>
              </a:rPr>
              <a:t>ChatGPTs</a:t>
            </a:r>
            <a:r>
              <a:rPr lang="en-US" sz="2000" dirty="0">
                <a:latin typeface="Times New Roman" panose="02020603050405020304" pitchFamily="18" charset="0"/>
                <a:cs typeface="Times New Roman" panose="02020603050405020304" pitchFamily="18" charset="0"/>
              </a:rPr>
              <a:t> performance on the Vicuna benchmark</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Guanaco 33B was training on a single GPU and achieved 97.8% of </a:t>
            </a:r>
            <a:r>
              <a:rPr lang="en-US" sz="2000" dirty="0" err="1">
                <a:latin typeface="Times New Roman" panose="02020603050405020304" pitchFamily="18" charset="0"/>
                <a:cs typeface="Times New Roman" panose="02020603050405020304" pitchFamily="18" charset="0"/>
              </a:rPr>
              <a:t>ChatGPTs</a:t>
            </a:r>
            <a:r>
              <a:rPr lang="en-US" sz="2000" dirty="0">
                <a:latin typeface="Times New Roman" panose="02020603050405020304" pitchFamily="18" charset="0"/>
                <a:cs typeface="Times New Roman" panose="02020603050405020304" pitchFamily="18" charset="0"/>
              </a:rPr>
              <a:t> performance in less than 12 hours</a:t>
            </a:r>
          </a:p>
        </p:txBody>
      </p:sp>
      <p:sp>
        <p:nvSpPr>
          <p:cNvPr id="4" name="TextBox 3">
            <a:extLst>
              <a:ext uri="{FF2B5EF4-FFF2-40B4-BE49-F238E27FC236}">
                <a16:creationId xmlns:a16="http://schemas.microsoft.com/office/drawing/2014/main" id="{6F5656D7-BA91-F4AF-97D0-BF479B31033D}"/>
              </a:ext>
            </a:extLst>
          </p:cNvPr>
          <p:cNvSpPr txBox="1"/>
          <p:nvPr/>
        </p:nvSpPr>
        <p:spPr>
          <a:xfrm>
            <a:off x="457200" y="5531014"/>
            <a:ext cx="8170607" cy="584775"/>
          </a:xfrm>
          <a:prstGeom prst="rect">
            <a:avLst/>
          </a:prstGeom>
          <a:noFill/>
        </p:spPr>
        <p:txBody>
          <a:bodyPr wrap="square" rtlCol="0">
            <a:spAutoFit/>
          </a:bodyPr>
          <a:lstStyle/>
          <a:p>
            <a:r>
              <a:rPr lang="en-US" sz="1600" i="1" dirty="0"/>
              <a:t>Dettmers, Tim, et al. "</a:t>
            </a:r>
            <a:r>
              <a:rPr lang="en-US" sz="1600" i="1" dirty="0" err="1"/>
              <a:t>Qlora</a:t>
            </a:r>
            <a:r>
              <a:rPr lang="en-US" sz="1600" i="1" dirty="0"/>
              <a:t>: Efficient finetuning of quantized </a:t>
            </a:r>
            <a:r>
              <a:rPr lang="en-US" sz="1600" i="1" dirty="0" err="1"/>
              <a:t>llms</a:t>
            </a:r>
            <a:r>
              <a:rPr lang="en-US" sz="1600" i="1" dirty="0"/>
              <a:t>." Advances in neural information processing systems 36 (2023): 10088-10115.</a:t>
            </a:r>
          </a:p>
        </p:txBody>
      </p:sp>
    </p:spTree>
    <p:extLst>
      <p:ext uri="{BB962C8B-B14F-4D97-AF65-F5344CB8AC3E}">
        <p14:creationId xmlns:p14="http://schemas.microsoft.com/office/powerpoint/2010/main" val="219254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5EFE7-1E79-6E63-7452-62ADA4BF3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9DDB7E-AE19-F20D-83F7-D2B75A33C9E6}"/>
              </a:ext>
            </a:extLst>
          </p:cNvPr>
          <p:cNvSpPr>
            <a:spLocks noGrp="1"/>
          </p:cNvSpPr>
          <p:nvPr>
            <p:ph type="title"/>
          </p:nvPr>
        </p:nvSpPr>
        <p:spPr>
          <a:xfrm>
            <a:off x="457200" y="0"/>
            <a:ext cx="8229600" cy="1143000"/>
          </a:xfrm>
        </p:spPr>
        <p:txBody>
          <a:bodyPr/>
          <a:lstStyle/>
          <a:p>
            <a:r>
              <a:rPr lang="en-US" dirty="0"/>
              <a:t>Methodology / Reward Design</a:t>
            </a:r>
          </a:p>
        </p:txBody>
      </p:sp>
      <p:sp>
        <p:nvSpPr>
          <p:cNvPr id="3" name="Content Placeholder 2">
            <a:extLst>
              <a:ext uri="{FF2B5EF4-FFF2-40B4-BE49-F238E27FC236}">
                <a16:creationId xmlns:a16="http://schemas.microsoft.com/office/drawing/2014/main" id="{D43A2FF1-F55B-33CC-DD39-8692AB6D3375}"/>
              </a:ext>
            </a:extLst>
          </p:cNvPr>
          <p:cNvSpPr>
            <a:spLocks noGrp="1"/>
          </p:cNvSpPr>
          <p:nvPr>
            <p:ph idx="1"/>
          </p:nvPr>
        </p:nvSpPr>
        <p:spPr>
          <a:xfrm>
            <a:off x="457200" y="971427"/>
            <a:ext cx="8229600" cy="4419600"/>
          </a:xfrm>
        </p:spPr>
        <p:txBody>
          <a:bodyPr>
            <a:normAutofit/>
          </a:bodyPr>
          <a:lstStyle/>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Intake raw data</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Clean and preprocess data</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One policy model with </a:t>
            </a:r>
            <a:r>
              <a:rPr lang="en-US" sz="2000" dirty="0" err="1">
                <a:latin typeface="Times New Roman" panose="02020603050405020304" pitchFamily="18" charset="0"/>
                <a:cs typeface="Times New Roman" panose="02020603050405020304" pitchFamily="18" charset="0"/>
              </a:rPr>
              <a:t>LoRA</a:t>
            </a:r>
            <a:r>
              <a:rPr lang="en-US" sz="2000" dirty="0">
                <a:latin typeface="Times New Roman" panose="02020603050405020304" pitchFamily="18" charset="0"/>
                <a:cs typeface="Times New Roman" panose="02020603050405020304" pitchFamily="18" charset="0"/>
              </a:rPr>
              <a:t> adapters is iteratively updated by PPO</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Optimized model is the starting point of each iteration; samples get generated and rewards calculated and then the policy model will be updated and produce a new optimized model</a:t>
            </a:r>
          </a:p>
        </p:txBody>
      </p:sp>
      <p:pic>
        <p:nvPicPr>
          <p:cNvPr id="5" name="Picture 4">
            <a:extLst>
              <a:ext uri="{FF2B5EF4-FFF2-40B4-BE49-F238E27FC236}">
                <a16:creationId xmlns:a16="http://schemas.microsoft.com/office/drawing/2014/main" id="{EB349967-EC99-2B73-3DA3-BC6457E84E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7076" y="3132557"/>
            <a:ext cx="4442217" cy="2961478"/>
          </a:xfrm>
          <a:prstGeom prst="rect">
            <a:avLst/>
          </a:prstGeom>
        </p:spPr>
      </p:pic>
    </p:spTree>
    <p:extLst>
      <p:ext uri="{BB962C8B-B14F-4D97-AF65-F5344CB8AC3E}">
        <p14:creationId xmlns:p14="http://schemas.microsoft.com/office/powerpoint/2010/main" val="2208581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C6D50-B3DC-ABEE-123F-3667D140FB51}"/>
              </a:ext>
            </a:extLst>
          </p:cNvPr>
          <p:cNvSpPr>
            <a:spLocks noGrp="1"/>
          </p:cNvSpPr>
          <p:nvPr>
            <p:ph type="title"/>
          </p:nvPr>
        </p:nvSpPr>
        <p:spPr/>
        <p:txBody>
          <a:bodyPr/>
          <a:lstStyle/>
          <a:p>
            <a:r>
              <a:rPr lang="en-US" dirty="0">
                <a:cs typeface="Arial"/>
              </a:rPr>
              <a:t>Goals / Milestones</a:t>
            </a:r>
            <a:endParaRPr lang="en-US" dirty="0"/>
          </a:p>
        </p:txBody>
      </p:sp>
      <p:graphicFrame>
        <p:nvGraphicFramePr>
          <p:cNvPr id="4" name="Table 3">
            <a:extLst>
              <a:ext uri="{FF2B5EF4-FFF2-40B4-BE49-F238E27FC236}">
                <a16:creationId xmlns:a16="http://schemas.microsoft.com/office/drawing/2014/main" id="{106EBE67-6F37-9067-A692-9679E8423E48}"/>
              </a:ext>
            </a:extLst>
          </p:cNvPr>
          <p:cNvGraphicFramePr>
            <a:graphicFrameLocks noGrp="1"/>
          </p:cNvGraphicFramePr>
          <p:nvPr>
            <p:extLst>
              <p:ext uri="{D42A27DB-BD31-4B8C-83A1-F6EECF244321}">
                <p14:modId xmlns:p14="http://schemas.microsoft.com/office/powerpoint/2010/main" val="1183151531"/>
              </p:ext>
            </p:extLst>
          </p:nvPr>
        </p:nvGraphicFramePr>
        <p:xfrm>
          <a:off x="317582" y="1974317"/>
          <a:ext cx="8417958" cy="3264492"/>
        </p:xfrm>
        <a:graphic>
          <a:graphicData uri="http://schemas.openxmlformats.org/drawingml/2006/table">
            <a:tbl>
              <a:tblPr firstRow="1" bandRow="1">
                <a:tableStyleId>{5C22544A-7EE6-4342-B048-85BDC9FD1C3A}</a:tableStyleId>
              </a:tblPr>
              <a:tblGrid>
                <a:gridCol w="1281058">
                  <a:extLst>
                    <a:ext uri="{9D8B030D-6E8A-4147-A177-3AD203B41FA5}">
                      <a16:colId xmlns:a16="http://schemas.microsoft.com/office/drawing/2014/main" val="1590953498"/>
                    </a:ext>
                  </a:extLst>
                </a:gridCol>
                <a:gridCol w="7136900">
                  <a:extLst>
                    <a:ext uri="{9D8B030D-6E8A-4147-A177-3AD203B41FA5}">
                      <a16:colId xmlns:a16="http://schemas.microsoft.com/office/drawing/2014/main" val="2323279123"/>
                    </a:ext>
                  </a:extLst>
                </a:gridCol>
              </a:tblGrid>
              <a:tr h="466356">
                <a:tc>
                  <a:txBody>
                    <a:bodyPr/>
                    <a:lstStyle/>
                    <a:p>
                      <a:pPr lvl="0">
                        <a:buNone/>
                      </a:pPr>
                      <a:r>
                        <a:rPr lang="en-US" dirty="0"/>
                        <a:t>19FEB</a:t>
                      </a:r>
                    </a:p>
                  </a:txBody>
                  <a:tcPr/>
                </a:tc>
                <a:tc>
                  <a:txBody>
                    <a:bodyPr/>
                    <a:lstStyle/>
                    <a:p>
                      <a:r>
                        <a:rPr lang="en-US" dirty="0"/>
                        <a:t>Proposal</a:t>
                      </a:r>
                    </a:p>
                  </a:txBody>
                  <a:tcPr/>
                </a:tc>
                <a:extLst>
                  <a:ext uri="{0D108BD9-81ED-4DB2-BD59-A6C34878D82A}">
                    <a16:rowId xmlns:a16="http://schemas.microsoft.com/office/drawing/2014/main" val="3989373710"/>
                  </a:ext>
                </a:extLst>
              </a:tr>
              <a:tr h="466356">
                <a:tc>
                  <a:txBody>
                    <a:bodyPr/>
                    <a:lstStyle/>
                    <a:p>
                      <a:r>
                        <a:rPr lang="en-US" dirty="0"/>
                        <a:t>03MAR</a:t>
                      </a:r>
                    </a:p>
                  </a:txBody>
                  <a:tcPr/>
                </a:tc>
                <a:tc>
                  <a:txBody>
                    <a:bodyPr/>
                    <a:lstStyle/>
                    <a:p>
                      <a:r>
                        <a:rPr lang="en-US" dirty="0"/>
                        <a:t>Setup baseline model and get initial metrics</a:t>
                      </a:r>
                    </a:p>
                  </a:txBody>
                  <a:tcPr/>
                </a:tc>
                <a:extLst>
                  <a:ext uri="{0D108BD9-81ED-4DB2-BD59-A6C34878D82A}">
                    <a16:rowId xmlns:a16="http://schemas.microsoft.com/office/drawing/2014/main" val="1919930956"/>
                  </a:ext>
                </a:extLst>
              </a:tr>
              <a:tr h="466356">
                <a:tc>
                  <a:txBody>
                    <a:bodyPr/>
                    <a:lstStyle/>
                    <a:p>
                      <a:r>
                        <a:rPr lang="en-US" dirty="0"/>
                        <a:t>10MAR</a:t>
                      </a:r>
                    </a:p>
                  </a:txBody>
                  <a:tcPr/>
                </a:tc>
                <a:tc>
                  <a:txBody>
                    <a:bodyPr/>
                    <a:lstStyle/>
                    <a:p>
                      <a:r>
                        <a:rPr lang="en-US" dirty="0"/>
                        <a:t>Create automated pipeline for data cleaning, injecting, training</a:t>
                      </a:r>
                    </a:p>
                  </a:txBody>
                  <a:tcPr/>
                </a:tc>
                <a:extLst>
                  <a:ext uri="{0D108BD9-81ED-4DB2-BD59-A6C34878D82A}">
                    <a16:rowId xmlns:a16="http://schemas.microsoft.com/office/drawing/2014/main" val="2137383880"/>
                  </a:ext>
                </a:extLst>
              </a:tr>
              <a:tr h="466356">
                <a:tc>
                  <a:txBody>
                    <a:bodyPr/>
                    <a:lstStyle/>
                    <a:p>
                      <a:r>
                        <a:rPr lang="en-US" dirty="0"/>
                        <a:t>24MAR</a:t>
                      </a:r>
                    </a:p>
                  </a:txBody>
                  <a:tcPr/>
                </a:tc>
                <a:tc>
                  <a:txBody>
                    <a:bodyPr/>
                    <a:lstStyle/>
                    <a:p>
                      <a:r>
                        <a:rPr lang="en-US" dirty="0"/>
                        <a:t>Efficiently adapting baseline model to data using </a:t>
                      </a:r>
                      <a:r>
                        <a:rPr lang="en-US" dirty="0" err="1"/>
                        <a:t>LoRA</a:t>
                      </a:r>
                      <a:endParaRPr lang="en-US" dirty="0"/>
                    </a:p>
                  </a:txBody>
                  <a:tcPr/>
                </a:tc>
                <a:extLst>
                  <a:ext uri="{0D108BD9-81ED-4DB2-BD59-A6C34878D82A}">
                    <a16:rowId xmlns:a16="http://schemas.microsoft.com/office/drawing/2014/main" val="565822233"/>
                  </a:ext>
                </a:extLst>
              </a:tr>
              <a:tr h="466356">
                <a:tc>
                  <a:txBody>
                    <a:bodyPr/>
                    <a:lstStyle/>
                    <a:p>
                      <a:r>
                        <a:rPr lang="en-US" dirty="0"/>
                        <a:t>14APR</a:t>
                      </a:r>
                    </a:p>
                  </a:txBody>
                  <a:tcPr/>
                </a:tc>
                <a:tc>
                  <a:txBody>
                    <a:bodyPr/>
                    <a:lstStyle/>
                    <a:p>
                      <a:pPr lvl="0">
                        <a:buNone/>
                      </a:pPr>
                      <a:r>
                        <a:rPr lang="en-US" dirty="0"/>
                        <a:t>Tweak reward structure and integrate PPO</a:t>
                      </a:r>
                    </a:p>
                  </a:txBody>
                  <a:tcPr/>
                </a:tc>
                <a:extLst>
                  <a:ext uri="{0D108BD9-81ED-4DB2-BD59-A6C34878D82A}">
                    <a16:rowId xmlns:a16="http://schemas.microsoft.com/office/drawing/2014/main" val="971965678"/>
                  </a:ext>
                </a:extLst>
              </a:tr>
              <a:tr h="466356">
                <a:tc>
                  <a:txBody>
                    <a:bodyPr/>
                    <a:lstStyle/>
                    <a:p>
                      <a:r>
                        <a:rPr lang="en-US" dirty="0"/>
                        <a:t>01MAY</a:t>
                      </a:r>
                    </a:p>
                  </a:txBody>
                  <a:tcPr/>
                </a:tc>
                <a:tc>
                  <a:txBody>
                    <a:bodyPr/>
                    <a:lstStyle/>
                    <a:p>
                      <a:r>
                        <a:rPr lang="en-US" dirty="0"/>
                        <a:t>Compare base model vs </a:t>
                      </a:r>
                      <a:r>
                        <a:rPr lang="en-US" dirty="0" err="1"/>
                        <a:t>LoRA</a:t>
                      </a:r>
                      <a:r>
                        <a:rPr lang="en-US" dirty="0"/>
                        <a:t> vs PPO</a:t>
                      </a:r>
                    </a:p>
                  </a:txBody>
                  <a:tcPr/>
                </a:tc>
                <a:extLst>
                  <a:ext uri="{0D108BD9-81ED-4DB2-BD59-A6C34878D82A}">
                    <a16:rowId xmlns:a16="http://schemas.microsoft.com/office/drawing/2014/main" val="2666159530"/>
                  </a:ext>
                </a:extLst>
              </a:tr>
              <a:tr h="466356">
                <a:tc>
                  <a:txBody>
                    <a:bodyPr/>
                    <a:lstStyle/>
                    <a:p>
                      <a:r>
                        <a:rPr lang="en-US" dirty="0"/>
                        <a:t>14MAY</a:t>
                      </a:r>
                    </a:p>
                  </a:txBody>
                  <a:tcPr/>
                </a:tc>
                <a:tc>
                  <a:txBody>
                    <a:bodyPr/>
                    <a:lstStyle/>
                    <a:p>
                      <a:r>
                        <a:rPr lang="en-US" dirty="0"/>
                        <a:t>Final Presentation and demo</a:t>
                      </a:r>
                    </a:p>
                  </a:txBody>
                  <a:tcPr/>
                </a:tc>
                <a:extLst>
                  <a:ext uri="{0D108BD9-81ED-4DB2-BD59-A6C34878D82A}">
                    <a16:rowId xmlns:a16="http://schemas.microsoft.com/office/drawing/2014/main" val="2804055775"/>
                  </a:ext>
                </a:extLst>
              </a:tr>
            </a:tbl>
          </a:graphicData>
        </a:graphic>
      </p:graphicFrame>
    </p:spTree>
    <p:extLst>
      <p:ext uri="{BB962C8B-B14F-4D97-AF65-F5344CB8AC3E}">
        <p14:creationId xmlns:p14="http://schemas.microsoft.com/office/powerpoint/2010/main" val="3188464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57DA7-F739-1D23-B2C7-FE542F7710F0}"/>
              </a:ext>
            </a:extLst>
          </p:cNvPr>
          <p:cNvSpPr>
            <a:spLocks noGrp="1"/>
          </p:cNvSpPr>
          <p:nvPr>
            <p:ph type="title"/>
          </p:nvPr>
        </p:nvSpPr>
        <p:spPr>
          <a:xfrm>
            <a:off x="457200" y="935366"/>
            <a:ext cx="8229600" cy="1143000"/>
          </a:xfrm>
        </p:spPr>
        <p:txBody>
          <a:bodyPr/>
          <a:lstStyle/>
          <a:p>
            <a:pPr algn="ctr"/>
            <a:r>
              <a:rPr lang="en-US" dirty="0"/>
              <a:t>Questions?</a:t>
            </a:r>
          </a:p>
        </p:txBody>
      </p:sp>
    </p:spTree>
    <p:extLst>
      <p:ext uri="{BB962C8B-B14F-4D97-AF65-F5344CB8AC3E}">
        <p14:creationId xmlns:p14="http://schemas.microsoft.com/office/powerpoint/2010/main" val="947654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uccs-powerpoint-template-2014-cobrande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45e63eb-4527-46ad-8d9a-f39d8a21210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8429F9F4F732D499D71C5505B41A31E" ma:contentTypeVersion="16" ma:contentTypeDescription="Create a new document." ma:contentTypeScope="" ma:versionID="66c58646d375d4d4d49b5e98a6c56026">
  <xsd:schema xmlns:xsd="http://www.w3.org/2001/XMLSchema" xmlns:xs="http://www.w3.org/2001/XMLSchema" xmlns:p="http://schemas.microsoft.com/office/2006/metadata/properties" xmlns:ns3="045e63eb-4527-46ad-8d9a-f39d8a212104" xmlns:ns4="b7e1d534-0cb5-4a0f-a358-ef4bb5857d92" targetNamespace="http://schemas.microsoft.com/office/2006/metadata/properties" ma:root="true" ma:fieldsID="0e32709f3f4ebf4c17891fac57da1fc6" ns3:_="" ns4:_="">
    <xsd:import namespace="045e63eb-4527-46ad-8d9a-f39d8a212104"/>
    <xsd:import namespace="b7e1d534-0cb5-4a0f-a358-ef4bb5857d9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SearchProperties" minOccurs="0"/>
                <xsd:element ref="ns3:_activity" minOccurs="0"/>
                <xsd:element ref="ns3:MediaServiceObjectDetectorVersions" minOccurs="0"/>
                <xsd:element ref="ns3:MediaServiceOCR"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5e63eb-4527-46ad-8d9a-f39d8a2121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DateTaken" ma:index="23"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e1d534-0cb5-4a0f-a358-ef4bb5857d9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6C7AA0-9C79-4280-AA6F-7600533A0FFE}">
  <ds:schemaRefs>
    <ds:schemaRef ds:uri="http://schemas.openxmlformats.org/package/2006/metadata/core-properties"/>
    <ds:schemaRef ds:uri="http://schemas.microsoft.com/office/2006/documentManagement/types"/>
    <ds:schemaRef ds:uri="http://purl.org/dc/dcmitype/"/>
    <ds:schemaRef ds:uri="http://purl.org/dc/terms/"/>
    <ds:schemaRef ds:uri="b7e1d534-0cb5-4a0f-a358-ef4bb5857d92"/>
    <ds:schemaRef ds:uri="http://schemas.microsoft.com/office/2006/metadata/properties"/>
    <ds:schemaRef ds:uri="http://www.w3.org/XML/1998/namespace"/>
    <ds:schemaRef ds:uri="http://schemas.microsoft.com/office/infopath/2007/PartnerControls"/>
    <ds:schemaRef ds:uri="045e63eb-4527-46ad-8d9a-f39d8a212104"/>
    <ds:schemaRef ds:uri="http://purl.org/dc/elements/1.1/"/>
  </ds:schemaRefs>
</ds:datastoreItem>
</file>

<file path=customXml/itemProps2.xml><?xml version="1.0" encoding="utf-8"?>
<ds:datastoreItem xmlns:ds="http://schemas.openxmlformats.org/officeDocument/2006/customXml" ds:itemID="{F13F949D-B089-4EEB-AF48-6A70F3A262C6}">
  <ds:schemaRefs>
    <ds:schemaRef ds:uri="http://schemas.microsoft.com/sharepoint/v3/contenttype/forms"/>
  </ds:schemaRefs>
</ds:datastoreItem>
</file>

<file path=customXml/itemProps3.xml><?xml version="1.0" encoding="utf-8"?>
<ds:datastoreItem xmlns:ds="http://schemas.openxmlformats.org/officeDocument/2006/customXml" ds:itemID="{03A43880-4A6A-472C-A200-EE254CF508EF}">
  <ds:schemaRefs>
    <ds:schemaRef ds:uri="045e63eb-4527-46ad-8d9a-f39d8a212104"/>
    <ds:schemaRef ds:uri="b7e1d534-0cb5-4a0f-a358-ef4bb5857d9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proposal</Template>
  <TotalTime>131</TotalTime>
  <Words>746</Words>
  <Application>Microsoft Office PowerPoint</Application>
  <PresentationFormat>On-screen Show (4:3)</PresentationFormat>
  <Paragraphs>95</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Arial Black</vt:lpstr>
      <vt:lpstr>Times New Roman</vt:lpstr>
      <vt:lpstr>uccs-powerpoint-template-2014-cobranded</vt:lpstr>
      <vt:lpstr>Finetuning Large Language Models with Proprietary Data</vt:lpstr>
      <vt:lpstr>Background</vt:lpstr>
      <vt:lpstr>Problem Statement</vt:lpstr>
      <vt:lpstr>Objectives</vt:lpstr>
      <vt:lpstr>Related Work – arxiv 2017</vt:lpstr>
      <vt:lpstr>Related Work – ICLR 2022</vt:lpstr>
      <vt:lpstr>Related Work – NeurIPS 2023</vt:lpstr>
      <vt:lpstr>Methodology / Reward Design</vt:lpstr>
      <vt:lpstr>Goals / Milestones</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 Weibel</dc:creator>
  <cp:lastModifiedBy>Joe Weibel</cp:lastModifiedBy>
  <cp:revision>17</cp:revision>
  <dcterms:created xsi:type="dcterms:W3CDTF">2025-09-20T20:09:26Z</dcterms:created>
  <dcterms:modified xsi:type="dcterms:W3CDTF">2026-02-14T01:34:38Z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0x010100E8429F9F4F732D499D71C5505B41A31E</vt:lpwstr>
  </property>
</Properties>
</file>