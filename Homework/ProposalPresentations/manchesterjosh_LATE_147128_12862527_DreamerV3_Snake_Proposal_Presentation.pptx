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Manchester" userId="c007dd36b976cf96" providerId="LiveId" clId="{92357EA8-8600-4EBD-AED3-333971D492F6}"/>
    <pc:docChg chg="custSel modSld">
      <pc:chgData name="Josh Manchester" userId="c007dd36b976cf96" providerId="LiveId" clId="{92357EA8-8600-4EBD-AED3-333971D492F6}" dt="2026-02-19T21:26:26.565" v="75" actId="12"/>
      <pc:docMkLst>
        <pc:docMk/>
      </pc:docMkLst>
      <pc:sldChg chg="modSp mod">
        <pc:chgData name="Josh Manchester" userId="c007dd36b976cf96" providerId="LiveId" clId="{92357EA8-8600-4EBD-AED3-333971D492F6}" dt="2026-02-19T21:26:26.565" v="75" actId="12"/>
        <pc:sldMkLst>
          <pc:docMk/>
          <pc:sldMk cId="0" sldId="257"/>
        </pc:sldMkLst>
        <pc:spChg chg="mod">
          <ac:chgData name="Josh Manchester" userId="c007dd36b976cf96" providerId="LiveId" clId="{92357EA8-8600-4EBD-AED3-333971D492F6}" dt="2026-02-19T21:08:26.910" v="22" actId="122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26:26.565" v="75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20:07.254" v="64" actId="2711"/>
        <pc:sldMkLst>
          <pc:docMk/>
          <pc:sldMk cId="0" sldId="258"/>
        </pc:sldMkLst>
        <pc:spChg chg="mod">
          <ac:chgData name="Josh Manchester" userId="c007dd36b976cf96" providerId="LiveId" clId="{92357EA8-8600-4EBD-AED3-333971D492F6}" dt="2026-02-19T21:07:10.496" v="8" actId="122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20:07.254" v="64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19:07.777" v="57" actId="14100"/>
        <pc:sldMkLst>
          <pc:docMk/>
          <pc:sldMk cId="0" sldId="259"/>
        </pc:sldMkLst>
        <pc:spChg chg="mod">
          <ac:chgData name="Josh Manchester" userId="c007dd36b976cf96" providerId="LiveId" clId="{92357EA8-8600-4EBD-AED3-333971D492F6}" dt="2026-02-19T21:13:23.563" v="26" actId="122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19:07.777" v="57" actId="1410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06:56.519" v="4" actId="122"/>
        <pc:sldMkLst>
          <pc:docMk/>
          <pc:sldMk cId="0" sldId="260"/>
        </pc:sldMkLst>
        <pc:spChg chg="mod">
          <ac:chgData name="Josh Manchester" userId="c007dd36b976cf96" providerId="LiveId" clId="{92357EA8-8600-4EBD-AED3-333971D492F6}" dt="2026-02-19T21:06:56.519" v="4" actId="122"/>
          <ac:spMkLst>
            <pc:docMk/>
            <pc:sldMk cId="0" sldId="260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06:44.895" v="1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19:13.586" v="58" actId="14100"/>
        <pc:sldMkLst>
          <pc:docMk/>
          <pc:sldMk cId="0" sldId="261"/>
        </pc:sldMkLst>
        <pc:spChg chg="mod">
          <ac:chgData name="Josh Manchester" userId="c007dd36b976cf96" providerId="LiveId" clId="{92357EA8-8600-4EBD-AED3-333971D492F6}" dt="2026-02-19T21:07:24.425" v="11" actId="122"/>
          <ac:spMkLst>
            <pc:docMk/>
            <pc:sldMk cId="0" sldId="261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19:13.586" v="58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07:34.599" v="15" actId="122"/>
        <pc:sldMkLst>
          <pc:docMk/>
          <pc:sldMk cId="0" sldId="262"/>
        </pc:sldMkLst>
        <pc:spChg chg="mod">
          <ac:chgData name="Josh Manchester" userId="c007dd36b976cf96" providerId="LiveId" clId="{92357EA8-8600-4EBD-AED3-333971D492F6}" dt="2026-02-19T21:07:34.599" v="15" actId="122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Josh Manchester" userId="c007dd36b976cf96" providerId="LiveId" clId="{92357EA8-8600-4EBD-AED3-333971D492F6}" dt="2026-02-19T21:20:26.624" v="66" actId="2711"/>
        <pc:sldMkLst>
          <pc:docMk/>
          <pc:sldMk cId="0" sldId="263"/>
        </pc:sldMkLst>
        <pc:spChg chg="mod">
          <ac:chgData name="Josh Manchester" userId="c007dd36b976cf96" providerId="LiveId" clId="{92357EA8-8600-4EBD-AED3-333971D492F6}" dt="2026-02-19T21:20:26.624" v="66" actId="2711"/>
          <ac:spMkLst>
            <pc:docMk/>
            <pc:sldMk cId="0" sldId="263"/>
            <ac:spMk id="3" creationId="{00000000-0000-0000-0000-000000000000}"/>
          </ac:spMkLst>
        </pc:spChg>
        <pc:spChg chg="del">
          <ac:chgData name="Josh Manchester" userId="c007dd36b976cf96" providerId="LiveId" clId="{92357EA8-8600-4EBD-AED3-333971D492F6}" dt="2026-02-19T21:07:41.405" v="16" actId="478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20:51.224" v="68" actId="2711"/>
        <pc:sldMkLst>
          <pc:docMk/>
          <pc:sldMk cId="0" sldId="264"/>
        </pc:sldMkLst>
        <pc:spChg chg="mod">
          <ac:chgData name="Josh Manchester" userId="c007dd36b976cf96" providerId="LiveId" clId="{92357EA8-8600-4EBD-AED3-333971D492F6}" dt="2026-02-19T21:07:58.260" v="18" actId="122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20:51.224" v="68" actId="2711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17:10.737" v="39" actId="2711"/>
        <pc:sldMkLst>
          <pc:docMk/>
          <pc:sldMk cId="0" sldId="265"/>
        </pc:sldMkLst>
        <pc:spChg chg="mod">
          <ac:chgData name="Josh Manchester" userId="c007dd36b976cf96" providerId="LiveId" clId="{92357EA8-8600-4EBD-AED3-333971D492F6}" dt="2026-02-19T21:08:13.118" v="21" actId="122"/>
          <ac:spMkLst>
            <pc:docMk/>
            <pc:sldMk cId="0" sldId="265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17:10.737" v="39" actId="2711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2-19T21:26:02.678" v="74" actId="11"/>
        <pc:sldMkLst>
          <pc:docMk/>
          <pc:sldMk cId="0" sldId="267"/>
        </pc:sldMkLst>
        <pc:spChg chg="mod">
          <ac:chgData name="Josh Manchester" userId="c007dd36b976cf96" providerId="LiveId" clId="{92357EA8-8600-4EBD-AED3-333971D492F6}" dt="2026-02-19T21:16:16.942" v="27" actId="122"/>
          <ac:spMkLst>
            <pc:docMk/>
            <pc:sldMk cId="0" sldId="267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2-19T21:26:02.678" v="74" actId="11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47AC1-B2F2-4502-A893-6390D5360391}" type="datetimeFigureOut"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D3289-85B1-4FBA-BBA8-E9746D0F1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438400"/>
            <a:ext cx="7391400" cy="1023257"/>
          </a:xfrm>
          <a:prstGeom prst="rect">
            <a:avLst/>
          </a:prstGeom>
        </p:spPr>
      </p:pic>
      <p:pic>
        <p:nvPicPr>
          <p:cNvPr id="5" name="Picture 4" descr="UCwCampusesRev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91000"/>
            <a:ext cx="5029200" cy="9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51379"/>
            <a:ext cx="2581774" cy="354221"/>
          </a:xfrm>
          <a:prstGeom prst="rect">
            <a:avLst/>
          </a:prstGeom>
        </p:spPr>
      </p:pic>
      <p:pic>
        <p:nvPicPr>
          <p:cNvPr id="12" name="Picture 11" descr="UCwCampusesRev.png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6283472"/>
            <a:ext cx="2209801" cy="4221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1520"/>
            <a:ext cx="7772400" cy="0"/>
          </a:xfrm>
        </p:spPr>
        <p:txBody>
          <a:bodyPr/>
          <a:lstStyle/>
          <a:p>
            <a:r>
              <a:t>How Accurate Are Learned World Models?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68880"/>
            <a:ext cx="6400800" cy="0"/>
          </a:xfrm>
        </p:spPr>
        <p:txBody>
          <a:bodyPr/>
          <a:lstStyle/>
          <a:p>
            <a:r>
              <a:t>DreamerV3's Imagination on Snake</a:t>
            </a:r>
          </a:p>
          <a:p>
            <a:endParaRPr/>
          </a:p>
          <a:p>
            <a:r>
              <a:t>Josh Manchester</a:t>
            </a:r>
          </a:p>
          <a:p>
            <a:r>
              <a:t>Dr. Jugal Kalita — CS 5080 Reinforcement Learning</a:t>
            </a:r>
          </a:p>
          <a:p>
            <a:r>
              <a:t>February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What is DreamerV3?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 dirty="0"/>
              <a:t>Most RL agents learn by trial and error in the real environment (model-free)</a:t>
            </a:r>
          </a:p>
          <a:p>
            <a:r>
              <a:rPr sz="1800" dirty="0"/>
              <a:t>DreamerV3 is model-based — </a:t>
            </a:r>
            <a:r>
              <a:rPr sz="1800" dirty="0">
                <a:latin typeface="+mj-lt"/>
              </a:rPr>
              <a:t>it learns how the world works, then plans</a:t>
            </a:r>
          </a:p>
          <a:p>
            <a:r>
              <a:rPr sz="1800" dirty="0"/>
              <a:t>Three-step process:</a:t>
            </a:r>
          </a:p>
          <a:p>
            <a:pPr marL="457200" lvl="1" indent="0">
              <a:buNone/>
            </a:pPr>
            <a:r>
              <a:rPr sz="1600" dirty="0"/>
              <a:t>1. World Model learns environment dynamics from raw pixel observations</a:t>
            </a:r>
          </a:p>
          <a:p>
            <a:pPr marL="457200" lvl="1" indent="0">
              <a:buNone/>
            </a:pPr>
            <a:r>
              <a:rPr sz="1600" dirty="0"/>
              <a:t>2. Agent "dreams" imagined trajectories using the world model</a:t>
            </a:r>
          </a:p>
          <a:p>
            <a:pPr marL="457200" lvl="1" indent="0">
              <a:buNone/>
            </a:pPr>
            <a:r>
              <a:rPr sz="1600" dirty="0"/>
              <a:t>3. Policy is trained entirely inside these imagined experiences</a:t>
            </a:r>
          </a:p>
          <a:p>
            <a:r>
              <a:rPr sz="1800" dirty="0"/>
              <a:t>Key achievement: one algorithm, fixed hyperparameters — </a:t>
            </a:r>
            <a:r>
              <a:rPr sz="1800" dirty="0">
                <a:latin typeface="+mj-lt"/>
              </a:rPr>
              <a:t>masters Atari, robotics, Minecraft</a:t>
            </a:r>
          </a:p>
          <a:p>
            <a:r>
              <a:rPr sz="1800" dirty="0"/>
              <a:t>The agent never touches the real environment during policy optimization</a:t>
            </a:r>
          </a:p>
          <a:p>
            <a:r>
              <a:rPr sz="1800" dirty="0">
                <a:latin typeface="+mj-lt"/>
              </a:rPr>
              <a:t>Hafner et al., Nature,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3600" dirty="0"/>
              <a:t>Snake as a Markov Decision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 dirty="0"/>
              <a:t>State (S): 64 × 64 RGB pixel frame — </a:t>
            </a:r>
            <a:r>
              <a:rPr sz="1800" dirty="0">
                <a:latin typeface="+mj-lt"/>
              </a:rPr>
              <a:t>raw image, no game knowledge</a:t>
            </a:r>
          </a:p>
          <a:p>
            <a:pPr lvl="1"/>
            <a:r>
              <a:rPr sz="1600" dirty="0"/>
              <a:t>The agent sees pixels, not coordinates — it must learn what a snake IS</a:t>
            </a:r>
          </a:p>
          <a:p>
            <a:r>
              <a:rPr sz="1800" dirty="0"/>
              <a:t>Actions (A): { Up, Down, Left, Right }</a:t>
            </a:r>
          </a:p>
          <a:p>
            <a:pPr lvl="1"/>
            <a:r>
              <a:rPr sz="1600" dirty="0"/>
              <a:t>Deterministic movement: snake moves one cell per step</a:t>
            </a:r>
          </a:p>
          <a:p>
            <a:r>
              <a:rPr sz="1800" dirty="0"/>
              <a:t>Reward (R): Varies by agent configuration (see Agent experiments)</a:t>
            </a:r>
          </a:p>
          <a:p>
            <a:pPr lvl="1"/>
            <a:r>
              <a:rPr sz="1600" dirty="0"/>
              <a:t>Baseline: +1 eat food, −1 collision/death, 0 otherwise</a:t>
            </a:r>
          </a:p>
          <a:p>
            <a:r>
              <a:rPr sz="1800" dirty="0"/>
              <a:t>Discount (γ): 0.999 — </a:t>
            </a:r>
            <a:r>
              <a:rPr sz="1800" dirty="0">
                <a:latin typeface="+mj-lt"/>
              </a:rPr>
              <a:t>strongly encourages long-term survival</a:t>
            </a:r>
          </a:p>
          <a:p>
            <a:r>
              <a:rPr sz="1800" dirty="0"/>
              <a:t>Why Snake? </a:t>
            </a:r>
            <a:r>
              <a:rPr sz="1800" dirty="0">
                <a:latin typeface="+mj-lt"/>
              </a:rPr>
              <a:t>Simple dynamics, fully interpretable state, not yet studied with DreamerV3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dirty="0"/>
              <a:t>Agent 1: Baseline — Why Safety Beats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89728"/>
          </a:xfrm>
        </p:spPr>
        <p:txBody>
          <a:bodyPr/>
          <a:lstStyle/>
          <a:p>
            <a:r>
              <a:rPr lang="en-US" sz="1800" dirty="0"/>
              <a:t>Reward: +1 food, −1 death, 0 per step</a:t>
            </a:r>
          </a:p>
          <a:p>
            <a:r>
              <a:rPr lang="en-US" sz="1800" dirty="0"/>
              <a:t>Result: agent learned to survive, not to eat</a:t>
            </a:r>
          </a:p>
          <a:p>
            <a:pPr lvl="1"/>
            <a:r>
              <a:rPr lang="en-US" sz="1600" dirty="0"/>
              <a:t>Converged on safe looping — avoided food near walls, long survival, low score</a:t>
            </a:r>
          </a:p>
          <a:p>
            <a:r>
              <a:rPr lang="en-US" sz="1800" dirty="0"/>
              <a:t>Why? This is rational — </a:t>
            </a:r>
            <a:r>
              <a:rPr lang="en-US" sz="1800" dirty="0">
                <a:latin typeface="+mj-lt"/>
              </a:rPr>
              <a:t>it’s a sparse reward problem:</a:t>
            </a:r>
          </a:p>
          <a:p>
            <a:pPr lvl="1"/>
            <a:r>
              <a:rPr lang="en-US" sz="1600" dirty="0"/>
              <a:t>Eating food = approach walls/body = risk of −1 (death)</a:t>
            </a:r>
          </a:p>
          <a:p>
            <a:pPr lvl="1"/>
            <a:r>
              <a:rPr lang="en-US" sz="1600" dirty="0"/>
              <a:t>Not eating = guaranteed 0, no risk</a:t>
            </a:r>
          </a:p>
          <a:p>
            <a:pPr lvl="1"/>
            <a:r>
              <a:rPr lang="en-US" sz="1600" dirty="0"/>
              <a:t>Expected Value of “seek food” can be negative if P(death) &gt; P(food)</a:t>
            </a:r>
          </a:p>
          <a:p>
            <a:r>
              <a:rPr lang="en-US" sz="1800" dirty="0"/>
              <a:t>The agent optimized correctly — </a:t>
            </a:r>
            <a:r>
              <a:rPr lang="en-US" sz="1800" dirty="0">
                <a:latin typeface="+mj-lt"/>
              </a:rPr>
              <a:t>we gave it the wrong reward</a:t>
            </a:r>
          </a:p>
          <a:p>
            <a:r>
              <a:rPr lang="en-US" sz="1800" b="1" dirty="0"/>
              <a:t>Solution: </a:t>
            </a:r>
            <a:r>
              <a:rPr lang="en-US" sz="1800" b="1" dirty="0">
                <a:latin typeface="+mj-lt"/>
              </a:rPr>
              <a:t>make idling expensive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3200" dirty="0"/>
              <a:t>Agent 2: Step Penalty (Primary Test Agent)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55893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800" dirty="0"/>
              <a:t>Reward structure: +1 food, −1 death, −0.01 per step</a:t>
            </a:r>
          </a:p>
          <a:p>
            <a:r>
              <a:rPr sz="1800" dirty="0"/>
              <a:t>Now every step without eating costs the agent</a:t>
            </a:r>
          </a:p>
          <a:p>
            <a:pPr lvl="1"/>
            <a:r>
              <a:rPr sz="1600" dirty="0"/>
              <a:t>Survival alone yields negative cumulative reward</a:t>
            </a:r>
          </a:p>
          <a:p>
            <a:pPr lvl="1"/>
            <a:r>
              <a:rPr sz="1600" dirty="0"/>
              <a:t>The agent must eat food to stay net positive</a:t>
            </a:r>
          </a:p>
          <a:p>
            <a:pPr lvl="1"/>
            <a:r>
              <a:rPr sz="1600" dirty="0"/>
              <a:t>Safe looping is no longer a viable strategy</a:t>
            </a:r>
          </a:p>
          <a:p>
            <a:r>
              <a:rPr sz="1800" dirty="0"/>
              <a:t>This is our primary agent for the imagination accuracy analysis</a:t>
            </a:r>
          </a:p>
          <a:p>
            <a:pPr lvl="1"/>
            <a:r>
              <a:rPr sz="1600" dirty="0"/>
              <a:t>Hypothesis: forced food-seeking creates richer trajectories</a:t>
            </a:r>
          </a:p>
          <a:p>
            <a:pPr lvl="1"/>
            <a:r>
              <a:rPr sz="1600" dirty="0"/>
              <a:t>More diverse states = better test of what the world model actually learns</a:t>
            </a:r>
          </a:p>
          <a:p>
            <a:r>
              <a:rPr sz="1800" dirty="0"/>
              <a:t>Matched trajectory extraction happens at 20 checkpoints (every 50K steps over 1M)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dirty="0"/>
              <a:t>Agents 3–5: Training Configuration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/>
              <a:t>All use Agent 2's reward structure (step penalty)</a:t>
            </a:r>
          </a:p>
          <a:p>
            <a:r>
              <a:rPr sz="1800"/>
              <a:t>Vary training configurations to test how they affect imagination accuracy:</a:t>
            </a:r>
          </a:p>
          <a:p>
            <a:pPr lvl="1"/>
            <a:r>
              <a:rPr sz="1600"/>
              <a:t>Agent 3: Shorter training (500K steps) — does the model learn enough?</a:t>
            </a:r>
          </a:p>
          <a:p>
            <a:pPr lvl="1"/>
            <a:r>
              <a:rPr sz="1600"/>
              <a:t>Agent 4: Longer training (2M steps) — does accuracy keep improving?</a:t>
            </a:r>
          </a:p>
          <a:p>
            <a:pPr lvl="1"/>
            <a:r>
              <a:rPr sz="1600"/>
              <a:t>Agent 5: Modified imagination horizon — how far ahead can the model dream?</a:t>
            </a:r>
          </a:p>
          <a:p>
            <a:r>
              <a:rPr sz="1800"/>
              <a:t>Research question across all agents:</a:t>
            </a:r>
          </a:p>
          <a:p>
            <a:pPr lvl="1"/>
            <a:r>
              <a:rPr sz="1600"/>
              <a:t>Does imagination accuracy correlate with game performance?</a:t>
            </a:r>
          </a:p>
          <a:p>
            <a:pPr lvl="1"/>
            <a:r>
              <a:rPr sz="1600"/>
              <a:t>Which training configs produce the most accurate world models?</a:t>
            </a:r>
          </a:p>
          <a:p>
            <a:pPr lvl="1"/>
            <a:r>
              <a:rPr sz="1600"/>
              <a:t>Do more accurate dreams always lead to better play?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DreamerV3 Reads the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800" dirty="0"/>
              <a:t>The agent receives a 64×64 RGB frame — </a:t>
            </a:r>
            <a:r>
              <a:rPr sz="1800" dirty="0">
                <a:latin typeface="+mj-lt"/>
              </a:rPr>
              <a:t>raw pixels, nothing else</a:t>
            </a:r>
          </a:p>
          <a:p>
            <a:r>
              <a:rPr sz="1800" dirty="0"/>
              <a:t>World Model (RSSM — </a:t>
            </a:r>
            <a:r>
              <a:rPr sz="1800" dirty="0">
                <a:latin typeface="+mj-lt"/>
              </a:rPr>
              <a:t>Recurrent State-Space Model):</a:t>
            </a:r>
          </a:p>
          <a:p>
            <a:pPr lvl="1"/>
            <a:r>
              <a:rPr sz="1600" dirty="0"/>
              <a:t>CNN encoder compresses frame into latent representation</a:t>
            </a:r>
          </a:p>
          <a:p>
            <a:pPr lvl="1"/>
            <a:r>
              <a:rPr sz="1600" dirty="0"/>
              <a:t>Deterministic path (GRU) tracks persistent state over time</a:t>
            </a:r>
          </a:p>
          <a:p>
            <a:pPr lvl="1"/>
            <a:r>
              <a:rPr sz="1600" dirty="0"/>
              <a:t>Stochastic path models uncertainty (e.g., where food appears next)</a:t>
            </a:r>
          </a:p>
          <a:p>
            <a:pPr lvl="1"/>
            <a:r>
              <a:rPr sz="1600" dirty="0"/>
              <a:t>Predicts next latent states, expected rewards, and reconstructed frames</a:t>
            </a:r>
          </a:p>
          <a:p>
            <a:r>
              <a:rPr sz="1800" dirty="0"/>
              <a:t>Actor-Critic trained in imagination:</a:t>
            </a:r>
          </a:p>
          <a:p>
            <a:pPr lvl="1"/>
            <a:r>
              <a:rPr sz="1600" dirty="0"/>
              <a:t>Actor selects actions in latent space (not pixel space)</a:t>
            </a:r>
          </a:p>
          <a:p>
            <a:pPr lvl="1"/>
            <a:r>
              <a:rPr sz="1600" dirty="0"/>
              <a:t>Critic estimates value of imagined future states</a:t>
            </a:r>
          </a:p>
          <a:p>
            <a:r>
              <a:rPr sz="1800" dirty="0"/>
              <a:t>Key: the model must learn that "green blob = snake" from pixels alone</a:t>
            </a:r>
          </a:p>
          <a:p>
            <a:r>
              <a:rPr sz="1800" dirty="0" err="1"/>
              <a:t>Symlog</a:t>
            </a:r>
            <a:r>
              <a:rPr sz="1800" dirty="0"/>
              <a:t> predictions handle reward scale; fixed hyperparameters across all domains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Measuring Imagination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400"/>
              </a:spcAft>
            </a:pPr>
            <a:r>
              <a:rPr sz="2000" dirty="0"/>
              <a:t>Frame-Level Metrics:</a:t>
            </a:r>
          </a:p>
          <a:p>
            <a:pPr lvl="1"/>
            <a:r>
              <a:rPr sz="2000" dirty="0"/>
              <a:t>MSE — raw pixel error between real and imagined frames</a:t>
            </a:r>
          </a:p>
          <a:p>
            <a:pPr lvl="1"/>
            <a:r>
              <a:rPr sz="2000" dirty="0"/>
              <a:t>SSIM — structural fidelity (edges, contrast, luminance)</a:t>
            </a:r>
          </a:p>
          <a:p>
            <a:r>
              <a:rPr sz="2000" dirty="0"/>
              <a:t>Semantic Metrics:</a:t>
            </a:r>
          </a:p>
          <a:p>
            <a:pPr lvl="1"/>
            <a:r>
              <a:rPr sz="2000" dirty="0"/>
              <a:t>Head position — is the snake head where it should be?</a:t>
            </a:r>
          </a:p>
          <a:p>
            <a:pPr lvl="1"/>
            <a:r>
              <a:rPr sz="2000" dirty="0"/>
              <a:t>Body segment accuracy — are all pieces in the right place?</a:t>
            </a:r>
          </a:p>
          <a:p>
            <a:pPr lvl="1"/>
            <a:r>
              <a:rPr sz="2000" dirty="0"/>
              <a:t>Food location — does the model know where food is?</a:t>
            </a:r>
          </a:p>
          <a:p>
            <a:pPr lvl="1"/>
            <a:r>
              <a:rPr sz="2000" dirty="0"/>
              <a:t>Collision prediction — does it predict death correctly?</a:t>
            </a:r>
          </a:p>
          <a:p>
            <a:r>
              <a:rPr sz="2000" dirty="0"/>
              <a:t>Key insight: </a:t>
            </a:r>
            <a:r>
              <a:rPr sz="2000" dirty="0">
                <a:latin typeface="+mj-lt"/>
              </a:rPr>
              <a:t>a blurry image with correct positions ≠ sharp image with wrong positions</a:t>
            </a:r>
          </a:p>
          <a:p>
            <a:r>
              <a:rPr sz="2000" dirty="0"/>
              <a:t>Method: </a:t>
            </a:r>
            <a:r>
              <a:rPr sz="2000" dirty="0">
                <a:latin typeface="+mj-lt"/>
              </a:rPr>
              <a:t>record real game, replay same actions through world model, compare frame by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 dirty="0">
                <a:latin typeface="+mn-lt"/>
              </a:rPr>
              <a:t>Feb 19          Proposal presentation and paper</a:t>
            </a:r>
          </a:p>
          <a:p>
            <a:r>
              <a:rPr sz="1800" dirty="0">
                <a:latin typeface="+mn-lt"/>
              </a:rPr>
              <a:t>Feb 28          Snake environment + Agent 1 baseline complete</a:t>
            </a:r>
          </a:p>
          <a:p>
            <a:r>
              <a:rPr sz="1800" dirty="0">
                <a:latin typeface="+mn-lt"/>
              </a:rPr>
              <a:t>Mar 7            Agent 2 (step penalty) trained, initial results</a:t>
            </a:r>
          </a:p>
          <a:p>
            <a:r>
              <a:rPr sz="1800" dirty="0">
                <a:latin typeface="+mn-lt"/>
              </a:rPr>
              <a:t>Mar 15          Imagination extraction pipeline operational</a:t>
            </a:r>
          </a:p>
          <a:p>
            <a:r>
              <a:rPr sz="1800" dirty="0">
                <a:latin typeface="+mn-lt"/>
              </a:rPr>
              <a:t>Mar 22          Agents 3–5 training complete</a:t>
            </a:r>
          </a:p>
          <a:p>
            <a:r>
              <a:rPr sz="1800" dirty="0">
                <a:latin typeface="+mn-lt"/>
              </a:rPr>
              <a:t>Mar 31          Checkpoint analysis across all agents</a:t>
            </a:r>
          </a:p>
          <a:p>
            <a:r>
              <a:rPr sz="1800" dirty="0">
                <a:latin typeface="+mn-lt"/>
              </a:rPr>
              <a:t>Apr 1            Midterm presentation and paper</a:t>
            </a:r>
          </a:p>
          <a:p>
            <a:r>
              <a:rPr sz="1800" dirty="0">
                <a:latin typeface="+mn-lt"/>
              </a:rPr>
              <a:t>Apr 15          Correlation analysis and semantic metrics</a:t>
            </a:r>
          </a:p>
          <a:p>
            <a:r>
              <a:rPr sz="1800" dirty="0">
                <a:latin typeface="+mn-lt"/>
              </a:rPr>
              <a:t>May 7            Final presentation</a:t>
            </a:r>
          </a:p>
          <a:p>
            <a:r>
              <a:rPr sz="1800" dirty="0">
                <a:latin typeface="+mn-lt"/>
              </a:rPr>
              <a:t>May 12          Final paper</a:t>
            </a:r>
          </a:p>
          <a:p>
            <a:r>
              <a:rPr sz="1800" dirty="0">
                <a:latin typeface="+mn-lt"/>
              </a:rPr>
              <a:t>Hardware: RTX 5070 Ti (16GB VRAM), </a:t>
            </a:r>
            <a:r>
              <a:rPr sz="1800" dirty="0" err="1">
                <a:latin typeface="+mn-lt"/>
              </a:rPr>
              <a:t>PyTorch</a:t>
            </a:r>
            <a:r>
              <a:rPr sz="1800" dirty="0">
                <a:latin typeface="+mn-lt"/>
              </a:rPr>
              <a:t> 2.7.0, CUDA 12.8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419600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Deng, F., Jang, I., &amp; Ahn, S. (2022). </a:t>
            </a:r>
            <a:r>
              <a:rPr lang="en-US" sz="1100" dirty="0" err="1">
                <a:latin typeface="+mj-lt"/>
              </a:rPr>
              <a:t>DreamerPro</a:t>
            </a:r>
            <a:r>
              <a:rPr lang="en-US" sz="1100" dirty="0">
                <a:latin typeface="+mj-lt"/>
              </a:rPr>
              <a:t>: Reconstruction-free model-based reinforcement learning with prototypical representations. Proceedings of the 39th ICML, 4956–4975.  [ICML H5: 272]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Ha, D., &amp; </a:t>
            </a:r>
            <a:r>
              <a:rPr lang="en-US" sz="1100" dirty="0" err="1">
                <a:latin typeface="+mj-lt"/>
              </a:rPr>
              <a:t>Schmidhuber</a:t>
            </a:r>
            <a:r>
              <a:rPr lang="en-US" sz="1100" dirty="0">
                <a:latin typeface="+mj-lt"/>
              </a:rPr>
              <a:t>, J. (2018). Recurrent world models facilitate policy evolution. Advances in Neural Information Processing Systems, 31.  [</a:t>
            </a:r>
            <a:r>
              <a:rPr lang="en-US" sz="1100" dirty="0" err="1">
                <a:latin typeface="+mj-lt"/>
              </a:rPr>
              <a:t>NeurIPS</a:t>
            </a:r>
            <a:r>
              <a:rPr lang="en-US" sz="1100" dirty="0">
                <a:latin typeface="+mj-lt"/>
              </a:rPr>
              <a:t> H5: 371]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Hafner, D., Lillicrap, T., Ba, J., &amp; Norouzi, M. (2020). Dream to control: Learning behaviors by latent imagination. Proceedings of ICLR.  [ICLR H5: 362]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Hafner, D., Lillicrap, T., Fischer, I., Villegas, R., Ha, D., Lee, H., &amp; Davidson, J. (2019). Learning latent dynamics for planning from pixels. Proceedings of the 36th ICML, 2555–2565.  [ICML H5: 272]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Hafner, D., Lillicrap, T., Norouzi, M., &amp; Ba, J. (2021). Mastering Atari with discrete world models. Proceedings of ICLR.  [ICLR H5: 362]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Hafner, D., </a:t>
            </a:r>
            <a:r>
              <a:rPr lang="en-US" sz="1100" dirty="0" err="1">
                <a:latin typeface="+mj-lt"/>
              </a:rPr>
              <a:t>Pasukonis</a:t>
            </a:r>
            <a:r>
              <a:rPr lang="en-US" sz="1100" dirty="0">
                <a:latin typeface="+mj-lt"/>
              </a:rPr>
              <a:t>, J., Ba, J., &amp; Lillicrap, T. (2025). Mastering diverse control tasks through world models. Nature, 640, 647–653.  [Nature H5: 490]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Lin, J., Du, Y., Watkins, O., Hafner, D., </a:t>
            </a:r>
            <a:r>
              <a:rPr lang="en-US" sz="1100" dirty="0" err="1">
                <a:latin typeface="+mj-lt"/>
              </a:rPr>
              <a:t>Abbeel</a:t>
            </a:r>
            <a:r>
              <a:rPr lang="en-US" sz="1100" dirty="0">
                <a:latin typeface="+mj-lt"/>
              </a:rPr>
              <a:t>, P., Klein, D., &amp; Dragan, A. (2024). Learning to model the world with language. Proceedings of the 41st ICML.  [ICML H5: 272]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Sekar, R., </a:t>
            </a:r>
            <a:r>
              <a:rPr lang="en-US" sz="1100" dirty="0" err="1">
                <a:latin typeface="+mj-lt"/>
              </a:rPr>
              <a:t>Rybkin</a:t>
            </a:r>
            <a:r>
              <a:rPr lang="en-US" sz="1100" dirty="0">
                <a:latin typeface="+mj-lt"/>
              </a:rPr>
              <a:t>, O., Daniilidis, K., </a:t>
            </a:r>
            <a:r>
              <a:rPr lang="en-US" sz="1100" dirty="0" err="1">
                <a:latin typeface="+mj-lt"/>
              </a:rPr>
              <a:t>Abbeel</a:t>
            </a:r>
            <a:r>
              <a:rPr lang="en-US" sz="1100" dirty="0">
                <a:latin typeface="+mj-lt"/>
              </a:rPr>
              <a:t>, P., Hafner, D., &amp; Pathak, D. (2020). Planning to explore via self-supervised world models. Proceedings of the 37th ICML, 8583–8592.  [ICML H5: 272]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Sullivan, R., Kumar, A., Huang, S., Dickerson, J. P., &amp; Suarez, J. (2023). Reward scale robustness for proximal policy optimization via DreamerV3 tricks. Advances in Neural Information Processing Systems, 36.  [</a:t>
            </a:r>
            <a:r>
              <a:rPr lang="en-US" sz="1100" dirty="0" err="1">
                <a:latin typeface="+mj-lt"/>
              </a:rPr>
              <a:t>NeurIPS</a:t>
            </a:r>
            <a:r>
              <a:rPr lang="en-US" sz="1100" dirty="0">
                <a:latin typeface="+mj-lt"/>
              </a:rPr>
              <a:t> H5: 371]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Sutton, R. S., &amp; Barto, A. G. (2018). Reinforcement learning: An introduction (2nd ed.). MIT Press.  [Textbook]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Walker, J., </a:t>
            </a:r>
            <a:r>
              <a:rPr lang="en-US" sz="1100" dirty="0" err="1">
                <a:latin typeface="+mj-lt"/>
              </a:rPr>
              <a:t>Vértés</a:t>
            </a:r>
            <a:r>
              <a:rPr lang="en-US" sz="1100" dirty="0">
                <a:latin typeface="+mj-lt"/>
              </a:rPr>
              <a:t>, E., Li, Y., Dulac-Arnold, G., Anand, A., Weber, T., &amp; Hamrick, J. B. (2023). Investigating the role of model-based learning in exploration and transfer. Proceedings of the 40th ICML.  [ICML H5: 272]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+mj-lt"/>
              </a:rPr>
              <a:t>Yuan, Z., Ban, X., Zhang, Z., Li, X., &amp; Dai, H.-N. (2023). ODE-RSSM: Learning stochastic recurrent state space model from irregularly sampled data. Proceedings of the AAAI Conference on AI, 37, 11060–11068.  [AAAI H5: 232]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Josh Manchester</a:t>
            </a:r>
          </a:p>
          <a:p>
            <a:r>
              <a:t>jmanches@uccs.edu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d9747a-cf76-43d3-9b8d-a27e657ee1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668813CFEF6E47A797800F728206B7" ma:contentTypeVersion="13" ma:contentTypeDescription="Create a new document." ma:contentTypeScope="" ma:versionID="d3d3bd070181dbaaa82f6af26cb54d1f">
  <xsd:schema xmlns:xsd="http://www.w3.org/2001/XMLSchema" xmlns:xs="http://www.w3.org/2001/XMLSchema" xmlns:p="http://schemas.microsoft.com/office/2006/metadata/properties" xmlns:ns3="aed9747a-cf76-43d3-9b8d-a27e657ee175" xmlns:ns4="93184699-e12f-40b8-87c1-2f561f48ace3" targetNamespace="http://schemas.microsoft.com/office/2006/metadata/properties" ma:root="true" ma:fieldsID="8785969ce3fbaddf363e6cf01a9249a7" ns3:_="" ns4:_="">
    <xsd:import namespace="aed9747a-cf76-43d3-9b8d-a27e657ee175"/>
    <xsd:import namespace="93184699-e12f-40b8-87c1-2f561f48ac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9747a-cf76-43d3-9b8d-a27e657e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84699-e12f-40b8-87c1-2f561f48a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762663-8081-475F-99D6-B764682E78B7}">
  <ds:schemaRefs>
    <ds:schemaRef ds:uri="93184699-e12f-40b8-87c1-2f561f48ace3"/>
    <ds:schemaRef ds:uri="aed9747a-cf76-43d3-9b8d-a27e657ee1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0407A82-2BD1-4D26-B5DC-9893D0D6FE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721A25-F547-4806-A925-716F15DCA520}">
  <ds:schemaRefs>
    <ds:schemaRef ds:uri="93184699-e12f-40b8-87c1-2f561f48ace3"/>
    <ds:schemaRef ds:uri="aed9747a-cf76-43d3-9b8d-a27e657ee1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Slide Template</Template>
  <TotalTime>7</TotalTime>
  <Words>1425</Words>
  <Application>Microsoft Office PowerPoint</Application>
  <PresentationFormat>On-screen Show (4:3)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uccs-powerpoint-template-2014-cobranded</vt:lpstr>
      <vt:lpstr>How Accurate Are Learned World Models?</vt:lpstr>
      <vt:lpstr>What is DreamerV3?</vt:lpstr>
      <vt:lpstr>Snake as a Markov Decision Process</vt:lpstr>
      <vt:lpstr>Agent 1: Baseline — Why Safety Beats Scoring</vt:lpstr>
      <vt:lpstr>Agent 2: Step Penalty (Primary Test Agent)</vt:lpstr>
      <vt:lpstr>Agents 3–5: Training Configuration Experiments</vt:lpstr>
      <vt:lpstr>How DreamerV3 Reads the Game</vt:lpstr>
      <vt:lpstr>Measuring Imagination Accuracy</vt:lpstr>
      <vt:lpstr>Timeline</vt:lpstr>
      <vt:lpstr>References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Tristan Moffett</dc:creator>
  <cp:lastModifiedBy>Josh Manchester</cp:lastModifiedBy>
  <cp:revision>311</cp:revision>
  <dcterms:created xsi:type="dcterms:W3CDTF">2025-09-19T16:28:57Z</dcterms:created>
  <dcterms:modified xsi:type="dcterms:W3CDTF">2026-02-19T21:26:29Z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0x010100A5668813CFEF6E47A797800F728206B7</vt:lpwstr>
  </property>
</Properties>
</file>