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0026A0-63F9-274C-8FFA-E2D0E62A8898}" v="124" dt="2024-03-11T20:56:43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1T19:37:18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24575,'96'17'0,"1"1"0,0-1 0,-1 0 0,1 0 0,-1 0 0,1 1 0,-1-1 0,-18-3 0,-15-3 0,15 3-940,4 1 0,23 3 0,13 3 0,4 1 0,-4-1 0,-13-2 0,-23-5 1,-32-5 939,-20-5 2135,-12-4-2135,-7 0 1196,3-4-1196,-4 3 0,-1-7 0,0 7 4188,1-7-4188,4 6 0,1-2 0,5 4 0,-5-4 0,10 3 0,-9-8 0,9 8 0,1-3 0,0-1 0,1 4 0,3-8 0,-8 7 0,3-2 0,0-1 0,2 4 0,5-4 0,0 5 0,5-5 0,-3 4 0,3-4 0,-5 0 0,-5 4 0,-2-8 0,-5 8 0,-5-4 0,0 1 0,-6 3 0,0-3 0,1 0 0,-1 3 0,1-4 0,-1 5 0,0 0 0,1 0 0,-1 0 0,1 0 0,-1 0 0,5 0 0,-3 0 0,7-4 0,-7-1 0,8-1 0,-4-2 0,5 2 0,0-4 0,0 0 0,-5 0 0,0 5 0,-6-4 0,0 8 0,1-7 0,-1 7 0,1-3 0,-1 0 0,0 3 0,1-4 0,-5 1 0,3 3 0,-2-3 0,3 0 0,0 3 0,1-8 0,-1 8 0,-4-7 0,4 7 0,-4-7 0,4 7 0,-3-8 0,2 8 0,-3-3 0,4 4 0,6-4 0,0 2 0,5-2 0,0 0 0,0-2 0,-5-4 0,-1 5 0,-4-4 0,-1 4 0,1-4 0,-1-1 0,-4 1 0,3 0 0,-2 3 0,-1-2 0,3 7 0,-3-7 0,5 2 0,-1 1 0,1-3 0,-1 3 0,5-5 0,-7 5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1T19:38:13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24575,'5'9'0,"-4"6"0,8 5 0,-8 1 0,8 10 0,-3-10 0,4 5 0,0-1 0,-4-4 0,3 10 0,-3-10 0,0 4 0,3-5 0,-8 6 0,8 0 0,-8 6 0,9 0 0,-9 6 0,9 1 0,-4 12 0,5-4 0,1 10 0,0-10 0,-1 4 0,5-6 0,-3 6 0,8-10 0,-9 9 0,9-11 0,-4 0 0,5-1 0,-6-6 0,0 0 0,-1 0 0,-3-6 0,8 5 0,-9-10 0,4 4 0,-5-5 0,-5 0 0,4 0 0,-3 0 0,4 0 0,0 1 0,5 4 0,-4 1 0,10 12 0,-4 1 0,6 6 0,5 1 0,-9-1 0,14 3 0,-14 3 0,15 3 0,-3 5 0,12 9 0,1-5 0,8 14-581,5-12 581,2 7 0,-1-15 0,5 6 0,-7-12 0,7-1 0,-14-9 0,1-11 0,-10-3 0,5-4 0,6 5 0,11 9 0,8 8-226,-24-15 0,2 1 226,-3 0 0,0 0 0,7 4 0,1 0 0,-5-1 0,0 0 0,-4-2 0,0-2 0,27 16 0,-17-11 0,-21-18 0,-13-2 0,-10-6 0,-6 1 1033,-4-9-1033,5-2 0,-4-13 0,12-7 0,-10 0 0,6 4 0,-9 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79A53-96BE-1B12-9202-D114943F7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81D1A-6619-7932-5804-679EE0FD3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9C7A4-03B2-5916-0173-8DB74B862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8B148-75F9-1D22-30C7-5AEB890C1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9041C-1BA9-C384-79A9-69234641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668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4F5B-229D-3871-E45B-99E6AEC7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40D1C-F8E7-D803-4B24-1645A68D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A9D72-2517-C60A-1530-A5E00438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90C49-BBBC-0397-E9F8-0E443FCB4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DDF16-737B-F6ED-DEB1-E277DECE8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1FDE-0F8D-B830-58A6-95A7965D4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E79B0-20B4-676B-5425-F1969B89A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C006C-86A8-4C9D-A74E-AB86F9C8C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F64CF-E2AB-1429-0D15-C3ABAC76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A081B-228D-312D-44D5-ED4AEE34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87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85164-CA93-4F11-BF90-80BDAC357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8C999-8055-C9F6-B9E6-6EDEB9B5E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01403-3844-75F4-D942-8BD5F3D33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E02AF-4D4D-34FE-0C74-7CD9D48F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79E18-2FA6-0AC4-8506-52BCFC14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5EB8C-6253-5F59-6C36-3FF6CA45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2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070E8-0763-FFDC-D9B6-A959C0E3B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0153D-CF8F-595D-D18A-08E3EF5D3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4F2CB-BA18-3E95-1F21-A9C17315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20E2F-DFB7-6FB2-7140-9A97B8267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FFF5E8-0772-9422-70AB-E2955E05E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91551-A9FA-7E79-B36D-5759A4118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61E9B-9BBB-C168-99B2-141F2802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B21F76-B41C-6404-EF21-643C2FA5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6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391EF-5F0D-C615-F2C9-62E2ADFA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7D530-5CBA-73A3-64D8-486FE509D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78F0E-FDCB-FFFE-2342-1FC098D5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834AC9-E03D-65A8-6885-1B6805BE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20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031F5-17E8-80F8-09D7-F0853159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0BEF8-257A-FF23-6682-819BD679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B523A-52F2-FDA8-7038-31109C659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9F15-CD0A-42C5-EFEC-DD23040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4E6D4-F3A1-6748-4DD5-0206EC34B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3E3F5-2369-A3AB-DDBC-BBB34D0B5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A59FE-B8D5-33E8-CDC7-456A6857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1080F-E3A4-D060-82C7-F37F6152C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E1665-5B57-30FD-E3FE-862D88B1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8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E9DF-D202-A90F-CE12-F35B28162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3B3FB7-17ED-5A21-46CD-B89721021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1F319-0D2D-5E7F-7182-D018D531C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551F2-E564-A2EF-FE4D-AA827FB4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8C038-0835-62F9-17A2-6AA86E18F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57A70-B265-817B-3137-4089F0C0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1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69A8-A390-F515-B0E4-18A84846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B08D5-11B5-8EC4-CAB1-B87E02637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E4CBC-F82E-00A4-E92B-F7D1A41F0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F219F-9869-A0F9-DF6F-8FF2EEC1D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E1C3C-8A03-D723-ED30-B06A13E72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7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8381EF-D5CA-2833-D009-C693108EBC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172DC-2D72-CA21-4EDF-789ED633F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64EE5-F481-7957-AFD9-634571D7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627E-0E6E-BFC0-B23E-4E3DA162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39C55-2D9E-6DF7-B5EA-96F6BCF8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43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899F7-9882-1C36-B2AD-8BCC19E6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B20FD-4399-B90C-83C4-12B002FA6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69455-D53B-EE56-90AE-EB2DA32024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75E0F-4409-684F-8023-9576BDB42F2C}" type="datetimeFigureOut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D1695-E409-1486-2B38-14BCFC4CA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F4625-16B6-2C38-4BB5-1B7C6C0BD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C89AA-94D0-1342-BB5C-36B07EB3C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9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EBC22-7799-2088-58CA-78F50EF1A2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N-step RL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5A9D1-FEA1-F77C-12C6-F0BAC60252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4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55A9-EAB2-6581-D59D-141C722D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SARSA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8BFD41-CDAD-C53D-A222-A22BC0532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1619250"/>
            <a:ext cx="7658100" cy="3619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920BF9-1E53-FEF1-E45C-113F9EA8546D}"/>
                  </a:ext>
                </a:extLst>
              </p14:cNvPr>
              <p14:cNvContentPartPr/>
              <p14:nvPr/>
            </p14:nvContentPartPr>
            <p14:xfrm>
              <a:off x="5158423" y="4497480"/>
              <a:ext cx="1173240" cy="157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920BF9-1E53-FEF1-E45C-113F9EA854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9783" y="4488480"/>
                <a:ext cx="11908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C859C48-402B-729F-1D6A-79234BD12DF7}"/>
                  </a:ext>
                </a:extLst>
              </p14:cNvPr>
              <p14:cNvContentPartPr/>
              <p14:nvPr/>
            </p14:nvContentPartPr>
            <p14:xfrm>
              <a:off x="5759983" y="4650840"/>
              <a:ext cx="812880" cy="1110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C859C48-402B-729F-1D6A-79234BD12D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50983" y="4641840"/>
                <a:ext cx="830520" cy="11282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623F501-E6F3-DA47-90C0-45EFA4A174CE}"/>
              </a:ext>
            </a:extLst>
          </p:cNvPr>
          <p:cNvSpPr txBox="1"/>
          <p:nvPr/>
        </p:nvSpPr>
        <p:spPr>
          <a:xfrm>
            <a:off x="5845628" y="5867400"/>
            <a:ext cx="4528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 of this is Return from one State-Action step</a:t>
            </a:r>
          </a:p>
        </p:txBody>
      </p:sp>
    </p:spTree>
    <p:extLst>
      <p:ext uri="{BB962C8B-B14F-4D97-AF65-F5344CB8AC3E}">
        <p14:creationId xmlns:p14="http://schemas.microsoft.com/office/powerpoint/2010/main" val="345112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55A9-EAB2-6581-D59D-141C722D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N-Step Prediction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196CC-E9A0-F1BB-CF32-F25E7511D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450" y="1436788"/>
            <a:ext cx="75311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82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0755A9-EAB2-6581-D59D-141C722D78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24091" y="365125"/>
                <a:ext cx="11470511" cy="1325563"/>
              </a:xfrm>
            </p:spPr>
            <p:txBody>
              <a:bodyPr/>
              <a:lstStyle/>
              <a:p>
                <a:r>
                  <a:rPr lang="en-US" dirty="0"/>
                  <a:t>n-Step Temporal Difference to 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0755A9-EAB2-6581-D59D-141C722D7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24091" y="365125"/>
                <a:ext cx="11470511" cy="1325563"/>
              </a:xfrm>
              <a:blipFill>
                <a:blip r:embed="rId2"/>
                <a:stretch>
                  <a:fillRect l="-2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11FA4D-16EA-9248-F731-D8DE667BE9CE}"/>
                  </a:ext>
                </a:extLst>
              </p:cNvPr>
              <p:cNvSpPr txBox="1"/>
              <p:nvPr/>
            </p:nvSpPr>
            <p:spPr>
              <a:xfrm>
                <a:off x="1055915" y="1410992"/>
                <a:ext cx="9209314" cy="4985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CMR10"/>
                  </a:rPr>
                  <a:t>Monte Carlo updates the estimate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using Return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Estimate for Return used 1-step TD-learning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Estimate of Return used by 2-step TD-learning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Estimate of Return used in an n-step TD-learning (being careful about when the episode finishes and not going beyond it)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Update formula used by an n-step TD algorithm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11FA4D-16EA-9248-F731-D8DE667BE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15" y="1410992"/>
                <a:ext cx="9209314" cy="4985980"/>
              </a:xfrm>
              <a:prstGeom prst="rect">
                <a:avLst/>
              </a:prstGeom>
              <a:blipFill>
                <a:blip r:embed="rId3"/>
                <a:stretch>
                  <a:fillRect l="-964" t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280B11B-4D3F-3E63-5C0B-B9F950686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686" y="1814353"/>
            <a:ext cx="5283200" cy="43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E705F3-19DC-BEAF-A76E-8120B6A06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171" y="2762931"/>
            <a:ext cx="2946400" cy="419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79EFB1-8A47-A447-8176-D777A9C967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373" y="3961846"/>
            <a:ext cx="4216400" cy="43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5D378E-A774-98E3-DB6C-4280E526AC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4686" y="5294608"/>
            <a:ext cx="65405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8F8B54-4EEC-421A-AB63-EB69F09EDB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5746" y="6022860"/>
            <a:ext cx="68072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640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0755A9-EAB2-6581-D59D-141C722D78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24091" y="365125"/>
                <a:ext cx="11470511" cy="1325563"/>
              </a:xfrm>
            </p:spPr>
            <p:txBody>
              <a:bodyPr/>
              <a:lstStyle/>
              <a:p>
                <a:r>
                  <a:rPr lang="en-US" dirty="0"/>
                  <a:t>n-Step Temporal Difference to 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0755A9-EAB2-6581-D59D-141C722D7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24091" y="365125"/>
                <a:ext cx="11470511" cy="1325563"/>
              </a:xfrm>
              <a:blipFill>
                <a:blip r:embed="rId2"/>
                <a:stretch>
                  <a:fillRect l="-2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129F159-E5ED-5D0C-86E7-8E79CE620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979" y="1453507"/>
            <a:ext cx="7531100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0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55A9-EAB2-6581-D59D-141C722D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365125"/>
            <a:ext cx="11470511" cy="1325563"/>
          </a:xfrm>
        </p:spPr>
        <p:txBody>
          <a:bodyPr/>
          <a:lstStyle/>
          <a:p>
            <a:pPr algn="ctr"/>
            <a:r>
              <a:rPr lang="en-US" dirty="0"/>
              <a:t>n-Step SARSA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76D846-ECEE-E5D3-AB28-5A2AAE60F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086" y="1496844"/>
            <a:ext cx="6509657" cy="482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84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55A9-EAB2-6581-D59D-141C722D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365125"/>
            <a:ext cx="11470511" cy="1325563"/>
          </a:xfrm>
        </p:spPr>
        <p:txBody>
          <a:bodyPr/>
          <a:lstStyle/>
          <a:p>
            <a:pPr algn="ctr"/>
            <a:r>
              <a:rPr lang="en-US" dirty="0"/>
              <a:t>n-Step SARSA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B4EC4F-3972-35B7-1F99-BC4D1C9C7367}"/>
              </a:ext>
            </a:extLst>
          </p:cNvPr>
          <p:cNvSpPr txBox="1"/>
          <p:nvPr/>
        </p:nvSpPr>
        <p:spPr>
          <a:xfrm>
            <a:off x="1317171" y="1690688"/>
            <a:ext cx="9753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MTI10"/>
              </a:rPr>
              <a:t>n</a:t>
            </a:r>
            <a:r>
              <a:rPr lang="en-US" sz="2400" dirty="0">
                <a:effectLst/>
                <a:latin typeface="CMR10"/>
              </a:rPr>
              <a:t>-step returns (update targets) can be defined in terms of estimated action values: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MR1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MR10"/>
            </a:endParaRPr>
          </a:p>
          <a:p>
            <a:r>
              <a:rPr lang="en-US" sz="2400" dirty="0">
                <a:latin typeface="CMR10"/>
              </a:rPr>
              <a:t>with </a:t>
            </a:r>
          </a:p>
          <a:p>
            <a:endParaRPr lang="en-US" sz="2400" dirty="0">
              <a:latin typeface="CMR1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MR10"/>
              </a:rPr>
              <a:t>The update formula used is: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198BB6-847C-3E03-AC3D-1399FFA4C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914" y="2588619"/>
            <a:ext cx="7772400" cy="420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522ADB-C4A2-6C7D-90C3-32E191C89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143" y="3257550"/>
            <a:ext cx="2552700" cy="342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CEA505-6C83-2E5B-6159-3E607637E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146" y="4417588"/>
            <a:ext cx="7772400" cy="37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549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A054-B23F-31BE-E279-BC156527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n-Step SARSA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D4363-B9B4-1EA6-11D0-8C6FAF661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585" y="1491700"/>
            <a:ext cx="6302829" cy="519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21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A054-B23F-31BE-E279-BC156527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n-Step Off-Policy SARSA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DCB1B9-FD55-1175-2DE8-73CB0F03D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172" y="1553187"/>
            <a:ext cx="6281057" cy="517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64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A054-B23F-31BE-E279-BC156527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n-step Tree Backup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CA960C-2454-6A8B-D9F0-6412871BB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908" y="1369425"/>
            <a:ext cx="1841500" cy="5346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DBA948-A42E-C20F-BE12-CAFDE9D05B7C}"/>
              </a:ext>
            </a:extLst>
          </p:cNvPr>
          <p:cNvSpPr txBox="1"/>
          <p:nvPr/>
        </p:nvSpPr>
        <p:spPr>
          <a:xfrm>
            <a:off x="446314" y="1364967"/>
            <a:ext cx="754096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MR10"/>
              </a:rPr>
              <a:t>Down the central spine and labeled in the diagram are three sample states and rewards, and two sample actions.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MR10"/>
              </a:rPr>
              <a:t>Hanging to the sides of each state are the actions that were </a:t>
            </a:r>
            <a:r>
              <a:rPr lang="en-US" sz="2400" dirty="0">
                <a:effectLst/>
                <a:latin typeface="CMTI10"/>
              </a:rPr>
              <a:t>not </a:t>
            </a:r>
            <a:r>
              <a:rPr lang="en-US" sz="2400" dirty="0">
                <a:effectLst/>
                <a:latin typeface="CMR10"/>
              </a:rPr>
              <a:t>selected.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MR10"/>
              </a:rPr>
              <a:t>Because we have no sample data for the unselected actions, we bootstrap and use the estimates of their values in forming the target for the update.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MR10"/>
              </a:rPr>
              <a:t>In the tree-backup update, the target includes all these things </a:t>
            </a:r>
            <a:r>
              <a:rPr lang="en-US" sz="2400" dirty="0">
                <a:effectLst/>
                <a:latin typeface="CMTI10"/>
              </a:rPr>
              <a:t>plus </a:t>
            </a:r>
            <a:r>
              <a:rPr lang="en-US" sz="2400" dirty="0">
                <a:effectLst/>
                <a:latin typeface="CMR10"/>
              </a:rPr>
              <a:t>the estimated values of the dangling action nodes hanging on the sides, at all levels.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MR10"/>
              </a:rPr>
              <a:t>This is why it is called a </a:t>
            </a:r>
            <a:r>
              <a:rPr lang="en-US" sz="2400" dirty="0">
                <a:effectLst/>
                <a:latin typeface="CMTI10"/>
              </a:rPr>
              <a:t>tree- backup </a:t>
            </a:r>
            <a:r>
              <a:rPr lang="en-US" sz="2400" dirty="0">
                <a:effectLst/>
                <a:latin typeface="CMR10"/>
              </a:rPr>
              <a:t>update; it is an update from the entire tree of estimated action values. 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823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A054-B23F-31BE-E279-BC156527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n-step Tree Backup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DBA948-A42E-C20F-BE12-CAFDE9D05B7C}"/>
                  </a:ext>
                </a:extLst>
              </p:cNvPr>
              <p:cNvSpPr txBox="1"/>
              <p:nvPr/>
            </p:nvSpPr>
            <p:spPr>
              <a:xfrm>
                <a:off x="446314" y="1364967"/>
                <a:ext cx="8958943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CMR10"/>
                  </a:rPr>
                  <a:t>The update is from the estimated action values of the </a:t>
                </a:r>
                <a:r>
                  <a:rPr lang="en-US" sz="2400" dirty="0">
                    <a:effectLst/>
                    <a:latin typeface="CMTI10"/>
                  </a:rPr>
                  <a:t>leaf nodes </a:t>
                </a:r>
                <a:r>
                  <a:rPr lang="en-US" sz="2400" dirty="0">
                    <a:effectLst/>
                    <a:latin typeface="CMR10"/>
                  </a:rPr>
                  <a:t>of the tree.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CMR10"/>
                  </a:rPr>
                  <a:t>Each leaf node contributes to the target with a weight proportional to its probability of occurring under the target policy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effectLst/>
                    <a:latin typeface="CMR1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CMR10"/>
                  </a:rPr>
                  <a:t>Thus each first-level action </a:t>
                </a:r>
                <a:r>
                  <a:rPr lang="en-US" sz="2400" dirty="0">
                    <a:effectLst/>
                    <a:latin typeface="CMMI10"/>
                  </a:rPr>
                  <a:t>a </a:t>
                </a:r>
                <a:r>
                  <a:rPr lang="en-US" sz="2400" dirty="0">
                    <a:effectLst/>
                    <a:latin typeface="CMR10"/>
                  </a:rPr>
                  <a:t>contributes with a weight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effectLst/>
                    <a:latin typeface="CMR10"/>
                  </a:rPr>
                  <a:t>(</a:t>
                </a:r>
                <a:r>
                  <a:rPr lang="en-US" sz="2400" dirty="0" err="1">
                    <a:effectLst/>
                    <a:latin typeface="CMMI10"/>
                  </a:rPr>
                  <a:t>a</a:t>
                </a:r>
                <a:r>
                  <a:rPr lang="en-US" sz="2400" dirty="0" err="1">
                    <a:effectLst/>
                    <a:latin typeface="CMSY10"/>
                  </a:rPr>
                  <a:t>|</a:t>
                </a:r>
                <a:r>
                  <a:rPr lang="en-US" sz="2400" dirty="0" err="1">
                    <a:effectLst/>
                    <a:latin typeface="CMMI10"/>
                  </a:rPr>
                  <a:t>S</a:t>
                </a:r>
                <a:r>
                  <a:rPr lang="en-US" sz="2400" dirty="0">
                    <a:effectLst/>
                    <a:latin typeface="CMMI10"/>
                  </a:rPr>
                  <a:t> </a:t>
                </a:r>
                <a:r>
                  <a:rPr lang="en-US" sz="1400" dirty="0">
                    <a:effectLst/>
                    <a:latin typeface="CMMI7"/>
                  </a:rPr>
                  <a:t>t</a:t>
                </a:r>
                <a:r>
                  <a:rPr lang="en-US" sz="1400" dirty="0">
                    <a:effectLst/>
                    <a:latin typeface="CMR7"/>
                  </a:rPr>
                  <a:t>+1</a:t>
                </a:r>
                <a:r>
                  <a:rPr lang="en-US" sz="2400" dirty="0">
                    <a:effectLst/>
                    <a:latin typeface="CMR10"/>
                  </a:rPr>
                  <a:t>), except that the action actually taken, </a:t>
                </a:r>
                <a:r>
                  <a:rPr lang="en-US" sz="2400" dirty="0">
                    <a:effectLst/>
                    <a:latin typeface="CMMI10"/>
                  </a:rPr>
                  <a:t>A </a:t>
                </a:r>
                <a:r>
                  <a:rPr lang="en-US" sz="2400" dirty="0">
                    <a:effectLst/>
                    <a:latin typeface="CMMI7"/>
                  </a:rPr>
                  <a:t>t</a:t>
                </a:r>
                <a:r>
                  <a:rPr lang="en-US" sz="2400" dirty="0">
                    <a:effectLst/>
                    <a:latin typeface="CMR7"/>
                  </a:rPr>
                  <a:t>+1</a:t>
                </a:r>
                <a:r>
                  <a:rPr lang="en-US" sz="2400" dirty="0">
                    <a:effectLst/>
                    <a:latin typeface="CMR10"/>
                  </a:rPr>
                  <a:t>, does not contribute at all.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CMR10"/>
                  </a:rPr>
                  <a:t>Its probability,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effectLst/>
                    <a:latin typeface="CMR10"/>
                  </a:rPr>
                  <a:t>(</a:t>
                </a:r>
                <a:r>
                  <a:rPr lang="en-US" sz="2400" dirty="0">
                    <a:effectLst/>
                    <a:latin typeface="CMMI10"/>
                  </a:rPr>
                  <a:t>A</a:t>
                </a:r>
                <a:r>
                  <a:rPr lang="en-US" sz="2400" dirty="0">
                    <a:effectLst/>
                    <a:latin typeface="CMMI7"/>
                  </a:rPr>
                  <a:t>t</a:t>
                </a:r>
                <a:r>
                  <a:rPr lang="en-US" sz="2400" dirty="0">
                    <a:effectLst/>
                    <a:latin typeface="CMR7"/>
                  </a:rPr>
                  <a:t>+1</a:t>
                </a:r>
                <a:r>
                  <a:rPr lang="en-US" sz="2400" dirty="0">
                    <a:effectLst/>
                    <a:latin typeface="CMSY10"/>
                  </a:rPr>
                  <a:t>|</a:t>
                </a:r>
                <a:r>
                  <a:rPr lang="en-US" sz="2400" dirty="0">
                    <a:effectLst/>
                    <a:latin typeface="CMMI10"/>
                  </a:rPr>
                  <a:t>S</a:t>
                </a:r>
                <a:r>
                  <a:rPr lang="en-US" sz="2400" dirty="0">
                    <a:effectLst/>
                    <a:latin typeface="CMMI7"/>
                  </a:rPr>
                  <a:t>t</a:t>
                </a:r>
                <a:r>
                  <a:rPr lang="en-US" sz="2400" dirty="0">
                    <a:effectLst/>
                    <a:latin typeface="CMR7"/>
                  </a:rPr>
                  <a:t>+1</a:t>
                </a:r>
                <a:r>
                  <a:rPr lang="en-US" sz="2400" dirty="0">
                    <a:effectLst/>
                    <a:latin typeface="CMR10"/>
                  </a:rPr>
                  <a:t>), is used to weight all the second-level action values.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CMR10"/>
                  </a:rPr>
                  <a:t>Thus, each non-selected second-level action </a:t>
                </a:r>
                <a:r>
                  <a:rPr lang="en-US" sz="2400" dirty="0">
                    <a:effectLst/>
                    <a:latin typeface="CMMI10"/>
                  </a:rPr>
                  <a:t>a</a:t>
                </a:r>
                <a:r>
                  <a:rPr lang="en-US" sz="2400" dirty="0">
                    <a:effectLst/>
                    <a:latin typeface="CMSY7"/>
                  </a:rPr>
                  <a:t>0 </a:t>
                </a:r>
                <a:r>
                  <a:rPr lang="en-US" sz="2400" dirty="0">
                    <a:effectLst/>
                    <a:latin typeface="CMR10"/>
                  </a:rPr>
                  <a:t>contributes with weight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effectLst/>
                    <a:latin typeface="CMR10"/>
                  </a:rPr>
                  <a:t>(</a:t>
                </a:r>
                <a:r>
                  <a:rPr lang="en-US" sz="2400" dirty="0">
                    <a:effectLst/>
                    <a:latin typeface="CMMI10"/>
                  </a:rPr>
                  <a:t>A</a:t>
                </a:r>
                <a:r>
                  <a:rPr lang="en-US" sz="2400" dirty="0">
                    <a:effectLst/>
                    <a:latin typeface="CMMI7"/>
                  </a:rPr>
                  <a:t>t</a:t>
                </a:r>
                <a:r>
                  <a:rPr lang="en-US" sz="2400" dirty="0">
                    <a:effectLst/>
                    <a:latin typeface="CMR7"/>
                  </a:rPr>
                  <a:t>+1</a:t>
                </a:r>
                <a:r>
                  <a:rPr lang="en-US" sz="2400" dirty="0">
                    <a:effectLst/>
                    <a:latin typeface="CMSY10"/>
                  </a:rPr>
                  <a:t>|</a:t>
                </a:r>
                <a:r>
                  <a:rPr lang="en-US" sz="2400" dirty="0">
                    <a:effectLst/>
                    <a:latin typeface="CMMI10"/>
                  </a:rPr>
                  <a:t>S</a:t>
                </a:r>
                <a:r>
                  <a:rPr lang="en-US" sz="2400" dirty="0">
                    <a:effectLst/>
                    <a:latin typeface="CMMI7"/>
                  </a:rPr>
                  <a:t>t</a:t>
                </a:r>
                <a:r>
                  <a:rPr lang="en-US" sz="2400" dirty="0">
                    <a:effectLst/>
                    <a:latin typeface="CMR7"/>
                  </a:rPr>
                  <a:t>+1</a:t>
                </a:r>
                <a:r>
                  <a:rPr lang="en-US" sz="2400" dirty="0">
                    <a:effectLst/>
                    <a:latin typeface="CMR10"/>
                  </a:rPr>
                  <a:t>)</a:t>
                </a:r>
                <a:r>
                  <a:rPr lang="en-US" sz="2400" dirty="0">
                    <a:effectLst/>
                    <a:latin typeface="CMMI10"/>
                  </a:rPr>
                  <a:t>⇡</a:t>
                </a:r>
                <a:r>
                  <a:rPr lang="en-US" sz="2400" dirty="0">
                    <a:effectLst/>
                    <a:latin typeface="CMR10"/>
                  </a:rPr>
                  <a:t>(</a:t>
                </a:r>
                <a:r>
                  <a:rPr lang="en-US" sz="2400" dirty="0">
                    <a:effectLst/>
                    <a:latin typeface="CMMI10"/>
                  </a:rPr>
                  <a:t>a</a:t>
                </a:r>
                <a:r>
                  <a:rPr lang="en-US" sz="2400" dirty="0">
                    <a:effectLst/>
                    <a:latin typeface="CMSY7"/>
                  </a:rPr>
                  <a:t>0</a:t>
                </a:r>
                <a:r>
                  <a:rPr lang="en-US" sz="2400" dirty="0">
                    <a:effectLst/>
                    <a:latin typeface="CMSY10"/>
                  </a:rPr>
                  <a:t>|</a:t>
                </a:r>
                <a:r>
                  <a:rPr lang="en-US" sz="2400" dirty="0">
                    <a:effectLst/>
                    <a:latin typeface="CMMI10"/>
                  </a:rPr>
                  <a:t>S</a:t>
                </a:r>
                <a:r>
                  <a:rPr lang="en-US" sz="2400" dirty="0">
                    <a:effectLst/>
                    <a:latin typeface="CMMI7"/>
                  </a:rPr>
                  <a:t>t</a:t>
                </a:r>
                <a:r>
                  <a:rPr lang="en-US" sz="2400" dirty="0">
                    <a:effectLst/>
                    <a:latin typeface="CMR7"/>
                  </a:rPr>
                  <a:t>+2</a:t>
                </a:r>
                <a:r>
                  <a:rPr lang="en-US" sz="2400" dirty="0">
                    <a:effectLst/>
                    <a:latin typeface="CMR10"/>
                  </a:rPr>
                  <a:t>).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CMR10"/>
                  </a:rPr>
                  <a:t>Each third-level action contributes with weight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effectLst/>
                    <a:latin typeface="CMR10"/>
                  </a:rPr>
                  <a:t>(</a:t>
                </a:r>
                <a:r>
                  <a:rPr lang="en-US" sz="2400" dirty="0">
                    <a:effectLst/>
                    <a:latin typeface="CMMI10"/>
                  </a:rPr>
                  <a:t>A</a:t>
                </a:r>
                <a:r>
                  <a:rPr lang="en-US" sz="2400" dirty="0">
                    <a:effectLst/>
                    <a:latin typeface="CMMI7"/>
                  </a:rPr>
                  <a:t>t</a:t>
                </a:r>
                <a:r>
                  <a:rPr lang="en-US" sz="2400" dirty="0">
                    <a:effectLst/>
                    <a:latin typeface="CMR7"/>
                  </a:rPr>
                  <a:t>+1</a:t>
                </a:r>
                <a:r>
                  <a:rPr lang="en-US" sz="2400" dirty="0">
                    <a:effectLst/>
                    <a:latin typeface="CMSY10"/>
                  </a:rPr>
                  <a:t>|</a:t>
                </a:r>
                <a:r>
                  <a:rPr lang="en-US" sz="2400" dirty="0">
                    <a:effectLst/>
                    <a:latin typeface="CMMI10"/>
                  </a:rPr>
                  <a:t>S</a:t>
                </a:r>
                <a:r>
                  <a:rPr lang="en-US" sz="2400" dirty="0">
                    <a:effectLst/>
                    <a:latin typeface="CMMI7"/>
                  </a:rPr>
                  <a:t>t</a:t>
                </a:r>
                <a:r>
                  <a:rPr lang="en-US" sz="2400" dirty="0">
                    <a:effectLst/>
                    <a:latin typeface="CMR7"/>
                  </a:rPr>
                  <a:t>+1</a:t>
                </a:r>
                <a:r>
                  <a:rPr lang="en-US" sz="2400" dirty="0">
                    <a:effectLst/>
                    <a:latin typeface="CMR10"/>
                  </a:rPr>
                  <a:t>),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effectLst/>
                    <a:latin typeface="CMR10"/>
                  </a:rPr>
                  <a:t>(</a:t>
                </a:r>
                <a:r>
                  <a:rPr lang="en-US" sz="2400" dirty="0">
                    <a:effectLst/>
                    <a:latin typeface="CMMI10"/>
                  </a:rPr>
                  <a:t>A</a:t>
                </a:r>
                <a:r>
                  <a:rPr lang="en-US" sz="2400" dirty="0">
                    <a:effectLst/>
                    <a:latin typeface="CMMI7"/>
                  </a:rPr>
                  <a:t>t</a:t>
                </a:r>
                <a:r>
                  <a:rPr lang="en-US" sz="2400" dirty="0">
                    <a:effectLst/>
                    <a:latin typeface="CMR7"/>
                  </a:rPr>
                  <a:t>+2</a:t>
                </a:r>
                <a:r>
                  <a:rPr lang="en-US" sz="2400" dirty="0">
                    <a:effectLst/>
                    <a:latin typeface="CMSY10"/>
                  </a:rPr>
                  <a:t>|</a:t>
                </a:r>
                <a:r>
                  <a:rPr lang="en-US" sz="2400" dirty="0">
                    <a:effectLst/>
                    <a:latin typeface="CMMI10"/>
                  </a:rPr>
                  <a:t>S</a:t>
                </a:r>
                <a:r>
                  <a:rPr lang="en-US" sz="2400" dirty="0">
                    <a:effectLst/>
                    <a:latin typeface="CMMI7"/>
                  </a:rPr>
                  <a:t>t</a:t>
                </a:r>
                <a:r>
                  <a:rPr lang="en-US" sz="2400" dirty="0">
                    <a:effectLst/>
                    <a:latin typeface="CMR7"/>
                  </a:rPr>
                  <a:t>+2</a:t>
                </a:r>
                <a:r>
                  <a:rPr lang="en-US" sz="2400" dirty="0">
                    <a:effectLst/>
                    <a:latin typeface="CMR10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effectLst/>
                    <a:latin typeface="CMR10"/>
                  </a:rPr>
                  <a:t>(</a:t>
                </a:r>
                <a:r>
                  <a:rPr lang="en-US" sz="2400" dirty="0">
                    <a:effectLst/>
                    <a:latin typeface="CMMI10"/>
                  </a:rPr>
                  <a:t>a </a:t>
                </a:r>
                <a:r>
                  <a:rPr lang="en-US" sz="2400" dirty="0">
                    <a:effectLst/>
                    <a:latin typeface="CMSY7"/>
                  </a:rPr>
                  <a:t>00</a:t>
                </a:r>
                <a:r>
                  <a:rPr lang="en-US" sz="2400" dirty="0">
                    <a:effectLst/>
                    <a:latin typeface="CMSY10"/>
                  </a:rPr>
                  <a:t>|</a:t>
                </a:r>
                <a:r>
                  <a:rPr lang="en-US" sz="2400" dirty="0">
                    <a:effectLst/>
                    <a:latin typeface="CMMI10"/>
                  </a:rPr>
                  <a:t>S</a:t>
                </a:r>
                <a:r>
                  <a:rPr lang="en-US" sz="2400" dirty="0">
                    <a:effectLst/>
                    <a:latin typeface="CMMI7"/>
                  </a:rPr>
                  <a:t>t</a:t>
                </a:r>
                <a:r>
                  <a:rPr lang="en-US" sz="2400" dirty="0">
                    <a:effectLst/>
                    <a:latin typeface="CMR7"/>
                  </a:rPr>
                  <a:t>+3</a:t>
                </a:r>
                <a:r>
                  <a:rPr lang="en-US" sz="2400" dirty="0">
                    <a:effectLst/>
                    <a:latin typeface="CMR10"/>
                  </a:rPr>
                  <a:t>), and so on. </a:t>
                </a:r>
              </a:p>
              <a:p>
                <a:endParaRPr lang="en-US" sz="24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DBA948-A42E-C20F-BE12-CAFDE9D05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14" y="1364967"/>
                <a:ext cx="8958943" cy="5539978"/>
              </a:xfrm>
              <a:prstGeom prst="rect">
                <a:avLst/>
              </a:prstGeom>
              <a:blipFill>
                <a:blip r:embed="rId2"/>
                <a:stretch>
                  <a:fillRect l="-992" t="-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CF10E00-EDE3-C5E7-03AF-340B4EDE0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622" y="1364967"/>
            <a:ext cx="18415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2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A054-B23F-31BE-E279-BC156527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n-step Tree Backup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913EAA-F934-6940-FA22-91242B08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269" y="1403446"/>
            <a:ext cx="5953760" cy="545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67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66A054-B23F-31BE-E279-BC15652748A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dirty="0"/>
                  <a:t>Algorithm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66A054-B23F-31BE-E279-BC1565274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E5F68C0-0D2E-23D9-A28C-EA7ED42F8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057" y="1574817"/>
            <a:ext cx="7456714" cy="491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9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66A054-B23F-31BE-E279-BC15652748A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dirty="0"/>
                  <a:t>Algorithm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66A054-B23F-31BE-E279-BC1565274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D9039EB-450C-8013-ACF0-3B9C0F7A1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55" y="1429648"/>
            <a:ext cx="5290402" cy="54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996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420</Words>
  <Application>Microsoft Macintosh PowerPoint</Application>
  <PresentationFormat>Widescreen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CMMI10</vt:lpstr>
      <vt:lpstr>CMMI7</vt:lpstr>
      <vt:lpstr>CMR10</vt:lpstr>
      <vt:lpstr>CMR7</vt:lpstr>
      <vt:lpstr>CMSY10</vt:lpstr>
      <vt:lpstr>CMSY7</vt:lpstr>
      <vt:lpstr>CMTI10</vt:lpstr>
      <vt:lpstr>Office Theme</vt:lpstr>
      <vt:lpstr>N-step RL</vt:lpstr>
      <vt:lpstr>SARSA </vt:lpstr>
      <vt:lpstr>N-Step Prediction</vt:lpstr>
      <vt:lpstr>n-Step Temporal Difference to estimate V≈v_π</vt:lpstr>
      <vt:lpstr>n-Step Temporal Difference to estimate V≈v_π</vt:lpstr>
      <vt:lpstr>n-Step SARSA</vt:lpstr>
      <vt:lpstr>n-Step SARSA</vt:lpstr>
      <vt:lpstr>n-Step SARSA</vt:lpstr>
      <vt:lpstr>n-Step Off-Policy SARSA</vt:lpstr>
      <vt:lpstr>The n-step Tree Backup Algorithm</vt:lpstr>
      <vt:lpstr>The n-step Tree Backup Algorithm</vt:lpstr>
      <vt:lpstr>The n-step Tree Backup Algorithm</vt:lpstr>
      <vt:lpstr> Q(σ)Algorithm</vt:lpstr>
      <vt:lpstr> Q(σ)Algorithm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N-step RL</dc:title>
  <dc:creator>Jugal Kalita</dc:creator>
  <cp:lastModifiedBy>Jugal Kalita</cp:lastModifiedBy>
  <cp:revision>1</cp:revision>
  <dcterms:created xsi:type="dcterms:W3CDTF">2024-03-11T19:28:29Z</dcterms:created>
  <dcterms:modified xsi:type="dcterms:W3CDTF">2024-03-11T20:56:50Z</dcterms:modified>
</cp:coreProperties>
</file>