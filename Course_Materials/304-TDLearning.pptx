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ppt/ink/ink6.xml" ContentType="application/inkml+xml"/>
  <Override PartName="/ppt/ink/ink7.xml" ContentType="application/inkml+xml"/>
  <Override PartName="/ppt/ink/ink8.xml" ContentType="application/inkml+xml"/>
  <Override PartName="/ppt/ink/ink9.xml" ContentType="application/inkml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2"/>
    <p:sldId id="258" r:id="rId3"/>
    <p:sldId id="260" r:id="rId4"/>
    <p:sldId id="257" r:id="rId5"/>
    <p:sldId id="261" r:id="rId6"/>
    <p:sldId id="262" r:id="rId7"/>
    <p:sldId id="263" r:id="rId8"/>
    <p:sldId id="264" r:id="rId9"/>
    <p:sldId id="265" r:id="rId10"/>
    <p:sldId id="266" r:id="rId11"/>
    <p:sldId id="267" r:id="rId1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4E9A340E-527F-324E-AC89-FB04E9C48994}" v="1261" dt="2024-02-28T21:50:15.131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7712"/>
    <p:restoredTop sz="96327"/>
  </p:normalViewPr>
  <p:slideViewPr>
    <p:cSldViewPr snapToGrid="0">
      <p:cViewPr varScale="1">
        <p:scale>
          <a:sx n="124" d="100"/>
          <a:sy n="124" d="100"/>
        </p:scale>
        <p:origin x="408" y="1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microsoft.com/office/2015/10/relationships/revisionInfo" Target="revisionInfo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2-26T20:50:15.65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7876 499 24575,'-54'0'0,"2"-6"0,-40-8 0,-2-7-2360,5-6 2360,25 10 0,-2-2 0,7 1 0,-1-1 0,-16-4 0,-1 0 0,9 0 0,0 1 0,-4 5 0,1 2 0,8-4 0,1 4 0,4 9 0,2 2 162,-40-14-162,45 13 0,1 2 0,-39-11 0,37 8 0,0-1 0,-43-13 0,43 12 0,1 1 0,-38-13 0,29 9 0,1 1 0,-32-5 0,38 5 0,1 0 0,-33-4 502,14 7-502,3 2 0,-1 5 0,12 0 1186,-10 0-1186,5 5 0,-16-3 0,-1 9 0,-7-9 0,16 14 0,-6-7 0,13 3 0,-13 0 484,13-11-484,-6 10 26,8-4-26,-1 0 0,-6 4 0,4-9 0,-11 3 0,4-5 0,1 0 0,1 6 0,8 1 0,6-1 0,1 5 0,8-10 0,-1 10 0,1-10 0,-8 10 0,6-10 0,-12 5 0,24-6 0,-21 0 0,20 0 0,-16 0 0,6 0 0,0 0 0,7 0 0,-5 0 0,4 0 0,-5 0 0,-1 5 0,-6-4 0,-9 4 0,-9-5 0,-6 0 0,-9 0-612,-1 0 612,-8-6 0,0 5 0,8-5 0,9 6-39,9 0 39,0 0 0,-1 0 0,-8 0 0,8 5 0,-6 2 0,6 12 0,6-11 0,-3 4 0,5-12 0,-1 11 611,0-3-611,4 9 40,10 0-40,-10 2 0,27-6 0,-17-2 0,12-5 0,-5-5 0,-10 10 0,11 0 0,1-3 0,1 7 0,11-9 0,-4 5 0,5-5 0,-6 4 0,0-4 0,0 0 0,-6 4 0,-2-4 0,0 6 0,2-1 0,6 0 0,6-5 0,0 4 0,7-4 0,-1 4 0,5 0 0,-4-4 0,5 3 0,-1-4 0,-4 5 0,9 0 0,-3-4 0,4 3 0,-5-4 0,-1 5 0,5 1 0,-14 10 0,16 2 0,-23 11 0,18 0 0,-7 0 0,5-1 0,3 6 0,-7-10 0,8 3 0,1-6 0,2-4 0,8 0 0,-4-3 0,5-8 0,0 9 0,5-4 0,5 0 0,-3-2 0,7-4 0,-9 0 0,5 0 0,0-5 0,0 4 0,-5-4 0,4 1 0,-4-2 0,0 1 0,4-4 0,-8 7 0,8-7 0,-4 8 0,10-3 0,-4 4 0,4 0 0,-6-1 0,1-3 0,5 3 0,-4-4 0,8 10 0,-8-4 0,9 9 0,-5-5 0,6 2 0,-5 2 0,4-7 0,-9 2 0,4-8 0,-5 8 0,0-8 0,0 9 0,-1-5 0,1-5 0,0 4 0,0-8 0,-5 7 0,4-6 0,-4 6 0,5-7 0,0 8 0,4-3 0,8 4 0,0 0 0,9 1 0,3 0 0,13 1 0,8 11 0,14-2 0,1 16 0,16-3-456,-39-14 1,1 0 455,1 1 0,-1-1 0,41 20-112,-6-6 112,-32-10 0,-13-7 0,-8 4 0,-5-2 0,16 10 906,6-6-906,-1-5 117,-5-2-117,4-9 0,-10 3 0,4-9 0,0 9 0,8-3 0,8-1 0,6 0 0,8-6 0,1 5 0,1-3 0,12 4 0,-10-6 0,12 5 0,-7 3 0,7-1 0,-5 4-342,-30-7 0,1 0 342,38 9 0,-37-6 0,0 0 0,43 13 0,0-5 0,0 11 0,-8-6 0,-2 1-133,-14 3 133,-3-10 0,-6 9 0,-1-10 0,8 11 0,-6-4 0,21 0 0,-4-2 167,15-4-167,-8-1 0,6-5 0,-13-3 0,5-5 99,-21 0-99,10 0 0,-24 0 0,24 0 0,-10 0 0,21 0-811,11 0 811,-44 0 0,1 0 0,0 0 0,0 0 0,-1 0 0,-1 0 0,44 0 0,-8 0 0,-1 0 250,-9 0-250,1 0 0,-8 0 35,-8 0-35,-2 0 0,-12 0 0,12 0 823,-18-5-823,10 4 254,-17-9-254,4 4 0,-6-5 0,-6 1 0,5 4 0,2-4 0,0 8 0,18-8 0,-10 3 0,0 0 0,-4 2 0,-5 5 0,8-10 0,5 2 0,8-14 0,0 3 0,8-6 0,-7 1 0,5 0 0,-6 0 0,8-1 0,-6-5 0,4-1 0,-11 0 0,13-11 0,-20 16 0,13-16 0,-13 6 0,6 4 0,-7-2 0,-1 6 0,0 4 0,-4-10 0,3 10 0,-11-3 0,-1 0 0,-10 5 0,8-5 0,-12 6 0,12 0 0,-13 0 0,3 0 0,-5 0 0,5 1 0,-8 4 0,7-4 0,-8 4 0,4-4 0,5-1 0,-4 0 0,9 0 0,-8-5 0,3 4 0,-4-4 0,-1 5 0,0 0 0,1-5 0,0 4 0,-1-4 0,1 5 0,-6 0 0,0 0 0,-5 6 0,4 0 0,-3 5 0,4 0 0,-5 1 0,-5-1 0,4 0 0,-3 1 0,4-1 0,0-5 0,0-1 0,0 0 0,0-3 0,0 3 0,0-5 0,0 5 0,-5-3 0,4 3 0,-3 0 0,-1-3 0,4 8 0,-8-9 0,7 4 0,-7 0 0,4-3 0,-1 3 0,-3 0 0,8 1 0,-7 6 0,7-1 0,-4 0 0,1 1 0,3-1 0,-4 0 0,1 5 0,3-4 0,-3 8 0,4-3 0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2-26T20:50:17.15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24575,'0'9'0,"0"6"0,4 1 0,7 5 0,6 5 0,4 2 0,1 5 0,6 0 0,2 8 0,-1-5 0,6 5 0,0-1 0,9 10 0,20 9-460,-29-22 0,0 0 460,2 1 0,2 0 0,7 5 0,-1 1 0,-6-6 0,0 0 0,7 5 0,2-1 0,-4-10 0,1 1 0,3 9 0,0 0 0,-3-10 0,2 1 0,3 10 0,1 1 0,-4-4 0,0-1 0,4 2 0,0 0 0,-4-2 0,-1-1 0,-3-3 0,-2 0 0,-4-2 0,0 1 0,1 4 0,-1 0 0,2 0 0,0 2 0,7 6 0,2 1 0,-4 0 0,1 2-913,6 7 1,2 1 912,2 2 0,-1-1 0,-8-5 0,1 0-455,5 0 1,-1-2 454,-19-9 0,-1-2-118,6-5 0,-1 0 118,18 36 0,3-19 0,-13-3 779,3-1-779,-4-11 1788,6 6-1788,0-7 1035,-7-5-1035,-1-7 288,-14-9-288,-5-4 0,-8-6 0,-4 4 0,-5-12 0,-5 6 0,8-3 0,5 6 0,4 4 0,20-4 0,-13-1 0,15-5 0,-6 5 0,0 6 0,-5-4 0,-7 3 0,-6-10 0,-5 0 0,-5-5 0,-1 0 0,6-15 0,-3 12 0,4-7 0,-7 15 0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2-26T21:19:35.10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84 24575,'11'-4'0,"3"-1"0,-4-6 0,1 6 0,14-4 0,-8 7 0,10-7 0,-7 8 0,7-9 0,6 9 0,-4-4 0,4 5 0,-7-5 0,-4 4 0,4-4 0,-5 0 0,-5 4 0,3-3 0,3 4 0,0 0 0,4 0 0,0 0 0,2 0 0,5 0 0,-6 0 0,5 0 0,-10 0 0,4 0 0,-5 0 0,0 0 0,5 0 0,-4 0 0,5 0 0,-7 0 0,-4 0 0,-1 0 0,-5 0 0,-1 0 0,1 0 0,0 0 0,0 0 0,4 0 0,-3 0 0,4 0 0,-6 0 0,1 0 0,0 0 0,0 0 0,-1 0 0,1 0 0,0 0 0,0 0 0,-1 0 0,1 0 0,0 0 0,0 0 0,-1 0 0,1 0 0,5 0 0,-4 0 0,8 4 0,-3-3 0,5 4 0,0-5 0,-1 5 0,7-4 0,0 3 0,12 2 0,-4 0 0,10 5 0,-16 0 0,9-5 0,-16-1 0,4 0 0,-10-4 0,-1 3 0,-6-4 0,1 0 0,0 0 0,0 0 0,-1 0 0,1 0 0,0 0 0,0 0 0,4 0 0,-3 0 0,4 0 0,-5 0 0,-1 0 0,1 0 0,0 0 0,0 0 0,-1 0 0,1 0 0,0 0 0,4 5 0,-3-4 0,9 4 0,-9-1 0,3-3 0,1 4 0,-4-5 0,4 0 0,-6 0 0,1 4 0,0-3 0,0 3 0,-1-4 0,1 0 0,-4 0 0,-2 0 0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2-26T21:19:38.11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33 24575,'4'-5'0,"1"0"0,15 5 0,-2 0 0,26-5 0,-7 3 0,22-3 0,-4 5 0,7 0 0,-1 0 0,8 0 0,1 0 0,1 0 0,-3 0 0,-13 0 0,-2 0 0,-12 0 0,-2 0 0,-16 0 0,2 0 0,-9 0 0,0 0 0,3 0 0,-8 0 0,9 0 0,-5 0 0,12 0 0,0 0 0,6 0 0,0 0 0,-5 0 0,-2 0 0,-5 0 0,-5 0 0,3 0 0,-3 0 0,5-5 0,-5 4 0,3-3 0,-3 4 0,5 0 0,5 0 0,2 0 0,5 0 0,-6 0 0,5 0 0,-10 0 0,0 0 0,-3 0 0,-3 0 0,5 0 0,-5 0 0,3 0 0,-3 0 0,5 0 0,5 0 0,1 0 0,7 0 0,5 0 0,-5 0 0,5 0 0,0 0 0,-4 0 0,10 0 0,2 0 0,1 0 0,19 5 0,-10-3 0,-6 3 0,1 1 0,18-4 0,26 9 0,-41-10 0,5 5 0,-12-6 0,5 0 0,-6 0 0,-6 0 0,-13 0 0,-3 4 0,-9-3 0,0 4 0,4-5 0,-9 0 0,3 0 0,-4 0 0,0 0 0,4 0 0,2 0 0,5 0 0,5 0 0,-4 0 0,10 0 0,-15 0 0,8 0 0,-9 0 0,5 0 0,4 0 0,-3 0 0,8 5 0,-8-4 0,5 4 0,-1-5 0,-4 0 0,10 0 0,-5 0 0,6 0 0,-5 0 0,-7 0 0,-6 0 0,-5 0 0,-1-4 0,1 3 0,0-8 0,0 8 0,-1-3 0,6 4 0,-8 0 0,2 0 0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2-26T21:19:40.69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10 24575,'10'-4'0,"-1"2"0,6-2 0,-4 4 0,14 0 0,-2 0 0,16 0 0,1 0 0,13 0 0,2 0 0,0 0 0,5 0 0,-12 0 0,-1 5 0,-13-4 0,-8 4 0,-5-5 0,-5 0 0,-1 0 0,-1 0 0,2 0 0,0 0 0,9 0 0,-8 0 0,15 0 0,-15 0 0,13 0 0,-7 0 0,5 0 0,-2 0 0,-5 0 0,11 0 0,-3 0 0,16 0 0,-10 0 0,4 5 0,-6-4 0,0 4 0,-5-5 0,-2 0 0,-6 0 0,1 0 0,0 0 0,-5 0 0,18 0 0,-14 0 0,21 0 0,-14 0 0,6 5 0,0-4 0,-10 4 0,20-5 0,-17 0 0,26 0 0,-18 0 0,11 0 0,-10 5 0,4-4 0,-6 4 0,6-5 0,2 5 0,5-3 0,7 8 0,-4-8 0,-2 3 0,-2-5 0,-16 0 0,9 0 0,-16 0 0,4 0 0,-10 0 0,9 0 0,-8 5 0,15-4 0,1 4 0,2-1 0,10-2 0,2 3 0,8 0 0,0-4 0,5 10 0,-12-9 0,-1 3 0,-2-5 0,-4 0 0,12 0 0,-5 5 0,12-3 0,-11 3 0,4-5 0,-13 0 0,5 0 0,-10-5 0,-1-1 0,-13 0 0,-1-3 0,-5 8 0,6-9 0,-5 9 0,-1-3 0,-1 4 0,-3 0 0,4 0 0,-5-5 0,4 4 0,-3-3 0,0 0 0,-7 2 0,-4-2 0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2-28T21:23:44.35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14327 96 24575,'-56'-7'0,"-1"-1"0,-10 5 0,-5 1 0,7 0 0,-30-5 0,13 6 0,12 2 0,50 4 0,-1-4 0,5 8 0,1-4 0,6 5 0,-6-4 0,4 2 0,-8-2 0,3-1 0,-5 5 0,0-9 0,-11 3 0,3-4 0,-16 0 0,-10-5 0,-1-2 0,-13-11 0,8 4 0,6-3 0,2 5 0,6-5 0,6 9 0,-4-8 0,11 10 0,-5 0 0,6-4 0,23 13 0,-11-6 0,7 7 0,-21-4 0,-12 0 0,12 0 0,-3 0 0,11 0 0,-6 0 0,0 0 0,5 0 0,-4 0 0,5 0 0,-1 0 0,-9 6 0,7-5 0,-9 9 0,-6-3 0,-4 4 0,-20 2 0,-1-6 0,-16 5-478,-1-5 478,0 6 0,-6-5 0,-3 4-646,40-8 1,-2 0 645,-4 0 0,-1 0 0,-4-1 0,1 1 0,3-1 0,1 0 0,-1-3 0,3 2-442,-38 10 442,47-9 0,1 1 0,-29 9 0,-7 0 0,16-5 0,1 3 0,8-4 437,-8 5-437,6 1 1290,-6-1-1290,20-5 484,-9 4-484,22-10 0,-16 5 0,5-6 0,10 0 0,-7 0 0,16 0 0,-11 5 0,5-4 0,-5 4 0,-7-5 0,4 0 0,-18 0 0,5 0 0,-7 0 0,-6 0 0,-3 0 0,1 0 0,1 0 0,8 0 0,6 0 0,-5 0 0,18 0 0,-10-5 0,12-1 0,-7-6 0,-6 6 0,5 0 0,-6 6 0,8 0 0,-7 0 0,10 5 0,-15-4 0,9 10 0,-12-10 0,-8 10 0,-1-9 0,6 9 0,-3-4 0,12 5 0,0 0 0,-5 0 0,12-6 0,-12 0 0,-2 0 0,-1 0 0,-13 2 0,-10-3-925,-12 1 925,42-2 0,-2 0 0,-7 0 0,-2 0 0,4 0 0,-1-2-644,-7-2 1,-1 0 643,4 3 0,2 1 0,3 3 0,1 0 0,1-2 0,0 0 0,4 5 0,0-1 0,-4-7 0,-1-2 0,4 3 0,1 0-280,-1-2 1,1-2 279,5-2 0,1 0 0,-1 0 0,1-2 0,-39-8 0,40 6 0,-1 0 0,-36-6 0,-1 5 0,38 2 0,-1 0 0,-38-2 0,37 2 0,0-2 0,1 1 0,-1 0 0,1 1 0,-3-2 0,-36-5 0,-3-1 0,19 6 0,-1-2-720,5-3 1,-4-3-1,2 2 720,-13 1 0,3 0 0,-2-10 0,0 0-372,1 6 0,1 1 372,9-3 0,1 0 0,1 3 0,-2 2 0,-14-2 0,-1 3 0,20 4 0,1 1 0,-12-2 0,2 2 277,24 7 0,3 0-277,-45-5 0,7 6 0,10 0 485,10 6-485,13-5 2199,1 5-2199,8-6 1804,11 4-1804,-3-3 632,10 4-632,-5-5 0,0 0 0,0 0 0,-12 5 0,2-3 0,-10 8 0,7 2 0,-8 7 0,-8 0 0,-1 4 0,-6-4 0,1 1 0,5 3 0,-6-9 0,0 4 0,-1-11 0,-1 4 0,9-10 0,9 5 0,7-1 0,5-4 0,7 5 0,3-6 0,3 4 0,-5-2 0,-6 3 0,4-1 0,-10-2 0,5 3 0,5-5 0,-12 0 0,22 0 0,-16 0 0,19 0 0,-9 0 0,-3 0 0,-1 0 0,-4 0 0,0 0 0,5 0 0,-11 0 0,10 0 0,1-5 0,3 4 0,13-8 0,-7 8 0,14-4 0,-3 5 0,-1-4 0,-1 3 0,-16-9 0,3 9 0,-5-9 0,3 9 0,-12-4 0,7 5 0,-7 0 0,17 0 0,10 0 0,2 4 0,4-3 0,5-1 0,-4-1 0,-1 2 0,-6 4 0,-5 6 0,0-1 0,10-8 0,-3 1 0,9-7 0,-5 8 0,0 2 0,0 3 0,-4 1 0,7 0 0,-6 0 0,7 5 0,-4-4 0,0 8 0,0-3 0,0 0 0,-1 4 0,6-9 0,0 3 0,5-4 0,0 0 0,0-1 0,0 1 0,0 0 0,0 0 0,0-1 0,5 6 0,1 1 0,-1 0 0,4-2 0,-3-4 0,8 0 0,2 0 0,10-4 0,2-1 0,18-5 0,-4 0 0,18 0 0,10 0 0,2 0 0,6-6 0,-9 5 0,-20-5 0,-4 6 0,-12 0 0,6 5 0,-10 1 0,4 5 0,-13-5 0,-4 3 0,4-8 0,-4 3 0,0-4 0,-2 0 0,-4 5 0,0-4 0,14 12 0,-11-6 0,16 8 0,-18 0 0,8 1 0,-2 0 0,3-1 0,1 0 0,0-3 0,0 7 0,-1-7 0,7 8 0,-5-9 0,4 5 0,0-5 0,-4-1 0,4 1 0,-5-1 0,0 5 0,0-8 0,0 7 0,-1-8 0,1 4 0,0-4 0,14 3 0,1-2 0,8-1 0,1 4 0,-4-8 0,12 3 0,-5-5 0,19 0 0,-3 0 0,21-6 0,-5 4 0,-2-4 0,-9-5 0,-8 3 0,-6-4 0,5-5 0,-5 15 0,-1-14 0,6 9 0,-5-5 0,7 5 0,-1-4 0,-6 10 0,-2-5 0,-6 6 0,-7 0 0,12 0 0,-3 0 0,20 0 0,1 6 0,0-5 0,-1 11 0,-8-6 0,1 7 0,7-1 0,-13 6 0,11-5 0,-19-1 0,6-1 0,-14 0 0,12 2 0,-16-2 0,23 0 0,-11-4 0,14 5 0,6 1 0,11 0 0,0 0-431,14 0 431,-13-6 0,13 5 0,-6-4 0,8 0 0,-44-5 0,1 0 0,1-3 0,0 0 0,4 0 0,0 0 0,-5 0 0,1 0-426,7 0 1,0 0 425,-6 0 0,0 0 0,11 0 0,2 0 0,-5-1 0,0 2 0,1 2 0,-1 0 0,4-2 0,0-1 0,-4 4 0,0-1 0,5-3 0,0 0-621,0-1 1,0 2 620,0 2 0,0 0 0,-1-2 0,1 0 0,0 2 0,0 1 0,0-1 0,0 0 0,0-2 0,-1 0 0,-3 2 0,-1 1 0,4-1 0,0 0 0,1-2 0,0 0 0,-3 2 0,-1 0 0,4-2 0,-2-2-548,33 1 548,-43 0 0,-1 0 0,36 0 0,5 6 0,-23-4 374,-5 3-374,-12 1 788,13-5-788,-4 10 1284,4-10-1284,-6 10 625,-1-9-625,8 3 0,1-5 0,16 6-592,9-4 592,-5 4 0,-36-6 0,1 0 0,43 0 0,-42 0 0,2 0 0,1 0 0,4 0 0,28 0 0,3 0 0,-15-4 0,0 1-657,-11 2 0,3 2 1,-4-3 656,7-5 0,-3 1 0,2 5 0,-3 0-405,-11-5 1,-1-1 404,3 7 0,-2-1 0,31-11-346,3 11 346,-15-11 0,-14 11 499,3-11-499,-19 11 1898,5-4-1898,-12 0 906,4 4-906,-10-4 414,-2 5-414,-1 0 0,-5 0 0,6-5 0,7 4 0,7-4 0,15-1 0,-4 3 0,4-2 0,36-8-848,-17 9 1,2 1 847,-23-4 0,-1 1 0,16 5 0,2 0 0,-8-5 0,-2-1 0,5 3 0,0 0 0,-5 0 0,-1 0-478,-3-3 1,-1 1 477,0 2 0,-1 0 0,-8-3 0,-1 0-152,0 0 0,-1 0 152,37-6 0,-10 0 0,-10-5 0,-6 10 0,-13-8 1581,-9 10-1581,-8 0 1024,-10 1-1024,4 5 349,-5-4-349,-5 2 0,3-2 0,-3 4 0,10 0 0,8 0 0,6 0 0,7 5 0,-6-4 0,-2 9 0,-6-8 0,6 2 0,-5-4 0,5 0 0,-6 0 0,13 0 0,-4 0 0,12 0 0,-8 6 0,-5-5 0,-2 4 0,-6-5 0,0 0 0,0 0 0,-5 0 0,3 0 0,-3 0 0,5 0 0,0 0 0,6 5 0,-4-3 0,10 8 0,-11-9 0,5 4 0,-11-5 0,4 0 0,-5 0 0,12 0 0,-4 0 0,4 0 0,-11 0 0,3 0 0,-9 0 0,5 0 0,-7 0 0,-4 0 0,4 0 0,-9 0 0,3 0 0,-8-4 0,2-1 0,-2-1 0,-1-2 0,4 7 0,-8-8 0,8 3 0,-4-3 0,5-1 0,-1 0 0,1 1 0,-4-6 0,2 4 0,-2-4 0,3 6 0,1-6 0,0 4 0,0-4 0,0 6 0,-5-1 0,4 0 0,-8 0 0,8 1 0,-8-1 0,3 0 0,-4 0 0,0-4 0,0 3 0,0-4 0,0 5 0,0 1 0,0-1 0,0 0 0,0 0 0,-4 1 0,-1-1 0,-5-5 0,0 4 0,-1-8 0,-3 3 0,2-10 0,-14-3 0,2-5 0,-11-1 0,0 0 0,0 0 0,-5 5 0,3-3 0,3 9 0,2-3 0,4 5 0,-12-6 0,5 4 0,1 0 0,2 9 0,10 4 0,5 9 0,-7-1 0,11 7 0,-19-4 0,19 0 0,-1 0 0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2-28T21:23:45.86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1322 24575,'10'-5'0,"4"-8"0,2 6 0,10-9 0,22-7 0,2 3 0,42-19-1461,-1-2 1461,-27 15 0,4-1-1013,-1-1 0,2-3 1013,14-8 0,3-1-1209,4 1 0,2 0 1209,-30 9 0,0-2 0,1 2 0,4 3 0,2 2 0,-2-1 0,-1-1 0,0-1 0,0 0 0,-1 2 0,0 1 0,0-1 0,26-12 0,0 0 0,-28 13 0,1 1 0,-2-1-653,14-6 0,-2 1 653,9 1 0,-2 2 0,-13 1 0,-2 1 0,-4 2 0,1 2 51,2 1 1,1 2-52,-4 3 0,1 1 0,4-1 0,0 2 0,-4 4 0,-2 2 0,-3-1 0,-1 1 566,-1 4 1,-1 0-567,42-3 0,-40 5 0,-2 0 0,34-5 0,-38 6 0,0 0 0,28 0 2273,-1-5-2273,-2 4 1652,-19-5-1652,3 6 1262,-13 0-1262,-6 0 627,-8 0-627,-7 0 161,1 0-161,0 0 0,12 5 0,8-3 0,23 9 0,10-10-589,15 5 589,0-6 0,-7 0 0,5 0 0,-14 0 0,-7-5 0,-18-1 0,-20 0 0,-8 1 0,-10 0 0,3 4 589,-3-3-589,16 4 0,4 5 0,17-4 0,2 15 0,6-13 0,-12 13 0,-3-10 0,-24 0 0,-2-1 0,-10-9 0,-4-2 0,-12-14 0,-18-4 0,9 5 0,-7 3 0</inkml:trace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2-28T21:23:52.12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190 237 24575,'61'-19'0,"-11"-3"0,17 8 0,-12-9 0,6 10 0,-6-10 0,12 9 0,-10-3 0,11 4 0,1 1 0,-6 5 0,6 1 0,-8 6 0,-6 0 0,-2 0 0,-12 0 0,11 0 0,-16 0 0,16 0 0,-18 0 0,11 0 0,-4 0 0,5 5 0,-5-3 0,4 8 0,2-3 0,8-1 0,14 6 0,1-5 0,1 0 0,-3 4 0,-6-9 0,-1 3 0,-6-5 0,-2 0 0,1 0 0,0 0 0,8 0 0,-1 0 0,1 5 0,-1-3 0,1 3 0,-1-5 0,1 0 0,-1 0 0,-6 0 0,5 0 0,-18 0 0,10 0 0,-12 0 0,14 0 0,0 0 0,8 0 0,-1 0 0,-6 0 0,12 0 0,-10 0 0,11 0 0,-13 0 0,12 0 0,-3 6 0,14-5 0,7 5 0,-5-6 0,13 0 0,-14 6 0,7-5 0,-1 11-476,2-10 476,0 4 0,-36-6 0,0 0 0,30 0 0,-30 0 0,0 0 0,36 0 0,0 0 0,-1 0 0,-9 0 0,1 0 0,7 0 0,-5 5 0,13-3 0,-6 4 0,0-6 0,6 6 0,-13-5 0,5 5 0,-7-6 0,7 0 0,-5 0 0,-2 0 0,-2 0 0,-6-6 0,15 5 0,-5-5 0,13 6 0,-13 0 0,5-5 0,-8 3 0,1-4 0,0 1 0,-1 3 0,1-4 0,-1 1 0,1 3 0,0-9 0,-1 9 0,1-3 0,-1 5 0,1 0 0,0 0 0,-8-6 0,-1 5 0,-8-5 0,-6 1 0,5 4 0,-12-4 0,5-1 476,-6 5-476,-12-9 0,9 4 0,-15-5 0,10 0 0,-6 5 0,-10 5 0,13 2 0,1 4 0,25-5 0,1 0 0,6-6 0,0 5 0,-6-5 0,-1 6 0,5-5 0,-11 3 0,20-4 0,-5 6 0,14 0 0,-5 0 0,5 0 0,-15 0 0,6 0 0,-13 6 0,6-5 0,0 5 0,-6-6 0,6 0 0,-8 0 0,-6 0 0,-2 0 0,-6 0 0,-7-5 0,5 4 0,-4-4 0,12 5 0,2 0 0,0-5 0,-2 3 0,0-3 0,-4 5 0,4 0 0,0 0 0,2-5 0,0 3 0,-2-3 0,-6 0 0,-1 3 0,1-3 0,6 5 0,-5 0 0,6 0 0,-1 0 0,2 0 0,13 0 0,3 0 0,-7 0 0,10 0 0,-18 0 0,6 0 0,-2 0 0,-18 0 0,17 0 0,-17 0 0,5 0 0,-2 0 0,-4 0 0,-1 0 0,6-5 0,-12 4 0,11-5 0,-4 6 0,-1 0 0,5 0 0,-4 0 0,0 0 0,4 0 0,-5 0 0,1 0 0,11 0 0,-22 5 0,27-4 0,-20 4 0,10-5 0,-2 5 0,-4 7 0,6 1 0,6 4 0,9-5 0,1 0 0,13 1 0,-6 0 0,-22-6 0,-13 3 0,-21-9 0,-3 8 0,10-3 0,-5 0 0,4-2 0,-9 1 0,8 0 0,-8 5 0,9 0 0,-9 0 0,8 1 0,-3-1 0,0 5 0,4-4 0,-4 9 0,0 1 0,4 2 0,-3 8 0,4-3 0,2 11 0,-1-5 0,1 12 0,5-11 0,2 5 0,-1-6 0,-2-5 0,-10-3 0,-2-15 0,-5 3 0,-9-13 0,-7 3 0,-15 1 0,-13 7 0,-7 6 0,1 0 0,-5 3 0,3 3 0,-5 1 0,-2 11 0,-11-5 0,2 1 0,7-8 0,22-7 0,-15 0 0,-7-4 0,2-5 0,-6-3-554,-3-1 1,-1-2 553,-8-1 0,0-2 0,8 1 0,2 0 0,-40 6 0,43-5 0,17 0 0,15-2 0,-5 1 0,-1 1 1107,-4 4-1107,-1 0 0,-8-3 0,-19 3 0,-12-5 0,22 0 0,-4 0-632,-3-3 0,-3-1 632,-11 3 0,-1 1 0,4-4 0,0 1 0,-7 3 0,-2 0-1037,-6 0 0,-1 0 1037,0 4 0,-2-1 0,-3-2 0,0 0 0,1 3 0,1-1 0,4-2 0,-2-2 0,-8 1 0,-2 0 0,5 0 0,0 0 0,1 0 0,0 0 0,5 0 0,3 0-657,8 0 0,0 0 657,1 0 0,1 0 0,8 0 0,2 0-206,2 0 0,3 0 206,-39 0 0,2 0 0,13 0 0,-5 0 0,14 0 1015,3 0-1015,-1 0 0,-1 0 0,-8 0 0,8 0 0,-6 0 0,13 0 0,-13 0 0,24 0 0,-1 0 0,-41 0 609,33 0 1,0 0-610,-34 0 0,0 0 0,15 0 1276,-4 0-1276,14 0 0,-15 0 0,5 6 0,-5-5 0,-1 5 0,-1-6 0,0 0-147,37 0 1,-1 0 146,-47 0 0,46 0 0,-1 0 0,-4 0 0,2 0 0,-42 0 0,42 0 0,-2 0 0,0 1 0,0-2 0,-1-2 0,0 0 0,-3 2 0,-1 0 0,6-5 0,-1 0 0,-18 2 0,1 0 0,21-2 0,0-1 0,-16 0 0,2 1 0,-12-7-168,1 5 168,2-3 0,5 3 0,1-4 804,1-1-804,14 6 193,-4-4-193,4 10 834,0-4-834,2 5 184,-1 0-184,0 0 0,-15 0 0,-1 0 0,-1 0 0,-5 0 0,6 0 0,-8 0 0,8 0 0,-6 5 0,6-3 0,-16 4 0,7-6 0,-7 5 0,9-3-587,-17 3 587,5-5 0,37 0 0,1 0 0,-37 0 0,3 0 0,15 0 0,1 0 0,14 0 0,2 0 0,0 0 0,-2 0 0,-7 0 587,7 0-587,2-5 0,-14 4 0,15-9 0,-15 8 0,26-8 0,2 9 0,0-4 0,-2 5 0,-12 0 0,-9-6 0,-8 5 0,-16-11 0,7 11 0,1-11 0,9 11 0,8-5 0,6 6 0,2 6 0,12-5 0,-4 9 0,4-9 0,-5 5 0,-1-6 0,-34 5 0,13-4 0,-16 5 0,17-6 0,18 0 0,-4 0 0,0 0 0,5 0 0,-12 0 0,5-6 0,-6 0 0,-1-7 0,1-4 0,-8 3 0,6-10 0,-6 10 0,8-3 0,6 5 0,2 0 0,12 0 0,2 1 0,11 5 0,7-3 0,1 8 0,5-8 0,-6 8 0,0-9 0,5 9 0,-3-3 0,3-1 0,-5 4 0,0-4 0,5 5 0,-3 0 0,8-4 0,-4 3 0,10-8 0,-9 8 0,12-8 0,-12 8 0,18-3 0,-12-5 0,6-3 0,-3-4 0,-4 2 0,3-1 0,1 4 0,0-4 0,5 6 0,0-1 0,0 0 0,4 0 0,2 1 0,8-1 0,-2-5 0,2 4 0,1-4 0,1 5 0,0-5 0,-1 8 0,-5-7 0,5 9 0,-4-5 0,3 4 0,-4-3 0,0 8 0,-1-7 0,1 7 0,-4-4 0,-2 5 0</inkml:trace>
</inkml:ink>
</file>

<file path=ppt/ink/ink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2-28T21:23:54.32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1305 24575,'4'-10'0,"-3"1"0,8-1 0,-3 0 0,3 1 0,6-6 0,6-2 0,7 1 0,11-6 0,3-1 0,18-3 0,-2-10 0,26 8-663,-4-9 663,15 8 0,-44 9 0,1 0 0,0 5 0,1 1 0,8-5 0,1 2-763,-1 6 0,3 0 763,11-4 0,3 1 0,0 1 0,2 1-1190,13-3 1,2-3 1189,1-2 0,-1 0 0,-9 6 0,-1 1 0,7-7 0,0 1-887,-13 7 0,0 0 887,9-4 0,1-1 0,-5 1 0,0 1 0,-2 3 0,1-1 0,0-6 0,-1 1-372,-8 9 0,0-1 372,3-8 0,-1 0 0,-13 6 0,-1 1 155,4-3 0,-1-1-155,-6 1 0,-2-1 0,5-3 0,-1 1 0,-7 5 0,-3 0 1965,20-8-1965,24 1 0,-31 4 659,-10 1 1,3 0-660,40-7 0,-41 7 0,0 1 0,41-2 0,-45 1 0,-1 1 0,30 4 1542,-5-19-1542,-27 24 1093,2-18-1093,-16 21 104,10-4-104,-10 5 753,4 0-753,-6 0 0,0 0 0,0 0 0,0 0 0,-5 0 0,-7 0 0,-2 0 0,-3 0 0,5 0 0,11 0 0,10 5 0,28-3 0,27 10-698,-40-8 0,3 0 698,6 0 0,1 0 0,0 0 0,0-1 0,-4-6 0,-1-1-311,-4 4 1,-2-1 310,-3-5 0,-3-1 0,38-6 0,-17-6 0,-22 0 0,-17-1 0,-20 9 1349,1-4-1349,-12 5 668,4 0-668,-10 5 0,0 5 0,-5 1 0,5 8 0,-4-8 0,4 3 0,-1-4 0,2 0 0</inkml:trace>
</inkml:ink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589213" y="2514600"/>
            <a:ext cx="8915399" cy="2262781"/>
          </a:xfrm>
        </p:spPr>
        <p:txBody>
          <a:bodyPr anchor="b">
            <a:normAutofit/>
          </a:bodyPr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589213" y="4777379"/>
            <a:ext cx="8915399" cy="1126283"/>
          </a:xfrm>
        </p:spPr>
        <p:txBody>
          <a:bodyPr anchor="t"/>
          <a:lstStyle>
            <a:lvl1pPr marL="0" indent="0" algn="l">
              <a:buNone/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2/24/26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Freeform 6"/>
          <p:cNvSpPr/>
          <p:nvPr/>
        </p:nvSpPr>
        <p:spPr bwMode="auto">
          <a:xfrm>
            <a:off x="0" y="4323810"/>
            <a:ext cx="1744652" cy="778589"/>
          </a:xfrm>
          <a:custGeom>
            <a:avLst/>
            <a:gdLst/>
            <a:ahLst/>
            <a:cxnLst/>
            <a:rect l="0" t="0" r="r" b="b"/>
            <a:pathLst>
              <a:path w="372" h="166">
                <a:moveTo>
                  <a:pt x="287" y="166"/>
                </a:moveTo>
                <a:cubicBezTo>
                  <a:pt x="290" y="166"/>
                  <a:pt x="292" y="165"/>
                  <a:pt x="293" y="164"/>
                </a:cubicBezTo>
                <a:cubicBezTo>
                  <a:pt x="293" y="163"/>
                  <a:pt x="294" y="163"/>
                  <a:pt x="294" y="163"/>
                </a:cubicBezTo>
                <a:cubicBezTo>
                  <a:pt x="370" y="87"/>
                  <a:pt x="370" y="87"/>
                  <a:pt x="370" y="87"/>
                </a:cubicBezTo>
                <a:cubicBezTo>
                  <a:pt x="372" y="85"/>
                  <a:pt x="372" y="81"/>
                  <a:pt x="370" y="78"/>
                </a:cubicBezTo>
                <a:cubicBezTo>
                  <a:pt x="294" y="3"/>
                  <a:pt x="294" y="3"/>
                  <a:pt x="294" y="3"/>
                </a:cubicBezTo>
                <a:cubicBezTo>
                  <a:pt x="294" y="2"/>
                  <a:pt x="293" y="2"/>
                  <a:pt x="293" y="2"/>
                </a:cubicBezTo>
                <a:cubicBezTo>
                  <a:pt x="292" y="1"/>
                  <a:pt x="290" y="0"/>
                  <a:pt x="287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166"/>
                  <a:pt x="0" y="166"/>
                  <a:pt x="0" y="166"/>
                </a:cubicBezTo>
                <a:lnTo>
                  <a:pt x="287" y="166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4529540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92925" y="624110"/>
            <a:ext cx="8911687" cy="128089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589212" y="2133600"/>
            <a:ext cx="8915400" cy="377762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2/24/26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2058750"/>
            <a:ext cx="8915399" cy="146880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3530129"/>
            <a:ext cx="8915399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2/24/26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589212" y="2133600"/>
            <a:ext cx="4313864" cy="3777622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190747" y="2126222"/>
            <a:ext cx="4313864" cy="3777622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2/24/26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0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1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787782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939373" y="1972703"/>
            <a:ext cx="399273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589212" y="2548966"/>
            <a:ext cx="4342893" cy="3354060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7506629" y="1969475"/>
            <a:ext cx="399900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7166957" y="2545738"/>
            <a:ext cx="4338674" cy="3354060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2/24/26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2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3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787782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2/24/26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2/24/26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446088"/>
            <a:ext cx="3505199" cy="976312"/>
          </a:xfrm>
        </p:spPr>
        <p:txBody>
          <a:bodyPr anchor="b"/>
          <a:lstStyle>
            <a:lvl1pPr algn="l">
              <a:defRPr sz="20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323012" y="446088"/>
            <a:ext cx="5181600" cy="5414963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2" y="1598613"/>
            <a:ext cx="3505199" cy="4262436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2/24/26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3" y="4800600"/>
            <a:ext cx="8915400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589212" y="634965"/>
            <a:ext cx="8915400" cy="3854970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367338"/>
            <a:ext cx="8915400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2/24/26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609600"/>
            <a:ext cx="8915399" cy="311704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4354046"/>
            <a:ext cx="8915399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2/24/26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49949" y="609600"/>
            <a:ext cx="8393926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3275012" y="3505200"/>
            <a:ext cx="753655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4354046"/>
            <a:ext cx="8915399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2/24/26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14" name="TextBox 13"/>
          <p:cNvSpPr txBox="1"/>
          <p:nvPr/>
        </p:nvSpPr>
        <p:spPr>
          <a:xfrm>
            <a:off x="2467652" y="648005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114852" y="290530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3" y="2438400"/>
            <a:ext cx="8915400" cy="2724845"/>
          </a:xfrm>
        </p:spPr>
        <p:txBody>
          <a:bodyPr anchor="b">
            <a:normAutofit/>
          </a:bodyPr>
          <a:lstStyle>
            <a:lvl1pPr algn="l">
              <a:defRPr sz="4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2/24/26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"/>
          <p:cNvSpPr>
            <a:spLocks noGrp="1"/>
          </p:cNvSpPr>
          <p:nvPr>
            <p:ph type="title"/>
          </p:nvPr>
        </p:nvSpPr>
        <p:spPr>
          <a:xfrm>
            <a:off x="2849949" y="609600"/>
            <a:ext cx="8393926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589212" y="4343400"/>
            <a:ext cx="8915400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2/24/26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17" name="TextBox 16"/>
          <p:cNvSpPr txBox="1"/>
          <p:nvPr/>
        </p:nvSpPr>
        <p:spPr>
          <a:xfrm>
            <a:off x="2467652" y="648005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114852" y="290530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627407"/>
            <a:ext cx="8915399" cy="2880020"/>
          </a:xfrm>
        </p:spPr>
        <p:txBody>
          <a:bodyPr anchor="ctr">
            <a:normAutofit/>
          </a:bodyPr>
          <a:lstStyle>
            <a:lvl1pPr algn="l">
              <a:defRPr sz="4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589212" y="4343400"/>
            <a:ext cx="8915400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2/24/26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2/24/26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294812" y="627405"/>
            <a:ext cx="2207601" cy="5283817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589212" y="627405"/>
            <a:ext cx="6477000" cy="5283817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2/24/26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" name="Group 22"/>
          <p:cNvGrpSpPr/>
          <p:nvPr/>
        </p:nvGrpSpPr>
        <p:grpSpPr>
          <a:xfrm>
            <a:off x="1" y="228600"/>
            <a:ext cx="2851516" cy="6638628"/>
            <a:chOff x="2487613" y="285750"/>
            <a:chExt cx="2428875" cy="5654676"/>
          </a:xfrm>
        </p:grpSpPr>
        <p:sp>
          <p:nvSpPr>
            <p:cNvPr id="24" name="Freeform 11"/>
            <p:cNvSpPr/>
            <p:nvPr/>
          </p:nvSpPr>
          <p:spPr bwMode="auto">
            <a:xfrm>
              <a:off x="2487613" y="2284413"/>
              <a:ext cx="85725" cy="533400"/>
            </a:xfrm>
            <a:custGeom>
              <a:avLst/>
              <a:gdLst/>
              <a:ahLst/>
              <a:cxnLst/>
              <a:rect l="0" t="0" r="r" b="b"/>
              <a:pathLst>
                <a:path w="22" h="136">
                  <a:moveTo>
                    <a:pt x="22" y="136"/>
                  </a:moveTo>
                  <a:cubicBezTo>
                    <a:pt x="20" y="117"/>
                    <a:pt x="19" y="99"/>
                    <a:pt x="17" y="80"/>
                  </a:cubicBezTo>
                  <a:cubicBezTo>
                    <a:pt x="11" y="54"/>
                    <a:pt x="6" y="27"/>
                    <a:pt x="0" y="0"/>
                  </a:cubicBezTo>
                  <a:cubicBezTo>
                    <a:pt x="0" y="35"/>
                    <a:pt x="0" y="35"/>
                    <a:pt x="0" y="35"/>
                  </a:cubicBezTo>
                  <a:cubicBezTo>
                    <a:pt x="6" y="64"/>
                    <a:pt x="13" y="94"/>
                    <a:pt x="20" y="124"/>
                  </a:cubicBezTo>
                  <a:cubicBezTo>
                    <a:pt x="20" y="128"/>
                    <a:pt x="21" y="132"/>
                    <a:pt x="22" y="136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5" name="Freeform 12"/>
            <p:cNvSpPr/>
            <p:nvPr/>
          </p:nvSpPr>
          <p:spPr bwMode="auto">
            <a:xfrm>
              <a:off x="2597151" y="2779713"/>
              <a:ext cx="550863" cy="1978025"/>
            </a:xfrm>
            <a:custGeom>
              <a:avLst/>
              <a:gdLst/>
              <a:ahLst/>
              <a:cxnLst/>
              <a:rect l="0" t="0" r="r" b="b"/>
              <a:pathLst>
                <a:path w="140" h="504">
                  <a:moveTo>
                    <a:pt x="86" y="350"/>
                  </a:moveTo>
                  <a:cubicBezTo>
                    <a:pt x="103" y="402"/>
                    <a:pt x="120" y="453"/>
                    <a:pt x="139" y="504"/>
                  </a:cubicBezTo>
                  <a:cubicBezTo>
                    <a:pt x="139" y="495"/>
                    <a:pt x="139" y="487"/>
                    <a:pt x="140" y="478"/>
                  </a:cubicBezTo>
                  <a:cubicBezTo>
                    <a:pt x="124" y="435"/>
                    <a:pt x="109" y="391"/>
                    <a:pt x="95" y="347"/>
                  </a:cubicBezTo>
                  <a:cubicBezTo>
                    <a:pt x="58" y="233"/>
                    <a:pt x="27" y="117"/>
                    <a:pt x="0" y="0"/>
                  </a:cubicBezTo>
                  <a:cubicBezTo>
                    <a:pt x="2" y="20"/>
                    <a:pt x="4" y="41"/>
                    <a:pt x="6" y="61"/>
                  </a:cubicBezTo>
                  <a:cubicBezTo>
                    <a:pt x="30" y="158"/>
                    <a:pt x="56" y="255"/>
                    <a:pt x="86" y="35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6" name="Freeform 13"/>
            <p:cNvSpPr/>
            <p:nvPr/>
          </p:nvSpPr>
          <p:spPr bwMode="auto">
            <a:xfrm>
              <a:off x="3175001" y="4730750"/>
              <a:ext cx="519113" cy="1209675"/>
            </a:xfrm>
            <a:custGeom>
              <a:avLst/>
              <a:gdLst/>
              <a:ahLst/>
              <a:cxnLst/>
              <a:rect l="0" t="0" r="r" b="b"/>
              <a:pathLst>
                <a:path w="132" h="308">
                  <a:moveTo>
                    <a:pt x="8" y="22"/>
                  </a:moveTo>
                  <a:cubicBezTo>
                    <a:pt x="5" y="15"/>
                    <a:pt x="2" y="8"/>
                    <a:pt x="0" y="0"/>
                  </a:cubicBezTo>
                  <a:cubicBezTo>
                    <a:pt x="0" y="10"/>
                    <a:pt x="0" y="19"/>
                    <a:pt x="0" y="29"/>
                  </a:cubicBezTo>
                  <a:cubicBezTo>
                    <a:pt x="21" y="85"/>
                    <a:pt x="44" y="140"/>
                    <a:pt x="68" y="194"/>
                  </a:cubicBezTo>
                  <a:cubicBezTo>
                    <a:pt x="85" y="232"/>
                    <a:pt x="104" y="270"/>
                    <a:pt x="123" y="308"/>
                  </a:cubicBezTo>
                  <a:cubicBezTo>
                    <a:pt x="132" y="308"/>
                    <a:pt x="132" y="308"/>
                    <a:pt x="132" y="308"/>
                  </a:cubicBezTo>
                  <a:cubicBezTo>
                    <a:pt x="113" y="269"/>
                    <a:pt x="94" y="230"/>
                    <a:pt x="77" y="190"/>
                  </a:cubicBezTo>
                  <a:cubicBezTo>
                    <a:pt x="52" y="135"/>
                    <a:pt x="29" y="79"/>
                    <a:pt x="8" y="22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7" name="Freeform 14"/>
            <p:cNvSpPr/>
            <p:nvPr/>
          </p:nvSpPr>
          <p:spPr bwMode="auto">
            <a:xfrm>
              <a:off x="3305176" y="5630863"/>
              <a:ext cx="146050" cy="309563"/>
            </a:xfrm>
            <a:custGeom>
              <a:avLst/>
              <a:gdLst/>
              <a:ahLst/>
              <a:cxnLst/>
              <a:rect l="0" t="0" r="r" b="b"/>
              <a:pathLst>
                <a:path w="37" h="79">
                  <a:moveTo>
                    <a:pt x="28" y="79"/>
                  </a:moveTo>
                  <a:cubicBezTo>
                    <a:pt x="37" y="79"/>
                    <a:pt x="37" y="79"/>
                    <a:pt x="37" y="79"/>
                  </a:cubicBezTo>
                  <a:cubicBezTo>
                    <a:pt x="24" y="53"/>
                    <a:pt x="12" y="27"/>
                    <a:pt x="0" y="0"/>
                  </a:cubicBezTo>
                  <a:cubicBezTo>
                    <a:pt x="8" y="27"/>
                    <a:pt x="17" y="53"/>
                    <a:pt x="28" y="79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8" name="Freeform 15"/>
            <p:cNvSpPr/>
            <p:nvPr/>
          </p:nvSpPr>
          <p:spPr bwMode="auto">
            <a:xfrm>
              <a:off x="2573338" y="2817813"/>
              <a:ext cx="700088" cy="2835275"/>
            </a:xfrm>
            <a:custGeom>
              <a:avLst/>
              <a:gdLst/>
              <a:ahLst/>
              <a:cxnLst/>
              <a:rect l="0" t="0" r="r" b="b"/>
              <a:pathLst>
                <a:path w="178" h="722">
                  <a:moveTo>
                    <a:pt x="162" y="660"/>
                  </a:moveTo>
                  <a:cubicBezTo>
                    <a:pt x="145" y="618"/>
                    <a:pt x="130" y="576"/>
                    <a:pt x="116" y="534"/>
                  </a:cubicBezTo>
                  <a:cubicBezTo>
                    <a:pt x="84" y="437"/>
                    <a:pt x="59" y="337"/>
                    <a:pt x="40" y="236"/>
                  </a:cubicBezTo>
                  <a:cubicBezTo>
                    <a:pt x="29" y="175"/>
                    <a:pt x="20" y="113"/>
                    <a:pt x="12" y="51"/>
                  </a:cubicBezTo>
                  <a:cubicBezTo>
                    <a:pt x="8" y="34"/>
                    <a:pt x="4" y="17"/>
                    <a:pt x="0" y="0"/>
                  </a:cubicBezTo>
                  <a:cubicBezTo>
                    <a:pt x="8" y="79"/>
                    <a:pt x="19" y="159"/>
                    <a:pt x="33" y="237"/>
                  </a:cubicBezTo>
                  <a:cubicBezTo>
                    <a:pt x="51" y="339"/>
                    <a:pt x="76" y="439"/>
                    <a:pt x="107" y="537"/>
                  </a:cubicBezTo>
                  <a:cubicBezTo>
                    <a:pt x="123" y="586"/>
                    <a:pt x="141" y="634"/>
                    <a:pt x="160" y="681"/>
                  </a:cubicBezTo>
                  <a:cubicBezTo>
                    <a:pt x="166" y="695"/>
                    <a:pt x="172" y="708"/>
                    <a:pt x="178" y="722"/>
                  </a:cubicBezTo>
                  <a:cubicBezTo>
                    <a:pt x="176" y="717"/>
                    <a:pt x="175" y="713"/>
                    <a:pt x="174" y="708"/>
                  </a:cubicBezTo>
                  <a:cubicBezTo>
                    <a:pt x="169" y="692"/>
                    <a:pt x="165" y="676"/>
                    <a:pt x="162" y="66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9" name="Freeform 16"/>
            <p:cNvSpPr/>
            <p:nvPr/>
          </p:nvSpPr>
          <p:spPr bwMode="auto">
            <a:xfrm>
              <a:off x="2506663" y="285750"/>
              <a:ext cx="90488" cy="2493963"/>
            </a:xfrm>
            <a:custGeom>
              <a:avLst/>
              <a:gdLst/>
              <a:ahLst/>
              <a:cxnLst/>
              <a:rect l="0" t="0" r="r" b="b"/>
              <a:pathLst>
                <a:path w="23" h="635">
                  <a:moveTo>
                    <a:pt x="11" y="577"/>
                  </a:moveTo>
                  <a:cubicBezTo>
                    <a:pt x="12" y="581"/>
                    <a:pt x="12" y="585"/>
                    <a:pt x="12" y="589"/>
                  </a:cubicBezTo>
                  <a:cubicBezTo>
                    <a:pt x="15" y="603"/>
                    <a:pt x="19" y="617"/>
                    <a:pt x="22" y="632"/>
                  </a:cubicBezTo>
                  <a:cubicBezTo>
                    <a:pt x="22" y="633"/>
                    <a:pt x="22" y="634"/>
                    <a:pt x="23" y="635"/>
                  </a:cubicBezTo>
                  <a:cubicBezTo>
                    <a:pt x="21" y="615"/>
                    <a:pt x="19" y="596"/>
                    <a:pt x="17" y="576"/>
                  </a:cubicBezTo>
                  <a:cubicBezTo>
                    <a:pt x="9" y="474"/>
                    <a:pt x="5" y="372"/>
                    <a:pt x="5" y="269"/>
                  </a:cubicBezTo>
                  <a:cubicBezTo>
                    <a:pt x="6" y="179"/>
                    <a:pt x="9" y="90"/>
                    <a:pt x="15" y="0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5" y="89"/>
                    <a:pt x="2" y="179"/>
                    <a:pt x="1" y="269"/>
                  </a:cubicBezTo>
                  <a:cubicBezTo>
                    <a:pt x="0" y="372"/>
                    <a:pt x="3" y="474"/>
                    <a:pt x="11" y="577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0" name="Freeform 17"/>
            <p:cNvSpPr/>
            <p:nvPr/>
          </p:nvSpPr>
          <p:spPr bwMode="auto">
            <a:xfrm>
              <a:off x="2554288" y="2598738"/>
              <a:ext cx="66675" cy="420688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0" y="0"/>
                  </a:moveTo>
                  <a:cubicBezTo>
                    <a:pt x="2" y="19"/>
                    <a:pt x="3" y="37"/>
                    <a:pt x="5" y="56"/>
                  </a:cubicBezTo>
                  <a:cubicBezTo>
                    <a:pt x="9" y="73"/>
                    <a:pt x="13" y="90"/>
                    <a:pt x="17" y="107"/>
                  </a:cubicBezTo>
                  <a:cubicBezTo>
                    <a:pt x="15" y="87"/>
                    <a:pt x="13" y="66"/>
                    <a:pt x="11" y="46"/>
                  </a:cubicBezTo>
                  <a:cubicBezTo>
                    <a:pt x="10" y="45"/>
                    <a:pt x="10" y="44"/>
                    <a:pt x="10" y="43"/>
                  </a:cubicBezTo>
                  <a:cubicBezTo>
                    <a:pt x="7" y="28"/>
                    <a:pt x="3" y="1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1" name="Freeform 18"/>
            <p:cNvSpPr/>
            <p:nvPr/>
          </p:nvSpPr>
          <p:spPr bwMode="auto">
            <a:xfrm>
              <a:off x="3143251" y="4757738"/>
              <a:ext cx="161925" cy="873125"/>
            </a:xfrm>
            <a:custGeom>
              <a:avLst/>
              <a:gdLst/>
              <a:ahLst/>
              <a:cxnLst/>
              <a:rect l="0" t="0" r="r" b="b"/>
              <a:pathLst>
                <a:path w="41" h="222">
                  <a:moveTo>
                    <a:pt x="0" y="0"/>
                  </a:moveTo>
                  <a:cubicBezTo>
                    <a:pt x="0" y="31"/>
                    <a:pt x="2" y="62"/>
                    <a:pt x="5" y="93"/>
                  </a:cubicBezTo>
                  <a:cubicBezTo>
                    <a:pt x="8" y="117"/>
                    <a:pt x="12" y="142"/>
                    <a:pt x="17" y="166"/>
                  </a:cubicBezTo>
                  <a:cubicBezTo>
                    <a:pt x="19" y="172"/>
                    <a:pt x="22" y="178"/>
                    <a:pt x="24" y="184"/>
                  </a:cubicBezTo>
                  <a:cubicBezTo>
                    <a:pt x="30" y="197"/>
                    <a:pt x="35" y="209"/>
                    <a:pt x="41" y="222"/>
                  </a:cubicBezTo>
                  <a:cubicBezTo>
                    <a:pt x="40" y="219"/>
                    <a:pt x="39" y="215"/>
                    <a:pt x="38" y="212"/>
                  </a:cubicBezTo>
                  <a:cubicBezTo>
                    <a:pt x="26" y="172"/>
                    <a:pt x="18" y="132"/>
                    <a:pt x="13" y="92"/>
                  </a:cubicBezTo>
                  <a:cubicBezTo>
                    <a:pt x="11" y="68"/>
                    <a:pt x="9" y="45"/>
                    <a:pt x="8" y="22"/>
                  </a:cubicBezTo>
                  <a:cubicBezTo>
                    <a:pt x="8" y="21"/>
                    <a:pt x="7" y="20"/>
                    <a:pt x="7" y="18"/>
                  </a:cubicBezTo>
                  <a:cubicBezTo>
                    <a:pt x="5" y="12"/>
                    <a:pt x="2" y="6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2" name="Freeform 19"/>
            <p:cNvSpPr/>
            <p:nvPr/>
          </p:nvSpPr>
          <p:spPr bwMode="auto">
            <a:xfrm>
              <a:off x="3148013" y="1282700"/>
              <a:ext cx="1768475" cy="3448050"/>
            </a:xfrm>
            <a:custGeom>
              <a:avLst/>
              <a:gdLst/>
              <a:ahLst/>
              <a:cxnLst/>
              <a:rect l="0" t="0" r="r" b="b"/>
              <a:pathLst>
                <a:path w="450" h="878">
                  <a:moveTo>
                    <a:pt x="7" y="854"/>
                  </a:moveTo>
                  <a:cubicBezTo>
                    <a:pt x="10" y="772"/>
                    <a:pt x="26" y="691"/>
                    <a:pt x="50" y="613"/>
                  </a:cubicBezTo>
                  <a:cubicBezTo>
                    <a:pt x="75" y="535"/>
                    <a:pt x="109" y="460"/>
                    <a:pt x="149" y="388"/>
                  </a:cubicBezTo>
                  <a:cubicBezTo>
                    <a:pt x="189" y="316"/>
                    <a:pt x="235" y="248"/>
                    <a:pt x="285" y="183"/>
                  </a:cubicBezTo>
                  <a:cubicBezTo>
                    <a:pt x="310" y="151"/>
                    <a:pt x="337" y="119"/>
                    <a:pt x="364" y="89"/>
                  </a:cubicBezTo>
                  <a:cubicBezTo>
                    <a:pt x="378" y="74"/>
                    <a:pt x="392" y="58"/>
                    <a:pt x="406" y="44"/>
                  </a:cubicBezTo>
                  <a:cubicBezTo>
                    <a:pt x="421" y="29"/>
                    <a:pt x="435" y="15"/>
                    <a:pt x="450" y="1"/>
                  </a:cubicBezTo>
                  <a:cubicBezTo>
                    <a:pt x="450" y="0"/>
                    <a:pt x="450" y="0"/>
                    <a:pt x="450" y="0"/>
                  </a:cubicBezTo>
                  <a:cubicBezTo>
                    <a:pt x="434" y="14"/>
                    <a:pt x="420" y="28"/>
                    <a:pt x="405" y="43"/>
                  </a:cubicBezTo>
                  <a:cubicBezTo>
                    <a:pt x="391" y="57"/>
                    <a:pt x="377" y="72"/>
                    <a:pt x="363" y="88"/>
                  </a:cubicBezTo>
                  <a:cubicBezTo>
                    <a:pt x="335" y="118"/>
                    <a:pt x="308" y="149"/>
                    <a:pt x="283" y="181"/>
                  </a:cubicBezTo>
                  <a:cubicBezTo>
                    <a:pt x="232" y="246"/>
                    <a:pt x="185" y="314"/>
                    <a:pt x="145" y="386"/>
                  </a:cubicBezTo>
                  <a:cubicBezTo>
                    <a:pt x="104" y="457"/>
                    <a:pt x="70" y="533"/>
                    <a:pt x="45" y="611"/>
                  </a:cubicBezTo>
                  <a:cubicBezTo>
                    <a:pt x="19" y="690"/>
                    <a:pt x="3" y="771"/>
                    <a:pt x="0" y="854"/>
                  </a:cubicBezTo>
                  <a:cubicBezTo>
                    <a:pt x="0" y="856"/>
                    <a:pt x="0" y="857"/>
                    <a:pt x="0" y="859"/>
                  </a:cubicBezTo>
                  <a:cubicBezTo>
                    <a:pt x="2" y="865"/>
                    <a:pt x="4" y="872"/>
                    <a:pt x="7" y="878"/>
                  </a:cubicBezTo>
                  <a:cubicBezTo>
                    <a:pt x="7" y="870"/>
                    <a:pt x="7" y="862"/>
                    <a:pt x="7" y="85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3" name="Freeform 20"/>
            <p:cNvSpPr/>
            <p:nvPr/>
          </p:nvSpPr>
          <p:spPr bwMode="auto">
            <a:xfrm>
              <a:off x="3273426" y="5653088"/>
              <a:ext cx="138113" cy="287338"/>
            </a:xfrm>
            <a:custGeom>
              <a:avLst/>
              <a:gdLst/>
              <a:ahLst/>
              <a:cxnLst/>
              <a:rect l="0" t="0" r="r" b="b"/>
              <a:pathLst>
                <a:path w="35" h="73">
                  <a:moveTo>
                    <a:pt x="0" y="0"/>
                  </a:moveTo>
                  <a:cubicBezTo>
                    <a:pt x="7" y="24"/>
                    <a:pt x="16" y="49"/>
                    <a:pt x="26" y="73"/>
                  </a:cubicBezTo>
                  <a:cubicBezTo>
                    <a:pt x="35" y="73"/>
                    <a:pt x="35" y="73"/>
                    <a:pt x="35" y="73"/>
                  </a:cubicBezTo>
                  <a:cubicBezTo>
                    <a:pt x="23" y="49"/>
                    <a:pt x="11" y="2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4" name="Freeform 21"/>
            <p:cNvSpPr/>
            <p:nvPr/>
          </p:nvSpPr>
          <p:spPr bwMode="auto">
            <a:xfrm>
              <a:off x="3143251" y="4656138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7" y="44"/>
                  </a:moveTo>
                  <a:cubicBezTo>
                    <a:pt x="7" y="46"/>
                    <a:pt x="8" y="47"/>
                    <a:pt x="8" y="48"/>
                  </a:cubicBezTo>
                  <a:cubicBezTo>
                    <a:pt x="8" y="38"/>
                    <a:pt x="8" y="29"/>
                    <a:pt x="8" y="19"/>
                  </a:cubicBezTo>
                  <a:cubicBezTo>
                    <a:pt x="5" y="13"/>
                    <a:pt x="3" y="6"/>
                    <a:pt x="1" y="0"/>
                  </a:cubicBezTo>
                  <a:cubicBezTo>
                    <a:pt x="0" y="9"/>
                    <a:pt x="0" y="17"/>
                    <a:pt x="0" y="26"/>
                  </a:cubicBezTo>
                  <a:cubicBezTo>
                    <a:pt x="2" y="32"/>
                    <a:pt x="5" y="38"/>
                    <a:pt x="7" y="4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5" name="Freeform 22"/>
            <p:cNvSpPr/>
            <p:nvPr/>
          </p:nvSpPr>
          <p:spPr bwMode="auto">
            <a:xfrm>
              <a:off x="3211513" y="5410200"/>
              <a:ext cx="203200" cy="530225"/>
            </a:xfrm>
            <a:custGeom>
              <a:avLst/>
              <a:gdLst/>
              <a:ahLst/>
              <a:cxnLst/>
              <a:rect l="0" t="0" r="r" b="b"/>
              <a:pathLst>
                <a:path w="52" h="135">
                  <a:moveTo>
                    <a:pt x="7" y="18"/>
                  </a:moveTo>
                  <a:cubicBezTo>
                    <a:pt x="5" y="12"/>
                    <a:pt x="2" y="6"/>
                    <a:pt x="0" y="0"/>
                  </a:cubicBezTo>
                  <a:cubicBezTo>
                    <a:pt x="3" y="16"/>
                    <a:pt x="7" y="32"/>
                    <a:pt x="12" y="48"/>
                  </a:cubicBezTo>
                  <a:cubicBezTo>
                    <a:pt x="13" y="53"/>
                    <a:pt x="14" y="57"/>
                    <a:pt x="16" y="62"/>
                  </a:cubicBezTo>
                  <a:cubicBezTo>
                    <a:pt x="27" y="86"/>
                    <a:pt x="39" y="111"/>
                    <a:pt x="51" y="135"/>
                  </a:cubicBezTo>
                  <a:cubicBezTo>
                    <a:pt x="52" y="135"/>
                    <a:pt x="52" y="135"/>
                    <a:pt x="52" y="135"/>
                  </a:cubicBezTo>
                  <a:cubicBezTo>
                    <a:pt x="41" y="109"/>
                    <a:pt x="32" y="83"/>
                    <a:pt x="24" y="56"/>
                  </a:cubicBezTo>
                  <a:cubicBezTo>
                    <a:pt x="18" y="43"/>
                    <a:pt x="13" y="31"/>
                    <a:pt x="7" y="18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10" name="Group 9"/>
          <p:cNvGrpSpPr/>
          <p:nvPr/>
        </p:nvGrpSpPr>
        <p:grpSpPr>
          <a:xfrm>
            <a:off x="27221" y="-786"/>
            <a:ext cx="2356674" cy="6854039"/>
            <a:chOff x="6627813" y="194833"/>
            <a:chExt cx="1952625" cy="5678918"/>
          </a:xfrm>
        </p:grpSpPr>
        <p:sp>
          <p:nvSpPr>
            <p:cNvPr id="11" name="Freeform 27"/>
            <p:cNvSpPr/>
            <p:nvPr/>
          </p:nvSpPr>
          <p:spPr bwMode="auto">
            <a:xfrm>
              <a:off x="6627813" y="194833"/>
              <a:ext cx="409575" cy="3646488"/>
            </a:xfrm>
            <a:custGeom>
              <a:avLst/>
              <a:gdLst/>
              <a:ahLst/>
              <a:cxnLst/>
              <a:rect l="0" t="0" r="r" b="b"/>
              <a:pathLst>
                <a:path w="103" h="920">
                  <a:moveTo>
                    <a:pt x="7" y="210"/>
                  </a:moveTo>
                  <a:cubicBezTo>
                    <a:pt x="11" y="288"/>
                    <a:pt x="17" y="367"/>
                    <a:pt x="26" y="445"/>
                  </a:cubicBezTo>
                  <a:cubicBezTo>
                    <a:pt x="34" y="523"/>
                    <a:pt x="44" y="601"/>
                    <a:pt x="57" y="679"/>
                  </a:cubicBezTo>
                  <a:cubicBezTo>
                    <a:pt x="69" y="757"/>
                    <a:pt x="84" y="834"/>
                    <a:pt x="101" y="911"/>
                  </a:cubicBezTo>
                  <a:cubicBezTo>
                    <a:pt x="102" y="914"/>
                    <a:pt x="103" y="917"/>
                    <a:pt x="103" y="920"/>
                  </a:cubicBezTo>
                  <a:cubicBezTo>
                    <a:pt x="102" y="905"/>
                    <a:pt x="100" y="889"/>
                    <a:pt x="99" y="874"/>
                  </a:cubicBezTo>
                  <a:cubicBezTo>
                    <a:pt x="99" y="871"/>
                    <a:pt x="99" y="868"/>
                    <a:pt x="99" y="866"/>
                  </a:cubicBezTo>
                  <a:cubicBezTo>
                    <a:pt x="85" y="803"/>
                    <a:pt x="73" y="741"/>
                    <a:pt x="63" y="678"/>
                  </a:cubicBezTo>
                  <a:cubicBezTo>
                    <a:pt x="50" y="600"/>
                    <a:pt x="39" y="523"/>
                    <a:pt x="30" y="444"/>
                  </a:cubicBezTo>
                  <a:cubicBezTo>
                    <a:pt x="21" y="366"/>
                    <a:pt x="14" y="288"/>
                    <a:pt x="9" y="209"/>
                  </a:cubicBezTo>
                  <a:cubicBezTo>
                    <a:pt x="7" y="170"/>
                    <a:pt x="5" y="131"/>
                    <a:pt x="3" y="92"/>
                  </a:cubicBezTo>
                  <a:cubicBezTo>
                    <a:pt x="2" y="61"/>
                    <a:pt x="1" y="31"/>
                    <a:pt x="1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1"/>
                    <a:pt x="1" y="61"/>
                    <a:pt x="1" y="92"/>
                  </a:cubicBezTo>
                  <a:cubicBezTo>
                    <a:pt x="3" y="131"/>
                    <a:pt x="4" y="170"/>
                    <a:pt x="7" y="21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2" name="Freeform 28"/>
            <p:cNvSpPr/>
            <p:nvPr/>
          </p:nvSpPr>
          <p:spPr bwMode="auto">
            <a:xfrm>
              <a:off x="7061201" y="3771900"/>
              <a:ext cx="350838" cy="1309688"/>
            </a:xfrm>
            <a:custGeom>
              <a:avLst/>
              <a:gdLst/>
              <a:ahLst/>
              <a:cxnLst/>
              <a:rect l="0" t="0" r="r" b="b"/>
              <a:pathLst>
                <a:path w="88" h="330">
                  <a:moveTo>
                    <a:pt x="53" y="229"/>
                  </a:moveTo>
                  <a:cubicBezTo>
                    <a:pt x="64" y="263"/>
                    <a:pt x="75" y="297"/>
                    <a:pt x="88" y="330"/>
                  </a:cubicBezTo>
                  <a:cubicBezTo>
                    <a:pt x="88" y="323"/>
                    <a:pt x="88" y="315"/>
                    <a:pt x="88" y="308"/>
                  </a:cubicBezTo>
                  <a:cubicBezTo>
                    <a:pt x="88" y="307"/>
                    <a:pt x="88" y="305"/>
                    <a:pt x="88" y="304"/>
                  </a:cubicBezTo>
                  <a:cubicBezTo>
                    <a:pt x="79" y="278"/>
                    <a:pt x="70" y="252"/>
                    <a:pt x="62" y="226"/>
                  </a:cubicBezTo>
                  <a:cubicBezTo>
                    <a:pt x="38" y="152"/>
                    <a:pt x="17" y="76"/>
                    <a:pt x="0" y="0"/>
                  </a:cubicBezTo>
                  <a:cubicBezTo>
                    <a:pt x="2" y="21"/>
                    <a:pt x="4" y="42"/>
                    <a:pt x="7" y="63"/>
                  </a:cubicBezTo>
                  <a:cubicBezTo>
                    <a:pt x="21" y="119"/>
                    <a:pt x="36" y="174"/>
                    <a:pt x="53" y="22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3" name="Freeform 29"/>
            <p:cNvSpPr/>
            <p:nvPr/>
          </p:nvSpPr>
          <p:spPr bwMode="auto">
            <a:xfrm>
              <a:off x="7439026" y="5053013"/>
              <a:ext cx="357188" cy="820738"/>
            </a:xfrm>
            <a:custGeom>
              <a:avLst/>
              <a:gdLst/>
              <a:ahLst/>
              <a:cxnLst/>
              <a:rect l="0" t="0" r="r" b="b"/>
              <a:pathLst>
                <a:path w="90" h="207">
                  <a:moveTo>
                    <a:pt x="6" y="15"/>
                  </a:moveTo>
                  <a:cubicBezTo>
                    <a:pt x="4" y="10"/>
                    <a:pt x="2" y="5"/>
                    <a:pt x="0" y="0"/>
                  </a:cubicBezTo>
                  <a:cubicBezTo>
                    <a:pt x="0" y="9"/>
                    <a:pt x="0" y="19"/>
                    <a:pt x="1" y="29"/>
                  </a:cubicBezTo>
                  <a:cubicBezTo>
                    <a:pt x="14" y="62"/>
                    <a:pt x="27" y="95"/>
                    <a:pt x="42" y="127"/>
                  </a:cubicBezTo>
                  <a:cubicBezTo>
                    <a:pt x="54" y="154"/>
                    <a:pt x="67" y="181"/>
                    <a:pt x="80" y="207"/>
                  </a:cubicBezTo>
                  <a:cubicBezTo>
                    <a:pt x="90" y="207"/>
                    <a:pt x="90" y="207"/>
                    <a:pt x="90" y="207"/>
                  </a:cubicBezTo>
                  <a:cubicBezTo>
                    <a:pt x="76" y="180"/>
                    <a:pt x="63" y="152"/>
                    <a:pt x="50" y="123"/>
                  </a:cubicBezTo>
                  <a:cubicBezTo>
                    <a:pt x="34" y="88"/>
                    <a:pt x="20" y="51"/>
                    <a:pt x="6" y="15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4" name="Freeform 30"/>
            <p:cNvSpPr/>
            <p:nvPr/>
          </p:nvSpPr>
          <p:spPr bwMode="auto">
            <a:xfrm>
              <a:off x="7037388" y="3811588"/>
              <a:ext cx="457200" cy="1852613"/>
            </a:xfrm>
            <a:custGeom>
              <a:avLst/>
              <a:gdLst/>
              <a:ahLst/>
              <a:cxnLst/>
              <a:rect l="0" t="0" r="r" b="b"/>
              <a:pathLst>
                <a:path w="115" h="467">
                  <a:moveTo>
                    <a:pt x="101" y="409"/>
                  </a:moveTo>
                  <a:cubicBezTo>
                    <a:pt x="93" y="388"/>
                    <a:pt x="85" y="366"/>
                    <a:pt x="78" y="344"/>
                  </a:cubicBezTo>
                  <a:cubicBezTo>
                    <a:pt x="57" y="281"/>
                    <a:pt x="41" y="216"/>
                    <a:pt x="29" y="151"/>
                  </a:cubicBezTo>
                  <a:cubicBezTo>
                    <a:pt x="22" y="119"/>
                    <a:pt x="17" y="86"/>
                    <a:pt x="13" y="53"/>
                  </a:cubicBezTo>
                  <a:cubicBezTo>
                    <a:pt x="9" y="35"/>
                    <a:pt x="4" y="18"/>
                    <a:pt x="0" y="0"/>
                  </a:cubicBezTo>
                  <a:cubicBezTo>
                    <a:pt x="5" y="51"/>
                    <a:pt x="12" y="102"/>
                    <a:pt x="21" y="152"/>
                  </a:cubicBezTo>
                  <a:cubicBezTo>
                    <a:pt x="33" y="218"/>
                    <a:pt x="49" y="283"/>
                    <a:pt x="69" y="347"/>
                  </a:cubicBezTo>
                  <a:cubicBezTo>
                    <a:pt x="79" y="378"/>
                    <a:pt x="90" y="410"/>
                    <a:pt x="103" y="441"/>
                  </a:cubicBezTo>
                  <a:cubicBezTo>
                    <a:pt x="107" y="449"/>
                    <a:pt x="111" y="458"/>
                    <a:pt x="115" y="467"/>
                  </a:cubicBezTo>
                  <a:cubicBezTo>
                    <a:pt x="114" y="464"/>
                    <a:pt x="113" y="461"/>
                    <a:pt x="112" y="458"/>
                  </a:cubicBezTo>
                  <a:cubicBezTo>
                    <a:pt x="108" y="442"/>
                    <a:pt x="104" y="425"/>
                    <a:pt x="101" y="40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5" name="Freeform 31"/>
            <p:cNvSpPr/>
            <p:nvPr/>
          </p:nvSpPr>
          <p:spPr bwMode="auto">
            <a:xfrm>
              <a:off x="6992938" y="1263650"/>
              <a:ext cx="144463" cy="2508250"/>
            </a:xfrm>
            <a:custGeom>
              <a:avLst/>
              <a:gdLst/>
              <a:ahLst/>
              <a:cxnLst/>
              <a:rect l="0" t="0" r="r" b="b"/>
              <a:pathLst>
                <a:path w="36" h="633">
                  <a:moveTo>
                    <a:pt x="17" y="633"/>
                  </a:moveTo>
                  <a:cubicBezTo>
                    <a:pt x="15" y="621"/>
                    <a:pt x="14" y="609"/>
                    <a:pt x="13" y="597"/>
                  </a:cubicBezTo>
                  <a:cubicBezTo>
                    <a:pt x="8" y="530"/>
                    <a:pt x="5" y="464"/>
                    <a:pt x="5" y="398"/>
                  </a:cubicBezTo>
                  <a:cubicBezTo>
                    <a:pt x="5" y="331"/>
                    <a:pt x="8" y="265"/>
                    <a:pt x="13" y="198"/>
                  </a:cubicBezTo>
                  <a:cubicBezTo>
                    <a:pt x="15" y="165"/>
                    <a:pt x="18" y="132"/>
                    <a:pt x="22" y="99"/>
                  </a:cubicBezTo>
                  <a:cubicBezTo>
                    <a:pt x="26" y="66"/>
                    <a:pt x="30" y="33"/>
                    <a:pt x="36" y="0"/>
                  </a:cubicBezTo>
                  <a:cubicBezTo>
                    <a:pt x="35" y="0"/>
                    <a:pt x="35" y="0"/>
                    <a:pt x="35" y="0"/>
                  </a:cubicBezTo>
                  <a:cubicBezTo>
                    <a:pt x="29" y="33"/>
                    <a:pt x="24" y="66"/>
                    <a:pt x="20" y="99"/>
                  </a:cubicBezTo>
                  <a:cubicBezTo>
                    <a:pt x="16" y="132"/>
                    <a:pt x="13" y="165"/>
                    <a:pt x="10" y="198"/>
                  </a:cubicBezTo>
                  <a:cubicBezTo>
                    <a:pt x="4" y="264"/>
                    <a:pt x="1" y="331"/>
                    <a:pt x="1" y="398"/>
                  </a:cubicBezTo>
                  <a:cubicBezTo>
                    <a:pt x="0" y="461"/>
                    <a:pt x="2" y="525"/>
                    <a:pt x="7" y="589"/>
                  </a:cubicBezTo>
                  <a:cubicBezTo>
                    <a:pt x="10" y="603"/>
                    <a:pt x="13" y="618"/>
                    <a:pt x="16" y="632"/>
                  </a:cubicBezTo>
                  <a:cubicBezTo>
                    <a:pt x="16" y="632"/>
                    <a:pt x="17" y="633"/>
                    <a:pt x="17" y="63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6" name="Freeform 32"/>
            <p:cNvSpPr/>
            <p:nvPr/>
          </p:nvSpPr>
          <p:spPr bwMode="auto">
            <a:xfrm>
              <a:off x="7526338" y="5640388"/>
              <a:ext cx="111125" cy="233363"/>
            </a:xfrm>
            <a:custGeom>
              <a:avLst/>
              <a:gdLst/>
              <a:ahLst/>
              <a:cxnLst/>
              <a:rect l="0" t="0" r="r" b="b"/>
              <a:pathLst>
                <a:path w="28" h="59">
                  <a:moveTo>
                    <a:pt x="22" y="59"/>
                  </a:moveTo>
                  <a:cubicBezTo>
                    <a:pt x="28" y="59"/>
                    <a:pt x="28" y="59"/>
                    <a:pt x="28" y="59"/>
                  </a:cubicBezTo>
                  <a:cubicBezTo>
                    <a:pt x="18" y="40"/>
                    <a:pt x="9" y="20"/>
                    <a:pt x="0" y="0"/>
                  </a:cubicBezTo>
                  <a:cubicBezTo>
                    <a:pt x="6" y="20"/>
                    <a:pt x="13" y="40"/>
                    <a:pt x="22" y="5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7" name="Freeform 33"/>
            <p:cNvSpPr/>
            <p:nvPr/>
          </p:nvSpPr>
          <p:spPr bwMode="auto">
            <a:xfrm>
              <a:off x="7021513" y="3598863"/>
              <a:ext cx="68263" cy="423863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4" y="54"/>
                  </a:moveTo>
                  <a:cubicBezTo>
                    <a:pt x="8" y="72"/>
                    <a:pt x="13" y="89"/>
                    <a:pt x="17" y="107"/>
                  </a:cubicBezTo>
                  <a:cubicBezTo>
                    <a:pt x="14" y="86"/>
                    <a:pt x="12" y="65"/>
                    <a:pt x="10" y="44"/>
                  </a:cubicBezTo>
                  <a:cubicBezTo>
                    <a:pt x="10" y="44"/>
                    <a:pt x="9" y="43"/>
                    <a:pt x="9" y="43"/>
                  </a:cubicBezTo>
                  <a:cubicBezTo>
                    <a:pt x="6" y="29"/>
                    <a:pt x="3" y="14"/>
                    <a:pt x="0" y="0"/>
                  </a:cubicBezTo>
                  <a:cubicBezTo>
                    <a:pt x="0" y="2"/>
                    <a:pt x="0" y="5"/>
                    <a:pt x="0" y="8"/>
                  </a:cubicBezTo>
                  <a:cubicBezTo>
                    <a:pt x="1" y="23"/>
                    <a:pt x="3" y="39"/>
                    <a:pt x="4" y="54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8" name="Freeform 34"/>
            <p:cNvSpPr/>
            <p:nvPr/>
          </p:nvSpPr>
          <p:spPr bwMode="auto">
            <a:xfrm>
              <a:off x="7412038" y="2801938"/>
              <a:ext cx="1168400" cy="2251075"/>
            </a:xfrm>
            <a:custGeom>
              <a:avLst/>
              <a:gdLst/>
              <a:ahLst/>
              <a:cxnLst/>
              <a:rect l="0" t="0" r="r" b="b"/>
              <a:pathLst>
                <a:path w="294" h="568">
                  <a:moveTo>
                    <a:pt x="8" y="553"/>
                  </a:moveTo>
                  <a:cubicBezTo>
                    <a:pt x="9" y="501"/>
                    <a:pt x="19" y="448"/>
                    <a:pt x="35" y="397"/>
                  </a:cubicBezTo>
                  <a:cubicBezTo>
                    <a:pt x="51" y="347"/>
                    <a:pt x="73" y="298"/>
                    <a:pt x="99" y="252"/>
                  </a:cubicBezTo>
                  <a:cubicBezTo>
                    <a:pt x="124" y="205"/>
                    <a:pt x="154" y="161"/>
                    <a:pt x="187" y="119"/>
                  </a:cubicBezTo>
                  <a:cubicBezTo>
                    <a:pt x="203" y="98"/>
                    <a:pt x="220" y="77"/>
                    <a:pt x="238" y="58"/>
                  </a:cubicBezTo>
                  <a:cubicBezTo>
                    <a:pt x="247" y="48"/>
                    <a:pt x="256" y="38"/>
                    <a:pt x="265" y="28"/>
                  </a:cubicBezTo>
                  <a:cubicBezTo>
                    <a:pt x="274" y="19"/>
                    <a:pt x="284" y="9"/>
                    <a:pt x="294" y="0"/>
                  </a:cubicBezTo>
                  <a:cubicBezTo>
                    <a:pt x="293" y="0"/>
                    <a:pt x="293" y="0"/>
                    <a:pt x="293" y="0"/>
                  </a:cubicBezTo>
                  <a:cubicBezTo>
                    <a:pt x="283" y="9"/>
                    <a:pt x="273" y="18"/>
                    <a:pt x="264" y="27"/>
                  </a:cubicBezTo>
                  <a:cubicBezTo>
                    <a:pt x="255" y="37"/>
                    <a:pt x="246" y="47"/>
                    <a:pt x="237" y="56"/>
                  </a:cubicBezTo>
                  <a:cubicBezTo>
                    <a:pt x="218" y="76"/>
                    <a:pt x="201" y="96"/>
                    <a:pt x="185" y="117"/>
                  </a:cubicBezTo>
                  <a:cubicBezTo>
                    <a:pt x="151" y="159"/>
                    <a:pt x="121" y="203"/>
                    <a:pt x="95" y="249"/>
                  </a:cubicBezTo>
                  <a:cubicBezTo>
                    <a:pt x="68" y="296"/>
                    <a:pt x="46" y="345"/>
                    <a:pt x="30" y="396"/>
                  </a:cubicBezTo>
                  <a:cubicBezTo>
                    <a:pt x="13" y="445"/>
                    <a:pt x="3" y="497"/>
                    <a:pt x="0" y="549"/>
                  </a:cubicBezTo>
                  <a:cubicBezTo>
                    <a:pt x="3" y="555"/>
                    <a:pt x="5" y="561"/>
                    <a:pt x="7" y="568"/>
                  </a:cubicBezTo>
                  <a:cubicBezTo>
                    <a:pt x="7" y="563"/>
                    <a:pt x="7" y="558"/>
                    <a:pt x="8" y="55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9" name="Freeform 35"/>
            <p:cNvSpPr/>
            <p:nvPr/>
          </p:nvSpPr>
          <p:spPr bwMode="auto">
            <a:xfrm>
              <a:off x="7494588" y="5664200"/>
              <a:ext cx="100013" cy="209550"/>
            </a:xfrm>
            <a:custGeom>
              <a:avLst/>
              <a:gdLst/>
              <a:ahLst/>
              <a:cxnLst/>
              <a:rect l="0" t="0" r="r" b="b"/>
              <a:pathLst>
                <a:path w="25" h="53">
                  <a:moveTo>
                    <a:pt x="0" y="0"/>
                  </a:moveTo>
                  <a:cubicBezTo>
                    <a:pt x="5" y="18"/>
                    <a:pt x="12" y="36"/>
                    <a:pt x="19" y="53"/>
                  </a:cubicBezTo>
                  <a:cubicBezTo>
                    <a:pt x="25" y="53"/>
                    <a:pt x="25" y="53"/>
                    <a:pt x="25" y="53"/>
                  </a:cubicBezTo>
                  <a:cubicBezTo>
                    <a:pt x="16" y="36"/>
                    <a:pt x="8" y="18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0" name="Freeform 36"/>
            <p:cNvSpPr/>
            <p:nvPr/>
          </p:nvSpPr>
          <p:spPr bwMode="auto">
            <a:xfrm>
              <a:off x="7412038" y="5081588"/>
              <a:ext cx="114300" cy="558800"/>
            </a:xfrm>
            <a:custGeom>
              <a:avLst/>
              <a:gdLst/>
              <a:ahLst/>
              <a:cxnLst/>
              <a:rect l="0" t="0" r="r" b="b"/>
              <a:pathLst>
                <a:path w="29" h="141">
                  <a:moveTo>
                    <a:pt x="0" y="0"/>
                  </a:moveTo>
                  <a:cubicBezTo>
                    <a:pt x="0" y="30"/>
                    <a:pt x="2" y="60"/>
                    <a:pt x="7" y="89"/>
                  </a:cubicBezTo>
                  <a:cubicBezTo>
                    <a:pt x="11" y="98"/>
                    <a:pt x="14" y="108"/>
                    <a:pt x="18" y="117"/>
                  </a:cubicBezTo>
                  <a:cubicBezTo>
                    <a:pt x="22" y="125"/>
                    <a:pt x="25" y="133"/>
                    <a:pt x="29" y="141"/>
                  </a:cubicBezTo>
                  <a:cubicBezTo>
                    <a:pt x="28" y="139"/>
                    <a:pt x="28" y="137"/>
                    <a:pt x="27" y="135"/>
                  </a:cubicBezTo>
                  <a:cubicBezTo>
                    <a:pt x="16" y="98"/>
                    <a:pt x="10" y="60"/>
                    <a:pt x="8" y="22"/>
                  </a:cubicBezTo>
                  <a:cubicBezTo>
                    <a:pt x="7" y="18"/>
                    <a:pt x="5" y="15"/>
                    <a:pt x="4" y="11"/>
                  </a:cubicBezTo>
                  <a:cubicBezTo>
                    <a:pt x="2" y="7"/>
                    <a:pt x="1" y="3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1" name="Freeform 37"/>
            <p:cNvSpPr/>
            <p:nvPr/>
          </p:nvSpPr>
          <p:spPr bwMode="auto">
            <a:xfrm>
              <a:off x="7412038" y="4978400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0" y="26"/>
                  </a:moveTo>
                  <a:cubicBezTo>
                    <a:pt x="1" y="29"/>
                    <a:pt x="2" y="33"/>
                    <a:pt x="4" y="37"/>
                  </a:cubicBezTo>
                  <a:cubicBezTo>
                    <a:pt x="5" y="41"/>
                    <a:pt x="7" y="44"/>
                    <a:pt x="8" y="48"/>
                  </a:cubicBezTo>
                  <a:cubicBezTo>
                    <a:pt x="7" y="38"/>
                    <a:pt x="7" y="28"/>
                    <a:pt x="7" y="19"/>
                  </a:cubicBezTo>
                  <a:cubicBezTo>
                    <a:pt x="5" y="12"/>
                    <a:pt x="3" y="6"/>
                    <a:pt x="0" y="0"/>
                  </a:cubicBezTo>
                  <a:cubicBezTo>
                    <a:pt x="0" y="1"/>
                    <a:pt x="0" y="3"/>
                    <a:pt x="0" y="4"/>
                  </a:cubicBezTo>
                  <a:cubicBezTo>
                    <a:pt x="0" y="11"/>
                    <a:pt x="0" y="19"/>
                    <a:pt x="0" y="26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2" name="Freeform 38"/>
            <p:cNvSpPr/>
            <p:nvPr/>
          </p:nvSpPr>
          <p:spPr bwMode="auto">
            <a:xfrm>
              <a:off x="7439026" y="5434013"/>
              <a:ext cx="174625" cy="439738"/>
            </a:xfrm>
            <a:custGeom>
              <a:avLst/>
              <a:gdLst/>
              <a:ahLst/>
              <a:cxnLst/>
              <a:rect l="0" t="0" r="r" b="b"/>
              <a:pathLst>
                <a:path w="44" h="111">
                  <a:moveTo>
                    <a:pt x="11" y="28"/>
                  </a:moveTo>
                  <a:cubicBezTo>
                    <a:pt x="7" y="19"/>
                    <a:pt x="4" y="9"/>
                    <a:pt x="0" y="0"/>
                  </a:cubicBezTo>
                  <a:cubicBezTo>
                    <a:pt x="3" y="16"/>
                    <a:pt x="7" y="33"/>
                    <a:pt x="11" y="49"/>
                  </a:cubicBezTo>
                  <a:cubicBezTo>
                    <a:pt x="12" y="52"/>
                    <a:pt x="13" y="55"/>
                    <a:pt x="14" y="58"/>
                  </a:cubicBezTo>
                  <a:cubicBezTo>
                    <a:pt x="22" y="76"/>
                    <a:pt x="30" y="94"/>
                    <a:pt x="39" y="111"/>
                  </a:cubicBezTo>
                  <a:cubicBezTo>
                    <a:pt x="44" y="111"/>
                    <a:pt x="44" y="111"/>
                    <a:pt x="44" y="111"/>
                  </a:cubicBezTo>
                  <a:cubicBezTo>
                    <a:pt x="35" y="92"/>
                    <a:pt x="28" y="72"/>
                    <a:pt x="22" y="52"/>
                  </a:cubicBezTo>
                  <a:cubicBezTo>
                    <a:pt x="18" y="44"/>
                    <a:pt x="15" y="36"/>
                    <a:pt x="11" y="28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7" name="Rectangle 6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592924" y="624110"/>
            <a:ext cx="8911687" cy="128089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2133600"/>
            <a:ext cx="8915400" cy="38862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361612" y="6130437"/>
            <a:ext cx="1146283" cy="37039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1BEF0D-F0BB-DE4B-95CE-6DB70DBA9567}" type="datetimeFigureOut">
              <a:rPr lang="en-US" dirty="0"/>
              <a:pPr/>
              <a:t>2/24/26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589212" y="6135808"/>
            <a:ext cx="76199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531812" y="787782"/>
            <a:ext cx="77976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000">
                <a:solidFill>
                  <a:srgbClr val="FEFFFF"/>
                </a:solidFill>
              </a:defRPr>
            </a:lvl1pPr>
          </a:lstStyle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60" r:id="rId10"/>
    <p:sldLayoutId id="2147483661" r:id="rId11"/>
    <p:sldLayoutId id="2147483662" r:id="rId12"/>
    <p:sldLayoutId id="2147483663" r:id="rId13"/>
    <p:sldLayoutId id="2147483664" r:id="rId14"/>
    <p:sldLayoutId id="2147483658" r:id="rId15"/>
    <p:sldLayoutId id="2147483659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tx1">
              <a:lumMod val="85000"/>
              <a:lumOff val="15000"/>
            </a:schemeClr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7" Type="http://schemas.openxmlformats.org/officeDocument/2006/relationships/image" Target="../media/image6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6" Type="http://schemas.openxmlformats.org/officeDocument/2006/relationships/customXml" Target="../ink/ink2.xml"/><Relationship Id="rId5" Type="http://schemas.openxmlformats.org/officeDocument/2006/relationships/image" Target="../media/image5.png"/><Relationship Id="rId4" Type="http://schemas.openxmlformats.org/officeDocument/2006/relationships/customXml" Target="../ink/ink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customXml" Target="../ink/ink5.xml"/><Relationship Id="rId3" Type="http://schemas.openxmlformats.org/officeDocument/2006/relationships/image" Target="../media/image11.png"/><Relationship Id="rId7" Type="http://schemas.openxmlformats.org/officeDocument/2006/relationships/image" Target="../media/image13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Relationship Id="rId6" Type="http://schemas.openxmlformats.org/officeDocument/2006/relationships/customXml" Target="../ink/ink4.xml"/><Relationship Id="rId11" Type="http://schemas.openxmlformats.org/officeDocument/2006/relationships/image" Target="../media/image16.png"/><Relationship Id="rId5" Type="http://schemas.openxmlformats.org/officeDocument/2006/relationships/image" Target="../media/image12.png"/><Relationship Id="rId10" Type="http://schemas.openxmlformats.org/officeDocument/2006/relationships/image" Target="../media/image15.png"/><Relationship Id="rId4" Type="http://schemas.openxmlformats.org/officeDocument/2006/relationships/customXml" Target="../ink/ink3.xml"/><Relationship Id="rId9" Type="http://schemas.openxmlformats.org/officeDocument/2006/relationships/image" Target="../media/image14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customXml" Target="../ink/ink8.xml"/><Relationship Id="rId3" Type="http://schemas.openxmlformats.org/officeDocument/2006/relationships/image" Target="../media/image19.png"/><Relationship Id="rId7" Type="http://schemas.openxmlformats.org/officeDocument/2006/relationships/image" Target="../media/image21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Relationship Id="rId6" Type="http://schemas.openxmlformats.org/officeDocument/2006/relationships/customXml" Target="../ink/ink7.xml"/><Relationship Id="rId11" Type="http://schemas.openxmlformats.org/officeDocument/2006/relationships/image" Target="../media/image23.png"/><Relationship Id="rId5" Type="http://schemas.openxmlformats.org/officeDocument/2006/relationships/image" Target="../media/image20.png"/><Relationship Id="rId10" Type="http://schemas.openxmlformats.org/officeDocument/2006/relationships/customXml" Target="../ink/ink9.xml"/><Relationship Id="rId4" Type="http://schemas.openxmlformats.org/officeDocument/2006/relationships/customXml" Target="../ink/ink6.xml"/><Relationship Id="rId9" Type="http://schemas.openxmlformats.org/officeDocument/2006/relationships/image" Target="../media/image22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201737-F532-B65B-D1D7-D305D086BFDA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Temporal Difference Learning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E279BA5-D4D3-F2BC-224F-F397A2B14E35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5985936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EA722D-BE4A-9066-C65B-034A81CF6C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Temporal Difference Learning Vs. Monte Carlo Learning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C2C47E4-DEB7-5C74-00FB-2081ED678B6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227967" y="2133600"/>
            <a:ext cx="8620655" cy="4498622"/>
          </a:xfrm>
        </p:spPr>
        <p:txBody>
          <a:bodyPr>
            <a:normAutofit/>
          </a:bodyPr>
          <a:lstStyle/>
          <a:p>
            <a:r>
              <a:rPr lang="en-US" sz="2400" dirty="0"/>
              <a:t>Monte Carlo learning (estimates of values or learning a policy) requires that an episode is complete before learning takes place. </a:t>
            </a:r>
          </a:p>
          <a:p>
            <a:r>
              <a:rPr lang="en-US" sz="2400" dirty="0"/>
              <a:t>However, if the episode is long, it may make sense to try to learn before the episode complete. </a:t>
            </a:r>
          </a:p>
          <a:p>
            <a:endParaRPr lang="en-US" sz="3200" dirty="0"/>
          </a:p>
        </p:txBody>
      </p:sp>
    </p:spTree>
    <p:extLst>
      <p:ext uri="{BB962C8B-B14F-4D97-AF65-F5344CB8AC3E}">
        <p14:creationId xmlns:p14="http://schemas.microsoft.com/office/powerpoint/2010/main" val="368064467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B9EA722D-BE4A-9066-C65B-034A81CF6C26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/>
            <p:txBody>
              <a:bodyPr/>
              <a:lstStyle/>
              <a:p>
                <a:r>
                  <a:rPr lang="en-US" dirty="0"/>
                  <a:t>Formula for Updating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b="0" i="1" smtClean="0">
                            <a:latin typeface="Cambria Math" panose="02040503050406030204" pitchFamily="18" charset="0"/>
                          </a:rPr>
                          <m:t>π</m:t>
                        </m:r>
                      </m:sub>
                    </m:sSub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US" b="0" i="0" smtClean="0">
                            <a:latin typeface="Cambria Math" panose="02040503050406030204" pitchFamily="18" charset="0"/>
                          </a:rPr>
                          <m:t>s</m:t>
                        </m:r>
                      </m:e>
                    </m:d>
                  </m:oMath>
                </a14:m>
                <a:r>
                  <a:rPr lang="en-US" dirty="0"/>
                  <a:t> </a:t>
                </a:r>
              </a:p>
            </p:txBody>
          </p:sp>
        </mc:Choice>
        <mc:Fallback xmlns="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B9EA722D-BE4A-9066-C65B-034A81CF6C26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blipFill>
                <a:blip r:embed="rId2"/>
                <a:stretch>
                  <a:fillRect l="-2137" t="-679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DC2C47E4-DEB7-5C74-00FB-2081ED678B6B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2227967" y="1501422"/>
                <a:ext cx="8911687" cy="5130800"/>
              </a:xfrm>
            </p:spPr>
            <p:txBody>
              <a:bodyPr>
                <a:normAutofit fontScale="77500" lnSpcReduction="20000"/>
              </a:bodyPr>
              <a:lstStyle/>
              <a:p>
                <a:r>
                  <a:rPr lang="en-US" sz="3200" b="0" dirty="0"/>
                  <a:t>The formula for updating the value of </a:t>
                </a:r>
                <a14:m>
                  <m:oMath xmlns:m="http://schemas.openxmlformats.org/officeDocument/2006/math">
                    <m:r>
                      <a:rPr lang="en-US" sz="3200" b="0" i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lang="en-US" sz="3200" b="0" i="0" smtClean="0">
                        <a:latin typeface="Cambria Math" panose="02040503050406030204" pitchFamily="18" charset="0"/>
                      </a:rPr>
                      <m:t>V</m:t>
                    </m:r>
                    <m:d>
                      <m:dPr>
                        <m:ctrlPr>
                          <a:rPr lang="en-US" sz="32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sz="32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sz="3200" b="0" i="0" smtClean="0">
                                <a:latin typeface="Cambria Math" panose="02040503050406030204" pitchFamily="18" charset="0"/>
                              </a:rPr>
                              <m:t>s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en-US" sz="3200" b="0" i="0" smtClean="0">
                                <a:latin typeface="Cambria Math" panose="02040503050406030204" pitchFamily="18" charset="0"/>
                              </a:rPr>
                              <m:t>t</m:t>
                            </m:r>
                          </m:sub>
                        </m:sSub>
                      </m:e>
                    </m:d>
                  </m:oMath>
                </a14:m>
                <a:r>
                  <a:rPr lang="en-US" sz="3200" b="0" dirty="0"/>
                  <a:t> combines a bit of its current value and a a bit of the total rewards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32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sz="3200" i="0">
                            <a:latin typeface="Cambria Math" panose="02040503050406030204" pitchFamily="18" charset="0"/>
                          </a:rPr>
                          <m:t>G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sz="3200" i="0">
                            <a:latin typeface="Cambria Math" panose="02040503050406030204" pitchFamily="18" charset="0"/>
                          </a:rPr>
                          <m:t>t</m:t>
                        </m:r>
                      </m:sub>
                    </m:sSub>
                  </m:oMath>
                </a14:m>
                <a:r>
                  <a:rPr lang="en-US" sz="3200" b="0" dirty="0"/>
                  <a:t> if the episode were completed till the end. </a:t>
                </a:r>
              </a:p>
              <a:p>
                <a:pPr marL="1371600" lvl="3" indent="0">
                  <a:buNone/>
                </a:pPr>
                <a:endParaRPr lang="en-US" sz="3200" i="1" dirty="0">
                  <a:latin typeface="Cambria Math" panose="02040503050406030204" pitchFamily="18" charset="0"/>
                </a:endParaRPr>
              </a:p>
              <a:p>
                <a:pPr marL="1371600" lvl="3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3200" b="0" i="1" smtClean="0">
                          <a:latin typeface="Cambria Math" panose="02040503050406030204" pitchFamily="18" charset="0"/>
                        </a:rPr>
                        <m:t>𝑉</m:t>
                      </m:r>
                      <m:d>
                        <m:dPr>
                          <m:ctrlPr>
                            <a:rPr lang="en-US" sz="32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32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3200" b="0" i="1" smtClean="0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e>
                            <m:sub>
                              <m:r>
                                <a:rPr lang="en-US" sz="3200" b="0" i="1" smtClean="0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sub>
                          </m:sSub>
                        </m:e>
                      </m:d>
                      <m:r>
                        <a:rPr lang="en-US" sz="3200" b="0" i="1" smtClean="0">
                          <a:latin typeface="Cambria Math" panose="02040503050406030204" pitchFamily="18" charset="0"/>
                        </a:rPr>
                        <m:t>←</m:t>
                      </m:r>
                      <m:d>
                        <m:dPr>
                          <m:ctrlPr>
                            <a:rPr lang="en-US" sz="32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3200" b="0" i="1" smtClean="0">
                              <a:latin typeface="Cambria Math" panose="02040503050406030204" pitchFamily="18" charset="0"/>
                            </a:rPr>
                            <m:t>1 −</m:t>
                          </m:r>
                          <m:r>
                            <a:rPr lang="en-US" sz="3200" b="0" i="1" smtClean="0">
                              <a:latin typeface="Cambria Math" panose="02040503050406030204" pitchFamily="18" charset="0"/>
                            </a:rPr>
                            <m:t>𝛼</m:t>
                          </m:r>
                        </m:e>
                      </m:d>
                      <m:r>
                        <a:rPr lang="en-US" sz="3200" b="0" i="1" smtClean="0">
                          <a:latin typeface="Cambria Math" panose="02040503050406030204" pitchFamily="18" charset="0"/>
                        </a:rPr>
                        <m:t>𝑉</m:t>
                      </m:r>
                      <m:d>
                        <m:dPr>
                          <m:ctrlPr>
                            <a:rPr lang="en-US" sz="32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32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3200" b="0" i="1" smtClean="0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e>
                            <m:sub>
                              <m:r>
                                <a:rPr lang="en-US" sz="3200" b="0" i="1" smtClean="0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sub>
                          </m:sSub>
                        </m:e>
                      </m:d>
                      <m:r>
                        <a:rPr lang="en-US" sz="3200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sz="3200" b="0" i="1" smtClean="0">
                          <a:latin typeface="Cambria Math" panose="02040503050406030204" pitchFamily="18" charset="0"/>
                        </a:rPr>
                        <m:t>𝛼</m:t>
                      </m:r>
                      <m:r>
                        <a:rPr lang="en-US" sz="3200" b="0" i="1" smtClean="0">
                          <a:latin typeface="Cambria Math" panose="02040503050406030204" pitchFamily="18" charset="0"/>
                        </a:rPr>
                        <m:t> </m:t>
                      </m:r>
                      <m:sSub>
                        <m:sSubPr>
                          <m:ctrlPr>
                            <a:rPr lang="en-US" sz="32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3200" b="0" i="1" smtClean="0">
                              <a:latin typeface="Cambria Math" panose="02040503050406030204" pitchFamily="18" charset="0"/>
                            </a:rPr>
                            <m:t>𝐺</m:t>
                          </m:r>
                        </m:e>
                        <m:sub>
                          <m:r>
                            <a:rPr lang="en-US" sz="3200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</m:oMath>
                  </m:oMathPara>
                </a14:m>
                <a:endParaRPr lang="en-US" sz="3200" b="0" dirty="0"/>
              </a:p>
              <a:p>
                <a:pPr marL="1371600" lvl="3" indent="0">
                  <a:buNone/>
                </a:pPr>
                <a:r>
                  <a:rPr lang="en-US" sz="3200" b="0" dirty="0"/>
                  <a:t>		 </a:t>
                </a:r>
                <a14:m>
                  <m:oMath xmlns:m="http://schemas.openxmlformats.org/officeDocument/2006/math">
                    <m:r>
                      <a:rPr lang="en-US" sz="3200" b="0" i="0" smtClean="0">
                        <a:latin typeface="Cambria Math" panose="02040503050406030204" pitchFamily="18" charset="0"/>
                      </a:rPr>
                      <m:t>  </m:t>
                    </m:r>
                    <m:r>
                      <a:rPr lang="en-US" sz="3200" b="0" i="1" smtClean="0">
                        <a:latin typeface="Cambria Math" panose="02040503050406030204" pitchFamily="18" charset="0"/>
                      </a:rPr>
                      <m:t>←</m:t>
                    </m:r>
                    <m:r>
                      <a:rPr lang="en-US" sz="3200" b="0" i="1" smtClean="0">
                        <a:latin typeface="Cambria Math" panose="02040503050406030204" pitchFamily="18" charset="0"/>
                      </a:rPr>
                      <m:t>𝑉</m:t>
                    </m:r>
                    <m:d>
                      <m:dPr>
                        <m:ctrlPr>
                          <a:rPr lang="en-US" sz="32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sz="32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3200" b="0" i="1" smtClean="0">
                                <a:latin typeface="Cambria Math" panose="02040503050406030204" pitchFamily="18" charset="0"/>
                              </a:rPr>
                              <m:t>𝑠</m:t>
                            </m:r>
                          </m:e>
                          <m:sub>
                            <m:r>
                              <a:rPr lang="en-US" sz="3200" b="0" i="1" smtClean="0">
                                <a:latin typeface="Cambria Math" panose="02040503050406030204" pitchFamily="18" charset="0"/>
                              </a:rPr>
                              <m:t>𝑡</m:t>
                            </m:r>
                          </m:sub>
                        </m:sSub>
                      </m:e>
                    </m:d>
                    <m:r>
                      <a:rPr lang="en-US" sz="3200" b="0" i="1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sz="3200" b="0" i="1" smtClean="0">
                        <a:latin typeface="Cambria Math" panose="02040503050406030204" pitchFamily="18" charset="0"/>
                      </a:rPr>
                      <m:t>𝛼</m:t>
                    </m:r>
                    <m:r>
                      <a:rPr lang="en-US" sz="3200" b="0" i="1" smtClean="0">
                        <a:latin typeface="Cambria Math" panose="02040503050406030204" pitchFamily="18" charset="0"/>
                      </a:rPr>
                      <m:t> </m:t>
                    </m:r>
                    <m:sSub>
                      <m:sSubPr>
                        <m:ctrlPr>
                          <a:rPr lang="en-US" sz="32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3200" b="0" i="1" smtClean="0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sz="3200" b="0" i="1" smtClean="0">
                            <a:latin typeface="Cambria Math" panose="02040503050406030204" pitchFamily="18" charset="0"/>
                          </a:rPr>
                          <m:t>𝐺</m:t>
                        </m:r>
                      </m:e>
                      <m:sub>
                        <m:r>
                          <a:rPr lang="en-US" sz="3200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</m:oMath>
                </a14:m>
                <a:r>
                  <a:rPr lang="en-US" sz="3200" b="0" dirty="0"/>
                  <a:t> - </a:t>
                </a:r>
                <a14:m>
                  <m:oMath xmlns:m="http://schemas.openxmlformats.org/officeDocument/2006/math">
                    <m:r>
                      <a:rPr lang="en-US" sz="3200" i="1">
                        <a:latin typeface="Cambria Math" panose="02040503050406030204" pitchFamily="18" charset="0"/>
                      </a:rPr>
                      <m:t>𝑉</m:t>
                    </m:r>
                    <m:d>
                      <m:dPr>
                        <m:ctrlPr>
                          <a:rPr lang="en-US" sz="320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sz="32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3200" i="1">
                                <a:latin typeface="Cambria Math" panose="02040503050406030204" pitchFamily="18" charset="0"/>
                              </a:rPr>
                              <m:t>𝑠</m:t>
                            </m:r>
                          </m:e>
                          <m:sub>
                            <m:r>
                              <a:rPr lang="en-US" sz="3200" i="1">
                                <a:latin typeface="Cambria Math" panose="02040503050406030204" pitchFamily="18" charset="0"/>
                              </a:rPr>
                              <m:t>𝑡</m:t>
                            </m:r>
                          </m:sub>
                        </m:sSub>
                      </m:e>
                    </m:d>
                  </m:oMath>
                </a14:m>
                <a:r>
                  <a:rPr lang="en-US" sz="3200" dirty="0"/>
                  <a:t> </a:t>
                </a:r>
                <a14:m>
                  <m:oMath xmlns:m="http://schemas.openxmlformats.org/officeDocument/2006/math">
                    <m:r>
                      <a:rPr lang="en-US" sz="3200" b="0" i="1" dirty="0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sz="3200" b="0" dirty="0"/>
              </a:p>
              <a:p>
                <a:pPr marL="1371600" lvl="3" indent="0">
                  <a:buNone/>
                </a:pPr>
                <a:endParaRPr lang="en-US" sz="3200" dirty="0"/>
              </a:p>
              <a:p>
                <a:pPr marL="571500" indent="-457200"/>
                <a:r>
                  <a:rPr lang="en-US" sz="3400" dirty="0"/>
                  <a:t>Here</a:t>
                </a:r>
                <a:r>
                  <a:rPr lang="en-US" sz="3400" dirty="0">
                    <a:latin typeface="Cambria Math" panose="02040503050406030204" pitchFamily="18" charset="0"/>
                  </a:rPr>
                  <a:t>, </a:t>
                </a:r>
                <a14:m>
                  <m:oMath xmlns:m="http://schemas.openxmlformats.org/officeDocument/2006/math">
                    <m:r>
                      <a:rPr lang="en-US" sz="3400" b="0" i="0" smtClean="0">
                        <a:latin typeface="Cambria Math" panose="02040503050406030204" pitchFamily="18" charset="0"/>
                      </a:rPr>
                      <m:t>0 ≤</m:t>
                    </m:r>
                    <m:r>
                      <a:rPr lang="en-US" sz="3400" b="0" i="1" smtClean="0">
                        <a:latin typeface="Cambria Math" panose="02040503050406030204" pitchFamily="18" charset="0"/>
                      </a:rPr>
                      <m:t>𝛼</m:t>
                    </m:r>
                    <m:r>
                      <a:rPr lang="en-US" sz="3400" b="0" i="1" smtClean="0">
                        <a:latin typeface="Cambria Math" panose="02040503050406030204" pitchFamily="18" charset="0"/>
                      </a:rPr>
                      <m:t>≤1. </m:t>
                    </m:r>
                  </m:oMath>
                </a14:m>
                <a:r>
                  <a:rPr lang="en-US" sz="3400" dirty="0"/>
                  <a:t>If </a:t>
                </a:r>
                <a14:m>
                  <m:oMath xmlns:m="http://schemas.openxmlformats.org/officeDocument/2006/math">
                    <m:r>
                      <a:rPr lang="en-US" sz="3400" i="1">
                        <a:latin typeface="Cambria Math" panose="02040503050406030204" pitchFamily="18" charset="0"/>
                      </a:rPr>
                      <m:t>𝛼</m:t>
                    </m:r>
                  </m:oMath>
                </a14:m>
                <a:r>
                  <a:rPr lang="en-US" sz="3400" dirty="0"/>
                  <a:t> is low, say 0.1, the value of </a:t>
                </a:r>
                <a14:m>
                  <m:oMath xmlns:m="http://schemas.openxmlformats.org/officeDocument/2006/math">
                    <m:r>
                      <a:rPr lang="en-US" sz="3400" i="1">
                        <a:latin typeface="Cambria Math" panose="02040503050406030204" pitchFamily="18" charset="0"/>
                      </a:rPr>
                      <m:t>𝑉</m:t>
                    </m:r>
                    <m:d>
                      <m:dPr>
                        <m:ctrlPr>
                          <a:rPr lang="en-US" sz="34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sz="34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3400" i="1">
                                <a:latin typeface="Cambria Math" panose="02040503050406030204" pitchFamily="18" charset="0"/>
                              </a:rPr>
                              <m:t>𝑠</m:t>
                            </m:r>
                          </m:e>
                          <m:sub>
                            <m:r>
                              <a:rPr lang="en-US" sz="3400" i="1">
                                <a:latin typeface="Cambria Math" panose="02040503050406030204" pitchFamily="18" charset="0"/>
                              </a:rPr>
                              <m:t>𝑡</m:t>
                            </m:r>
                          </m:sub>
                        </m:sSub>
                      </m:e>
                    </m:d>
                  </m:oMath>
                </a14:m>
                <a:r>
                  <a:rPr lang="en-US" sz="3400" dirty="0"/>
                  <a:t> changes slowly from one update to the next. If </a:t>
                </a:r>
                <a14:m>
                  <m:oMath xmlns:m="http://schemas.openxmlformats.org/officeDocument/2006/math">
                    <m:r>
                      <a:rPr lang="en-US" sz="3400" i="1">
                        <a:latin typeface="Cambria Math" panose="02040503050406030204" pitchFamily="18" charset="0"/>
                      </a:rPr>
                      <m:t>𝛼</m:t>
                    </m:r>
                  </m:oMath>
                </a14:m>
                <a:r>
                  <a:rPr lang="en-US" sz="3400" dirty="0"/>
                  <a:t> is high, say 0.9, the value of </a:t>
                </a:r>
                <a14:m>
                  <m:oMath xmlns:m="http://schemas.openxmlformats.org/officeDocument/2006/math">
                    <m:r>
                      <a:rPr lang="en-US" sz="3400" i="1">
                        <a:latin typeface="Cambria Math" panose="02040503050406030204" pitchFamily="18" charset="0"/>
                      </a:rPr>
                      <m:t>𝑉</m:t>
                    </m:r>
                    <m:d>
                      <m:dPr>
                        <m:ctrlPr>
                          <a:rPr lang="en-US" sz="34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sz="34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3400" i="1">
                                <a:latin typeface="Cambria Math" panose="02040503050406030204" pitchFamily="18" charset="0"/>
                              </a:rPr>
                              <m:t>𝑠</m:t>
                            </m:r>
                          </m:e>
                          <m:sub>
                            <m:r>
                              <a:rPr lang="en-US" sz="3400" i="1">
                                <a:latin typeface="Cambria Math" panose="02040503050406030204" pitchFamily="18" charset="0"/>
                              </a:rPr>
                              <m:t>𝑡</m:t>
                            </m:r>
                          </m:sub>
                        </m:sSub>
                      </m:e>
                    </m:d>
                  </m:oMath>
                </a14:m>
                <a:r>
                  <a:rPr lang="en-US" sz="3400" dirty="0"/>
                  <a:t> changes abruptly from one update to the next.</a:t>
                </a:r>
              </a:p>
              <a:p>
                <a:pPr marL="571500" indent="-457200"/>
                <a:r>
                  <a:rPr lang="en-US" sz="3400" dirty="0"/>
                  <a:t>In practice, </a:t>
                </a:r>
                <a14:m>
                  <m:oMath xmlns:m="http://schemas.openxmlformats.org/officeDocument/2006/math">
                    <m:r>
                      <a:rPr lang="en-US" sz="3400" i="1" smtClean="0">
                        <a:latin typeface="Cambria Math" panose="02040503050406030204" pitchFamily="18" charset="0"/>
                      </a:rPr>
                      <m:t>𝛼</m:t>
                    </m:r>
                  </m:oMath>
                </a14:m>
                <a:r>
                  <a:rPr lang="en-US" sz="3400" dirty="0"/>
                  <a:t> should be high in the beginning, and become smaller over time. </a:t>
                </a:r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DC2C47E4-DEB7-5C74-00FB-2081ED678B6B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2227967" y="1501422"/>
                <a:ext cx="8911687" cy="5130800"/>
              </a:xfrm>
              <a:blipFill>
                <a:blip r:embed="rId3"/>
                <a:stretch>
                  <a:fillRect l="-997" t="-2469" r="-170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26928595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89A7B684-CFFB-C6E7-AA24-B9C0ADD38F68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/>
            <p:txBody>
              <a:bodyPr/>
              <a:lstStyle/>
              <a:p>
                <a:r>
                  <a:rPr lang="en-US" dirty="0"/>
                  <a:t>TD(0) for Estimating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b="0" i="1" smtClean="0">
                            <a:latin typeface="Cambria Math" panose="02040503050406030204" pitchFamily="18" charset="0"/>
                          </a:rPr>
                          <m:t>π</m:t>
                        </m:r>
                      </m:sub>
                    </m:sSub>
                  </m:oMath>
                </a14:m>
                <a:r>
                  <a:rPr lang="en-US" dirty="0"/>
                  <a:t> Given Policy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𝜋</m:t>
                    </m:r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89A7B684-CFFB-C6E7-AA24-B9C0ADD38F6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blipFill>
                <a:blip r:embed="rId2"/>
                <a:stretch>
                  <a:fillRect l="-2137" t="-679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" name="Picture 3">
            <a:extLst>
              <a:ext uri="{FF2B5EF4-FFF2-40B4-BE49-F238E27FC236}">
                <a16:creationId xmlns:a16="http://schemas.microsoft.com/office/drawing/2014/main" id="{895AD748-289B-7FCB-7AC1-A84E1EB73A1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43569" y="2037070"/>
            <a:ext cx="9461043" cy="4196820"/>
          </a:xfrm>
          <a:prstGeom prst="rect">
            <a:avLst/>
          </a:prstGeom>
        </p:spPr>
      </p:pic>
      <p:grpSp>
        <p:nvGrpSpPr>
          <p:cNvPr id="7" name="Group 6">
            <a:extLst>
              <a:ext uri="{FF2B5EF4-FFF2-40B4-BE49-F238E27FC236}">
                <a16:creationId xmlns:a16="http://schemas.microsoft.com/office/drawing/2014/main" id="{BFC635CA-C8B6-6CB3-82C8-1AF1D07AD0EB}"/>
              </a:ext>
            </a:extLst>
          </p:cNvPr>
          <p:cNvGrpSpPr/>
          <p:nvPr/>
        </p:nvGrpSpPr>
        <p:grpSpPr>
          <a:xfrm>
            <a:off x="5063728" y="4865440"/>
            <a:ext cx="3970080" cy="1541160"/>
            <a:chOff x="4743120" y="4865440"/>
            <a:chExt cx="3970080" cy="15411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4">
              <p14:nvContentPartPr>
                <p14:cNvPr id="5" name="Ink 4">
                  <a:extLst>
                    <a:ext uri="{FF2B5EF4-FFF2-40B4-BE49-F238E27FC236}">
                      <a16:creationId xmlns:a16="http://schemas.microsoft.com/office/drawing/2014/main" id="{A148374C-8A6A-ACCE-2DDB-B774251C9A4B}"/>
                    </a:ext>
                  </a:extLst>
                </p14:cNvPr>
                <p14:cNvContentPartPr/>
                <p14:nvPr/>
              </p14:nvContentPartPr>
              <p14:xfrm>
                <a:off x="4743120" y="4865440"/>
                <a:ext cx="2853360" cy="832320"/>
              </p14:xfrm>
            </p:contentPart>
          </mc:Choice>
          <mc:Fallback xmlns="">
            <p:pic>
              <p:nvPicPr>
                <p:cNvPr id="5" name="Ink 4">
                  <a:extLst>
                    <a:ext uri="{FF2B5EF4-FFF2-40B4-BE49-F238E27FC236}">
                      <a16:creationId xmlns:a16="http://schemas.microsoft.com/office/drawing/2014/main" id="{A148374C-8A6A-ACCE-2DDB-B774251C9A4B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4734120" y="4856800"/>
                  <a:ext cx="2871000" cy="849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">
              <p14:nvContentPartPr>
                <p14:cNvPr id="6" name="Ink 5">
                  <a:extLst>
                    <a:ext uri="{FF2B5EF4-FFF2-40B4-BE49-F238E27FC236}">
                      <a16:creationId xmlns:a16="http://schemas.microsoft.com/office/drawing/2014/main" id="{549EEF59-D309-B5BC-D9B9-77F5631442D5}"/>
                    </a:ext>
                  </a:extLst>
                </p14:cNvPr>
                <p14:cNvContentPartPr/>
                <p14:nvPr/>
              </p14:nvContentPartPr>
              <p14:xfrm>
                <a:off x="7532760" y="5344960"/>
                <a:ext cx="1180440" cy="1061640"/>
              </p14:xfrm>
            </p:contentPart>
          </mc:Choice>
          <mc:Fallback xmlns="">
            <p:pic>
              <p:nvPicPr>
                <p:cNvPr id="6" name="Ink 5">
                  <a:extLst>
                    <a:ext uri="{FF2B5EF4-FFF2-40B4-BE49-F238E27FC236}">
                      <a16:creationId xmlns:a16="http://schemas.microsoft.com/office/drawing/2014/main" id="{549EEF59-D309-B5BC-D9B9-77F5631442D5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7524120" y="5336320"/>
                  <a:ext cx="1198080" cy="1079280"/>
                </a:xfrm>
                <a:prstGeom prst="rect">
                  <a:avLst/>
                </a:prstGeom>
              </p:spPr>
            </p:pic>
          </mc:Fallback>
        </mc:AlternateContent>
      </p:grpSp>
      <p:sp>
        <p:nvSpPr>
          <p:cNvPr id="8" name="TextBox 7">
            <a:extLst>
              <a:ext uri="{FF2B5EF4-FFF2-40B4-BE49-F238E27FC236}">
                <a16:creationId xmlns:a16="http://schemas.microsoft.com/office/drawing/2014/main" id="{1832785D-98C2-D321-E8A3-A5E7EC1BC9AF}"/>
              </a:ext>
            </a:extLst>
          </p:cNvPr>
          <p:cNvSpPr txBox="1"/>
          <p:nvPr/>
        </p:nvSpPr>
        <p:spPr>
          <a:xfrm>
            <a:off x="7191023" y="6406600"/>
            <a:ext cx="462844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This is often called the TD Error</a:t>
            </a:r>
          </a:p>
        </p:txBody>
      </p:sp>
    </p:spTree>
    <p:extLst>
      <p:ext uri="{BB962C8B-B14F-4D97-AF65-F5344CB8AC3E}">
        <p14:creationId xmlns:p14="http://schemas.microsoft.com/office/powerpoint/2010/main" val="301734285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EA722D-BE4A-9066-C65B-034A81CF6C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Advantages of TD Learning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C2C47E4-DEB7-5C74-00FB-2081ED678B6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227967" y="1501422"/>
            <a:ext cx="8911687" cy="5130800"/>
          </a:xfrm>
        </p:spPr>
        <p:txBody>
          <a:bodyPr>
            <a:normAutofit fontScale="77500" lnSpcReduction="20000"/>
          </a:bodyPr>
          <a:lstStyle/>
          <a:p>
            <a:r>
              <a:rPr lang="en-US" sz="3200" dirty="0"/>
              <a:t>TD methods learn a guess from a guess: This is called </a:t>
            </a:r>
            <a:r>
              <a:rPr lang="en-US" sz="3200" i="1" dirty="0"/>
              <a:t>Bootstrapping</a:t>
            </a:r>
            <a:r>
              <a:rPr lang="en-US" sz="3200" dirty="0"/>
              <a:t>.</a:t>
            </a:r>
          </a:p>
          <a:p>
            <a:r>
              <a:rPr lang="en-US" sz="3200" dirty="0"/>
              <a:t>Are TD methods better than MC methods in terms of estimation or learning? The answer is not clear cut although often TD does a better job quicker.</a:t>
            </a:r>
          </a:p>
          <a:p>
            <a:r>
              <a:rPr lang="en-US" sz="3200" dirty="0"/>
              <a:t>TD as well as MC methods do not need a full model, i.e., all details of the probabilities of rewards and transitions. </a:t>
            </a:r>
          </a:p>
          <a:p>
            <a:r>
              <a:rPr lang="en-US" sz="3200" dirty="0"/>
              <a:t>TD methods are </a:t>
            </a:r>
            <a:r>
              <a:rPr lang="en-US" sz="3200" i="1" dirty="0"/>
              <a:t>online</a:t>
            </a:r>
            <a:r>
              <a:rPr lang="en-US" sz="3200" dirty="0"/>
              <a:t> in the sense that an episode does not have to end before learning.</a:t>
            </a:r>
          </a:p>
          <a:p>
            <a:r>
              <a:rPr lang="en-US" sz="3200" dirty="0"/>
              <a:t>TD Learning can be used for long episodes and/or continuous learning environments where the episodes do not end. </a:t>
            </a:r>
          </a:p>
          <a:p>
            <a:r>
              <a:rPr lang="en-US" sz="3200" dirty="0"/>
              <a:t>TD Learning often converges earlier. </a:t>
            </a:r>
            <a:endParaRPr lang="en-US" sz="3400" dirty="0"/>
          </a:p>
        </p:txBody>
      </p:sp>
    </p:spTree>
    <p:extLst>
      <p:ext uri="{BB962C8B-B14F-4D97-AF65-F5344CB8AC3E}">
        <p14:creationId xmlns:p14="http://schemas.microsoft.com/office/powerpoint/2010/main" val="39159760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AD08E183-028A-D06A-ED09-2D1423C73746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/>
            <p:txBody>
              <a:bodyPr/>
              <a:lstStyle/>
              <a:p>
                <a:r>
                  <a:rPr lang="en-US" dirty="0"/>
                  <a:t>TD(0) Estimation of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𝑄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b="0" i="1" smtClean="0">
                            <a:latin typeface="Cambria Math" panose="02040503050406030204" pitchFamily="18" charset="0"/>
                          </a:rPr>
                          <m:t>π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𝑆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AD08E183-028A-D06A-ED09-2D1423C73746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blipFill>
                <a:blip r:embed="rId2"/>
                <a:stretch>
                  <a:fillRect l="-2137" t="-679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16AEEDE8-A312-6DE3-DC3C-B398F8A55911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lnSpcReduction="10000"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𝑄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b="0" i="1" smtClean="0">
                            <a:latin typeface="Cambria Math" panose="02040503050406030204" pitchFamily="18" charset="0"/>
                          </a:rPr>
                          <m:t>π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𝑆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dirty="0"/>
                  <a:t> can be estimated, given policy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𝜋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dirty="0"/>
                  <a:t> using Temporal Difference Approach</a:t>
                </a:r>
              </a:p>
              <a:p>
                <a:r>
                  <a:rPr lang="en-US" dirty="0"/>
                  <a:t>The agent performs an episode of training</a:t>
                </a:r>
              </a:p>
              <a:p>
                <a:endParaRPr lang="en-US" dirty="0"/>
              </a:p>
              <a:p>
                <a:endParaRPr lang="en-US" dirty="0"/>
              </a:p>
              <a:p>
                <a:endParaRPr lang="en-US" dirty="0"/>
              </a:p>
              <a:p>
                <a:r>
                  <a:rPr lang="en-US" dirty="0"/>
                  <a:t>The update formula is </a:t>
                </a:r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         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𝑄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𝑆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𝑡</m:t>
                            </m:r>
                          </m:sub>
                        </m:s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, </m:t>
                        </m:r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𝐴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𝑡</m:t>
                            </m:r>
                          </m:sub>
                        </m:sSub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←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1−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𝛼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𝑄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𝑆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𝑡</m:t>
                            </m:r>
                          </m:sub>
                        </m:s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𝐴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𝑡</m:t>
                            </m:r>
                          </m:sub>
                        </m:sSub>
                      </m:e>
                    </m:d>
                  </m:oMath>
                </a14:m>
                <a:r>
                  <a:rPr lang="en-US" dirty="0"/>
                  <a:t> +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𝛼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𝐺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</m:oMath>
                </a14:m>
                <a:endParaRPr lang="en-US" b="0" dirty="0"/>
              </a:p>
              <a:p>
                <a:pPr marL="0" indent="0">
                  <a:buNone/>
                </a:pPr>
                <a:r>
                  <a:rPr lang="en-US" dirty="0"/>
                  <a:t>                      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←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1−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𝛼</m:t>
                        </m:r>
                      </m:e>
                    </m:d>
                  </m:oMath>
                </a14:m>
                <a:r>
                  <a:rPr lang="en-US" dirty="0"/>
                  <a:t>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𝑄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𝑆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𝑡</m:t>
                            </m:r>
                          </m:sub>
                        </m:sSub>
                        <m:r>
                          <a:rPr lang="en-US" i="1"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𝐴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𝑡</m:t>
                            </m:r>
                          </m:sub>
                        </m:sSub>
                      </m:e>
                    </m:d>
                  </m:oMath>
                </a14:m>
                <a:r>
                  <a:rPr lang="en-US" dirty="0"/>
                  <a:t> +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𝛼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+1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𝛾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𝑄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𝑆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𝑡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+1</m:t>
                            </m:r>
                          </m:sub>
                        </m:sSub>
                        <m:r>
                          <a:rPr lang="en-US" i="1"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𝐴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𝑡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+1</m:t>
                            </m:r>
                          </m:sub>
                        </m:sSub>
                      </m:e>
                    </m:d>
                  </m:oMath>
                </a14:m>
                <a:endParaRPr lang="en-US" dirty="0"/>
              </a:p>
              <a:p>
                <a:pPr marL="0" indent="0">
                  <a:buNone/>
                </a:pPr>
                <a:r>
                  <a:rPr lang="en-US" b="0" dirty="0"/>
                  <a:t>                      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← 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𝑄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𝑆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𝑡</m:t>
                            </m:r>
                          </m:sub>
                        </m:sSub>
                        <m:r>
                          <a:rPr lang="en-US" i="1"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𝐴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𝑡</m:t>
                            </m:r>
                          </m:sub>
                        </m:sSub>
                      </m:e>
                    </m:d>
                  </m:oMath>
                </a14:m>
                <a:r>
                  <a:rPr lang="en-US" dirty="0"/>
                  <a:t> +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𝛼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+1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𝛾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𝑄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𝑆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𝑡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+1</m:t>
                            </m:r>
                          </m:sub>
                        </m:sSub>
                        <m:r>
                          <a:rPr lang="en-US" i="1"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𝐴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𝑡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+1</m:t>
                            </m:r>
                          </m:sub>
                        </m:sSub>
                      </m:e>
                    </m:d>
                  </m:oMath>
                </a14:m>
                <a:r>
                  <a:rPr lang="en-US" dirty="0"/>
                  <a:t> -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𝑄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𝑆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𝑡</m:t>
                            </m:r>
                          </m:sub>
                        </m:sSub>
                        <m:r>
                          <a:rPr lang="en-US" i="1"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𝐴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𝑡</m:t>
                            </m:r>
                          </m:sub>
                        </m:sSub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 ) </m:t>
                    </m:r>
                  </m:oMath>
                </a14:m>
                <a:endParaRPr lang="en-US" dirty="0"/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16AEEDE8-A312-6DE3-DC3C-B398F8A5591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3"/>
                <a:stretch>
                  <a:fillRect l="-570" t="-201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" name="Picture 3">
            <a:extLst>
              <a:ext uri="{FF2B5EF4-FFF2-40B4-BE49-F238E27FC236}">
                <a16:creationId xmlns:a16="http://schemas.microsoft.com/office/drawing/2014/main" id="{8DCB5B71-B227-2E5E-564F-652911207E0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33033" y="3429000"/>
            <a:ext cx="7366000" cy="6731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7295069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AD08E183-028A-D06A-ED09-2D1423C73746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/>
            <p:txBody>
              <a:bodyPr/>
              <a:lstStyle/>
              <a:p>
                <a:r>
                  <a:rPr lang="en-US" dirty="0"/>
                  <a:t>SARSA for estimating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𝑄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b="0" i="1" smtClean="0">
                            <a:latin typeface="Cambria Math" panose="02040503050406030204" pitchFamily="18" charset="0"/>
                          </a:rPr>
                          <m:t>π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𝑆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AD08E183-028A-D06A-ED09-2D1423C73746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blipFill>
                <a:blip r:embed="rId2"/>
                <a:stretch>
                  <a:fillRect l="-2137" t="-679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7" name="Picture 6">
            <a:extLst>
              <a:ext uri="{FF2B5EF4-FFF2-40B4-BE49-F238E27FC236}">
                <a16:creationId xmlns:a16="http://schemas.microsoft.com/office/drawing/2014/main" id="{87100AE9-67D2-4554-85B8-6414C39E556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09800" y="1714500"/>
            <a:ext cx="7772400" cy="3429000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8" name="Ink 7">
                <a:extLst>
                  <a:ext uri="{FF2B5EF4-FFF2-40B4-BE49-F238E27FC236}">
                    <a16:creationId xmlns:a16="http://schemas.microsoft.com/office/drawing/2014/main" id="{C43CA4FE-BA51-0AE9-669C-43539FF373F7}"/>
                  </a:ext>
                </a:extLst>
              </p14:cNvPr>
              <p14:cNvContentPartPr/>
              <p14:nvPr/>
            </p14:nvContentPartPr>
            <p14:xfrm>
              <a:off x="4695240" y="1918120"/>
              <a:ext cx="670320" cy="38520"/>
            </p14:xfrm>
          </p:contentPart>
        </mc:Choice>
        <mc:Fallback xmlns="">
          <p:pic>
            <p:nvPicPr>
              <p:cNvPr id="8" name="Ink 7">
                <a:extLst>
                  <a:ext uri="{FF2B5EF4-FFF2-40B4-BE49-F238E27FC236}">
                    <a16:creationId xmlns:a16="http://schemas.microsoft.com/office/drawing/2014/main" id="{C43CA4FE-BA51-0AE9-669C-43539FF373F7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4686600" y="1909480"/>
                <a:ext cx="687960" cy="56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9" name="Ink 8">
                <a:extLst>
                  <a:ext uri="{FF2B5EF4-FFF2-40B4-BE49-F238E27FC236}">
                    <a16:creationId xmlns:a16="http://schemas.microsoft.com/office/drawing/2014/main" id="{A499E3CB-A1C9-5CB3-78B6-341EF56603FE}"/>
                  </a:ext>
                </a:extLst>
              </p14:cNvPr>
              <p14:cNvContentPartPr/>
              <p14:nvPr/>
            </p14:nvContentPartPr>
            <p14:xfrm>
              <a:off x="6872880" y="3371080"/>
              <a:ext cx="1268280" cy="21960"/>
            </p14:xfrm>
          </p:contentPart>
        </mc:Choice>
        <mc:Fallback xmlns="">
          <p:pic>
            <p:nvPicPr>
              <p:cNvPr id="9" name="Ink 8">
                <a:extLst>
                  <a:ext uri="{FF2B5EF4-FFF2-40B4-BE49-F238E27FC236}">
                    <a16:creationId xmlns:a16="http://schemas.microsoft.com/office/drawing/2014/main" id="{A499E3CB-A1C9-5CB3-78B6-341EF56603FE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6864240" y="3362440"/>
                <a:ext cx="1285920" cy="39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">
            <p14:nvContentPartPr>
              <p14:cNvPr id="10" name="Ink 9">
                <a:extLst>
                  <a:ext uri="{FF2B5EF4-FFF2-40B4-BE49-F238E27FC236}">
                    <a16:creationId xmlns:a16="http://schemas.microsoft.com/office/drawing/2014/main" id="{6C870898-A732-05F4-108D-7480B81B7396}"/>
                  </a:ext>
                </a:extLst>
              </p14:cNvPr>
              <p14:cNvContentPartPr/>
              <p14:nvPr/>
            </p14:nvContentPartPr>
            <p14:xfrm>
              <a:off x="7266000" y="4055800"/>
              <a:ext cx="1229400" cy="45720"/>
            </p14:xfrm>
          </p:contentPart>
        </mc:Choice>
        <mc:Fallback xmlns="">
          <p:pic>
            <p:nvPicPr>
              <p:cNvPr id="10" name="Ink 9">
                <a:extLst>
                  <a:ext uri="{FF2B5EF4-FFF2-40B4-BE49-F238E27FC236}">
                    <a16:creationId xmlns:a16="http://schemas.microsoft.com/office/drawing/2014/main" id="{6C870898-A732-05F4-108D-7480B81B7396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7257360" y="4046800"/>
                <a:ext cx="1247040" cy="63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9062AABA-6FA0-44C2-442D-3EF2B475D712}"/>
                  </a:ext>
                </a:extLst>
              </p:cNvPr>
              <p:cNvSpPr txBox="1"/>
              <p:nvPr/>
            </p:nvSpPr>
            <p:spPr>
              <a:xfrm>
                <a:off x="2393244" y="1357562"/>
                <a:ext cx="5960534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dirty="0"/>
                  <a:t>SARSA-like algorithms for  estimating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𝑄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b="0" i="1" smtClean="0">
                            <a:latin typeface="Cambria Math" panose="02040503050406030204" pitchFamily="18" charset="0"/>
                          </a:rPr>
                          <m:t>π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𝑆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9062AABA-6FA0-44C2-442D-3EF2B475D71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93244" y="1357562"/>
                <a:ext cx="5960534" cy="369332"/>
              </a:xfrm>
              <a:prstGeom prst="rect">
                <a:avLst/>
              </a:prstGeom>
              <a:blipFill>
                <a:blip r:embed="rId10"/>
                <a:stretch>
                  <a:fillRect l="-851" t="-10345" b="-2758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C450593A-C3E1-D021-DA4C-BCE52A642B02}"/>
                  </a:ext>
                </a:extLst>
              </p:cNvPr>
              <p:cNvSpPr txBox="1"/>
              <p:nvPr/>
            </p:nvSpPr>
            <p:spPr>
              <a:xfrm>
                <a:off x="2209800" y="5508978"/>
                <a:ext cx="8096956" cy="92333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dirty="0"/>
                  <a:t>Note that if we do not change the policy by using greedy or some other approach for exploration, it just finds the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𝑄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𝑆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</m:d>
                  </m:oMath>
                </a14:m>
                <a:r>
                  <a:rPr lang="en-US" dirty="0"/>
                  <a:t> for the policy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𝜋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. </m:t>
                    </m:r>
                  </m:oMath>
                </a14:m>
                <a:endParaRPr lang="en-US" b="0" dirty="0"/>
              </a:p>
              <a:p>
                <a:r>
                  <a:rPr lang="en-US" dirty="0"/>
                  <a:t>This is not so-called control, where we have to find the optimal policy. </a:t>
                </a:r>
              </a:p>
            </p:txBody>
          </p:sp>
        </mc:Choice>
        <mc:Fallback xmlns="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C450593A-C3E1-D021-DA4C-BCE52A642B0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09800" y="5508978"/>
                <a:ext cx="8096956" cy="923330"/>
              </a:xfrm>
              <a:prstGeom prst="rect">
                <a:avLst/>
              </a:prstGeom>
              <a:blipFill>
                <a:blip r:embed="rId11"/>
                <a:stretch>
                  <a:fillRect l="-784" t="-2703" b="-945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69513001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AD08E183-028A-D06A-ED09-2D1423C73746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>
              <a:xfrm>
                <a:off x="1926880" y="433610"/>
                <a:ext cx="8911687" cy="1280890"/>
              </a:xfrm>
            </p:spPr>
            <p:txBody>
              <a:bodyPr/>
              <a:lstStyle/>
              <a:p>
                <a:r>
                  <a:rPr lang="en-US" dirty="0"/>
                  <a:t>SARSA for estimating (learning)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𝑄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b="0" i="1" smtClean="0">
                            <a:latin typeface="Cambria Math" panose="02040503050406030204" pitchFamily="18" charset="0"/>
                          </a:rPr>
                          <m:t>π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𝑆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AD08E183-028A-D06A-ED09-2D1423C73746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xfrm>
                <a:off x="1926880" y="433610"/>
                <a:ext cx="8911687" cy="1280890"/>
              </a:xfrm>
              <a:blipFill>
                <a:blip r:embed="rId2"/>
                <a:stretch>
                  <a:fillRect l="-1991" t="-7921" r="-99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7" name="Picture 6">
            <a:extLst>
              <a:ext uri="{FF2B5EF4-FFF2-40B4-BE49-F238E27FC236}">
                <a16:creationId xmlns:a16="http://schemas.microsoft.com/office/drawing/2014/main" id="{87100AE9-67D2-4554-85B8-6414C39E556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30778" y="1714500"/>
            <a:ext cx="7772400" cy="3429000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C450593A-C3E1-D021-DA4C-BCE52A642B02}"/>
              </a:ext>
            </a:extLst>
          </p:cNvPr>
          <p:cNvSpPr txBox="1"/>
          <p:nvPr/>
        </p:nvSpPr>
        <p:spPr>
          <a:xfrm>
            <a:off x="2209800" y="5508978"/>
            <a:ext cx="8096956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To make it an algorithm for control, we introduce exploration using greedy approach to choosing an action. In other words, the algorithm does not always choose the optimal action in a state; it chooses non-optimal actions with non-0 probability so that it can explore. </a:t>
            </a:r>
          </a:p>
        </p:txBody>
      </p:sp>
    </p:spTree>
    <p:extLst>
      <p:ext uri="{BB962C8B-B14F-4D97-AF65-F5344CB8AC3E}">
        <p14:creationId xmlns:p14="http://schemas.microsoft.com/office/powerpoint/2010/main" val="399825915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AD08E183-028A-D06A-ED09-2D1423C73746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/>
            <p:txBody>
              <a:bodyPr/>
              <a:lstStyle/>
              <a:p>
                <a:r>
                  <a:rPr lang="en-US" dirty="0"/>
                  <a:t>Q Learning for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𝑞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∗</m:t>
                            </m:r>
                          </m:sub>
                        </m:sSub>
                        <m:d>
                          <m:d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𝑠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</m:d>
                      </m:e>
                      <m:sub/>
                    </m:sSub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AD08E183-028A-D06A-ED09-2D1423C73746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blipFill>
                <a:blip r:embed="rId2"/>
                <a:stretch>
                  <a:fillRect l="-2137" t="-679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" name="TextBox 11">
            <a:extLst>
              <a:ext uri="{FF2B5EF4-FFF2-40B4-BE49-F238E27FC236}">
                <a16:creationId xmlns:a16="http://schemas.microsoft.com/office/drawing/2014/main" id="{C450593A-C3E1-D021-DA4C-BCE52A642B02}"/>
              </a:ext>
            </a:extLst>
          </p:cNvPr>
          <p:cNvSpPr txBox="1"/>
          <p:nvPr/>
        </p:nvSpPr>
        <p:spPr>
          <a:xfrm>
            <a:off x="1249127" y="5394669"/>
            <a:ext cx="8096956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Q-learning is an Off-Policy learning since the learned/update policy is different from the behavior policy. In Q-learning, a policy derived from the current values of Q(</a:t>
            </a:r>
            <a:r>
              <a:rPr lang="en-US" dirty="0" err="1"/>
              <a:t>s,a</a:t>
            </a:r>
            <a:r>
              <a:rPr lang="en-US" dirty="0"/>
              <a:t>) is considered the current policy. 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8D47856B-DF61-5783-A5CE-D6E93797999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49127" y="1734180"/>
            <a:ext cx="7772400" cy="3304433"/>
          </a:xfrm>
          <a:prstGeom prst="rect">
            <a:avLst/>
          </a:prstGeom>
        </p:spPr>
      </p:pic>
      <p:grpSp>
        <p:nvGrpSpPr>
          <p:cNvPr id="6" name="Group 5">
            <a:extLst>
              <a:ext uri="{FF2B5EF4-FFF2-40B4-BE49-F238E27FC236}">
                <a16:creationId xmlns:a16="http://schemas.microsoft.com/office/drawing/2014/main" id="{40C04603-AA6D-4D39-039E-429E3F4CDC17}"/>
              </a:ext>
            </a:extLst>
          </p:cNvPr>
          <p:cNvGrpSpPr/>
          <p:nvPr/>
        </p:nvGrpSpPr>
        <p:grpSpPr>
          <a:xfrm>
            <a:off x="2066163" y="3053133"/>
            <a:ext cx="7279920" cy="871560"/>
            <a:chOff x="3167760" y="3246880"/>
            <a:chExt cx="7279920" cy="8715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4">
              <p14:nvContentPartPr>
                <p14:cNvPr id="4" name="Ink 3">
                  <a:extLst>
                    <a:ext uri="{FF2B5EF4-FFF2-40B4-BE49-F238E27FC236}">
                      <a16:creationId xmlns:a16="http://schemas.microsoft.com/office/drawing/2014/main" id="{971B2BE7-4DC0-F384-9E44-15E8CBDC865B}"/>
                    </a:ext>
                  </a:extLst>
                </p14:cNvPr>
                <p14:cNvContentPartPr/>
                <p14:nvPr/>
              </p14:nvContentPartPr>
              <p14:xfrm>
                <a:off x="3167760" y="3677440"/>
                <a:ext cx="5395680" cy="441000"/>
              </p14:xfrm>
            </p:contentPart>
          </mc:Choice>
          <mc:Fallback xmlns="">
            <p:pic>
              <p:nvPicPr>
                <p:cNvPr id="4" name="Ink 3">
                  <a:extLst>
                    <a:ext uri="{FF2B5EF4-FFF2-40B4-BE49-F238E27FC236}">
                      <a16:creationId xmlns:a16="http://schemas.microsoft.com/office/drawing/2014/main" id="{971B2BE7-4DC0-F384-9E44-15E8CBDC865B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3158760" y="3668800"/>
                  <a:ext cx="5413320" cy="458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">
              <p14:nvContentPartPr>
                <p14:cNvPr id="5" name="Ink 4">
                  <a:extLst>
                    <a:ext uri="{FF2B5EF4-FFF2-40B4-BE49-F238E27FC236}">
                      <a16:creationId xmlns:a16="http://schemas.microsoft.com/office/drawing/2014/main" id="{180E6A7A-0DDC-0522-7B1E-32E30901B278}"/>
                    </a:ext>
                  </a:extLst>
                </p14:cNvPr>
                <p14:cNvContentPartPr/>
                <p14:nvPr/>
              </p14:nvContentPartPr>
              <p14:xfrm>
                <a:off x="8396400" y="3246880"/>
                <a:ext cx="2051280" cy="476280"/>
              </p14:xfrm>
            </p:contentPart>
          </mc:Choice>
          <mc:Fallback xmlns="">
            <p:pic>
              <p:nvPicPr>
                <p:cNvPr id="5" name="Ink 4">
                  <a:extLst>
                    <a:ext uri="{FF2B5EF4-FFF2-40B4-BE49-F238E27FC236}">
                      <a16:creationId xmlns:a16="http://schemas.microsoft.com/office/drawing/2014/main" id="{180E6A7A-0DDC-0522-7B1E-32E30901B278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8387760" y="3238240"/>
                  <a:ext cx="2068920" cy="4939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0" name="Group 9">
            <a:extLst>
              <a:ext uri="{FF2B5EF4-FFF2-40B4-BE49-F238E27FC236}">
                <a16:creationId xmlns:a16="http://schemas.microsoft.com/office/drawing/2014/main" id="{435D2B23-AFBF-33A4-C43C-56D1E031B83B}"/>
              </a:ext>
            </a:extLst>
          </p:cNvPr>
          <p:cNvGrpSpPr/>
          <p:nvPr/>
        </p:nvGrpSpPr>
        <p:grpSpPr>
          <a:xfrm>
            <a:off x="1936645" y="3816957"/>
            <a:ext cx="7247160" cy="613440"/>
            <a:chOff x="3153360" y="3978760"/>
            <a:chExt cx="7247160" cy="6134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8">
              <p14:nvContentPartPr>
                <p14:cNvPr id="8" name="Ink 7">
                  <a:extLst>
                    <a:ext uri="{FF2B5EF4-FFF2-40B4-BE49-F238E27FC236}">
                      <a16:creationId xmlns:a16="http://schemas.microsoft.com/office/drawing/2014/main" id="{C8FFF087-2654-1032-11E6-FE901DC65E6B}"/>
                    </a:ext>
                  </a:extLst>
                </p14:cNvPr>
                <p14:cNvContentPartPr/>
                <p14:nvPr/>
              </p14:nvContentPartPr>
              <p14:xfrm>
                <a:off x="3153360" y="4222840"/>
                <a:ext cx="4931280" cy="369360"/>
              </p14:xfrm>
            </p:contentPart>
          </mc:Choice>
          <mc:Fallback xmlns="">
            <p:pic>
              <p:nvPicPr>
                <p:cNvPr id="8" name="Ink 7">
                  <a:extLst>
                    <a:ext uri="{FF2B5EF4-FFF2-40B4-BE49-F238E27FC236}">
                      <a16:creationId xmlns:a16="http://schemas.microsoft.com/office/drawing/2014/main" id="{C8FFF087-2654-1032-11E6-FE901DC65E6B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3144720" y="4213840"/>
                  <a:ext cx="4948920" cy="387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">
              <p14:nvContentPartPr>
                <p14:cNvPr id="9" name="Ink 8">
                  <a:extLst>
                    <a:ext uri="{FF2B5EF4-FFF2-40B4-BE49-F238E27FC236}">
                      <a16:creationId xmlns:a16="http://schemas.microsoft.com/office/drawing/2014/main" id="{8D4BC603-AB0D-848B-0EA9-77E01B056874}"/>
                    </a:ext>
                  </a:extLst>
                </p14:cNvPr>
                <p14:cNvContentPartPr/>
                <p14:nvPr/>
              </p14:nvContentPartPr>
              <p14:xfrm>
                <a:off x="8088240" y="3978760"/>
                <a:ext cx="2312280" cy="469800"/>
              </p14:xfrm>
            </p:contentPart>
          </mc:Choice>
          <mc:Fallback xmlns="">
            <p:pic>
              <p:nvPicPr>
                <p:cNvPr id="9" name="Ink 8">
                  <a:extLst>
                    <a:ext uri="{FF2B5EF4-FFF2-40B4-BE49-F238E27FC236}">
                      <a16:creationId xmlns:a16="http://schemas.microsoft.com/office/drawing/2014/main" id="{8D4BC603-AB0D-848B-0EA9-77E01B056874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8079240" y="3970120"/>
                  <a:ext cx="2329920" cy="487440"/>
                </a:xfrm>
                <a:prstGeom prst="rect">
                  <a:avLst/>
                </a:prstGeom>
              </p:spPr>
            </p:pic>
          </mc:Fallback>
        </mc:AlternateContent>
      </p:grpSp>
      <p:sp>
        <p:nvSpPr>
          <p:cNvPr id="11" name="TextBox 10">
            <a:extLst>
              <a:ext uri="{FF2B5EF4-FFF2-40B4-BE49-F238E27FC236}">
                <a16:creationId xmlns:a16="http://schemas.microsoft.com/office/drawing/2014/main" id="{90E65FAB-C846-0461-52C7-44D34E1F93F4}"/>
              </a:ext>
            </a:extLst>
          </p:cNvPr>
          <p:cNvSpPr txBox="1"/>
          <p:nvPr/>
        </p:nvSpPr>
        <p:spPr>
          <a:xfrm>
            <a:off x="9183805" y="2186068"/>
            <a:ext cx="2399686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Behavior policy is a minor variation of the policy derived from Q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4E618EF1-8D3D-2E02-5C7E-4C886CF958A2}"/>
              </a:ext>
            </a:extLst>
          </p:cNvPr>
          <p:cNvSpPr txBox="1"/>
          <p:nvPr/>
        </p:nvSpPr>
        <p:spPr>
          <a:xfrm>
            <a:off x="9183805" y="3620614"/>
            <a:ext cx="2838862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The update policy is considered very different from the policy given at any time by Q, since the best action at any state is chosen. </a:t>
            </a:r>
          </a:p>
        </p:txBody>
      </p:sp>
    </p:spTree>
    <p:extLst>
      <p:ext uri="{BB962C8B-B14F-4D97-AF65-F5344CB8AC3E}">
        <p14:creationId xmlns:p14="http://schemas.microsoft.com/office/powerpoint/2010/main" val="45005191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08E183-028A-D06A-ED09-2D1423C737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Double Q Learning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BF623657-2B51-07CF-6494-5AB6E1203ACE}"/>
                  </a:ext>
                </a:extLst>
              </p:cNvPr>
              <p:cNvSpPr txBox="1"/>
              <p:nvPr/>
            </p:nvSpPr>
            <p:spPr>
              <a:xfrm>
                <a:off x="2592925" y="1905000"/>
                <a:ext cx="8266986" cy="452431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sz="2400" dirty="0"/>
                  <a:t>All the control algorithms discussed so far involve maximization in the construction of their target policies. 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sz="2400" dirty="0"/>
                  <a:t>For example, in Q-learning the target policy is the greedy policy given the current action values, which is defined with a max, and in </a:t>
                </a:r>
                <a:r>
                  <a:rPr lang="en-US" sz="2400" dirty="0" err="1"/>
                  <a:t>Sarsa</a:t>
                </a:r>
                <a:r>
                  <a:rPr lang="en-US" sz="2400" dirty="0"/>
                  <a:t> the policy is often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𝜖</m:t>
                    </m:r>
                  </m:oMath>
                </a14:m>
                <a:r>
                  <a:rPr lang="en-US" sz="2400" dirty="0"/>
                  <a:t>-greedy, which also involves a maximization operation. 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sz="2400" dirty="0"/>
                  <a:t>It has been shown that over time the q(</a:t>
                </a:r>
                <a:r>
                  <a:rPr lang="en-US" sz="2400" dirty="0" err="1"/>
                  <a:t>s,a</a:t>
                </a:r>
                <a:r>
                  <a:rPr lang="en-US" sz="2400" dirty="0"/>
                  <a:t>) values get inflated, especially for &lt;</a:t>
                </a:r>
                <a:r>
                  <a:rPr lang="en-US" sz="2400" dirty="0" err="1"/>
                  <a:t>s,a</a:t>
                </a:r>
                <a:r>
                  <a:rPr lang="en-US" sz="2400" dirty="0"/>
                  <a:t>&gt; pairs that are visited often. 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sz="2400" dirty="0"/>
                  <a:t>This is called positive bias. </a:t>
                </a:r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BF623657-2B51-07CF-6494-5AB6E1203AC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92925" y="1905000"/>
                <a:ext cx="8266986" cy="4524315"/>
              </a:xfrm>
              <a:prstGeom prst="rect">
                <a:avLst/>
              </a:prstGeom>
              <a:blipFill>
                <a:blip r:embed="rId2"/>
                <a:stretch>
                  <a:fillRect l="-1075" t="-1401" r="-1843" b="-196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43506662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08E183-028A-D06A-ED09-2D1423C737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Double Q Learning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9D46D1DD-97F6-3A57-A721-1D5F77A2C64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09800" y="1452513"/>
            <a:ext cx="7772400" cy="3952973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94742941-7177-14D4-B5BF-29C45862BFB7}"/>
              </a:ext>
            </a:extLst>
          </p:cNvPr>
          <p:cNvSpPr txBox="1"/>
          <p:nvPr/>
        </p:nvSpPr>
        <p:spPr>
          <a:xfrm>
            <a:off x="1467556" y="5405486"/>
            <a:ext cx="9064977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It has been shown in statistics in general that when estimating values, if a single estimator/function is used to estimate the maximum of a set of random values, it leads to positive bias. </a:t>
            </a:r>
          </a:p>
          <a:p>
            <a:r>
              <a:rPr lang="en-US" dirty="0"/>
              <a:t>Using more than one estimator reduces this bias. </a:t>
            </a:r>
          </a:p>
          <a:p>
            <a:r>
              <a:rPr lang="en-US" dirty="0"/>
              <a:t>The actual value learned for Q(S,A) is the average of the two. </a:t>
            </a:r>
          </a:p>
        </p:txBody>
      </p:sp>
    </p:spTree>
    <p:extLst>
      <p:ext uri="{BB962C8B-B14F-4D97-AF65-F5344CB8AC3E}">
        <p14:creationId xmlns:p14="http://schemas.microsoft.com/office/powerpoint/2010/main" val="12039645"/>
      </p:ext>
    </p:extLst>
  </p:cSld>
  <p:clrMapOvr>
    <a:masterClrMapping/>
  </p:clrMapOvr>
</p:sld>
</file>

<file path=ppt/theme/theme1.xml><?xml version="1.0" encoding="utf-8"?>
<a:theme xmlns:a="http://schemas.openxmlformats.org/drawingml/2006/main" name="Wisp">
  <a:themeElements>
    <a:clrScheme name="Wisp">
      <a:dk1>
        <a:sysClr val="windowText" lastClr="000000"/>
      </a:dk1>
      <a:lt1>
        <a:sysClr val="window" lastClr="FFFFFF"/>
      </a:lt1>
      <a:dk2>
        <a:srgbClr val="766F54"/>
      </a:dk2>
      <a:lt2>
        <a:srgbClr val="E3EACF"/>
      </a:lt2>
      <a:accent1>
        <a:srgbClr val="A53010"/>
      </a:accent1>
      <a:accent2>
        <a:srgbClr val="DE7E18"/>
      </a:accent2>
      <a:accent3>
        <a:srgbClr val="9F8351"/>
      </a:accent3>
      <a:accent4>
        <a:srgbClr val="728653"/>
      </a:accent4>
      <a:accent5>
        <a:srgbClr val="92AA4C"/>
      </a:accent5>
      <a:accent6>
        <a:srgbClr val="6AAC91"/>
      </a:accent6>
      <a:hlink>
        <a:srgbClr val="FB4A18"/>
      </a:hlink>
      <a:folHlink>
        <a:srgbClr val="FB9318"/>
      </a:folHlink>
    </a:clrScheme>
    <a:fontScheme name="Wisp">
      <a:maj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Wisp">
      <a:fillStyleLst>
        <a:solidFill>
          <a:schemeClr val="phClr"/>
        </a:solidFill>
        <a:solidFill>
          <a:schemeClr val="phClr">
            <a:tint val="70000"/>
            <a:lumMod val="104000"/>
          </a:schemeClr>
        </a:solidFill>
        <a:gradFill rotWithShape="1">
          <a:gsLst>
            <a:gs pos="0">
              <a:schemeClr val="phClr">
                <a:tint val="96000"/>
                <a:lumMod val="104000"/>
              </a:schemeClr>
            </a:gs>
            <a:gs pos="100000">
              <a:schemeClr val="phClr">
                <a:shade val="98000"/>
                <a:lumMod val="9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shade val="9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2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satMod val="92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Wisp" id="{7CB32D59-10C0-40DD-B7BD-2E94284A981C}" vid="{24B1A44C-C006-48B2-A4D7-E5549B3D8CD4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Wisp</Template>
  <TotalTime>3201</TotalTime>
  <Words>776</Words>
  <Application>Microsoft Macintosh PowerPoint</Application>
  <PresentationFormat>Widescreen</PresentationFormat>
  <Paragraphs>50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6" baseType="lpstr">
      <vt:lpstr>Arial</vt:lpstr>
      <vt:lpstr>Cambria Math</vt:lpstr>
      <vt:lpstr>Century Gothic</vt:lpstr>
      <vt:lpstr>Wingdings 3</vt:lpstr>
      <vt:lpstr>Wisp</vt:lpstr>
      <vt:lpstr>Temporal Difference Learning</vt:lpstr>
      <vt:lpstr>Temporal Difference Learning Vs. Monte Carlo Learning</vt:lpstr>
      <vt:lpstr>Formula for Updating v_π (s) </vt:lpstr>
      <vt:lpstr>TD(0) for Estimating v_π Given Policy π</vt:lpstr>
      <vt:lpstr>Advantages of TD Learning</vt:lpstr>
      <vt:lpstr>TD(0) Estimation of Q_π (S,A)</vt:lpstr>
      <vt:lpstr>SARSA for estimating  Q_π (S,A)</vt:lpstr>
      <vt:lpstr>SARSA for estimating (learning)  Q_π (S,A)</vt:lpstr>
      <vt:lpstr>Q Learning for 〖q_∗ (s,a)〗_</vt:lpstr>
      <vt:lpstr>Double Q Learning</vt:lpstr>
      <vt:lpstr>Double Q Learning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Temporal Difference Learning</dc:title>
  <dc:creator>Jugal Kalita</dc:creator>
  <cp:lastModifiedBy>Jugal Kalita</cp:lastModifiedBy>
  <cp:revision>3</cp:revision>
  <dcterms:created xsi:type="dcterms:W3CDTF">2024-02-26T20:08:58Z</dcterms:created>
  <dcterms:modified xsi:type="dcterms:W3CDTF">2026-02-24T23:28:16Z</dcterms:modified>
</cp:coreProperties>
</file>