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73" r:id="rId3"/>
    <p:sldId id="257" r:id="rId4"/>
    <p:sldId id="258" r:id="rId5"/>
    <p:sldId id="259" r:id="rId6"/>
    <p:sldId id="261" r:id="rId7"/>
    <p:sldId id="260" r:id="rId8"/>
    <p:sldId id="262" r:id="rId9"/>
    <p:sldId id="263" r:id="rId10"/>
    <p:sldId id="270" r:id="rId11"/>
    <p:sldId id="269" r:id="rId12"/>
    <p:sldId id="265" r:id="rId13"/>
    <p:sldId id="266" r:id="rId14"/>
    <p:sldId id="264" r:id="rId15"/>
    <p:sldId id="267" r:id="rId16"/>
    <p:sldId id="268" r:id="rId17"/>
    <p:sldId id="271" r:id="rId18"/>
    <p:sldId id="272" r:id="rId19"/>
    <p:sldId id="274" r:id="rId20"/>
    <p:sldId id="275" r:id="rId21"/>
    <p:sldId id="276" r:id="rId22"/>
    <p:sldId id="277" r:id="rId23"/>
    <p:sldId id="278" r:id="rId24"/>
    <p:sldId id="279" r:id="rId25"/>
    <p:sldId id="280" r:id="rId26"/>
    <p:sldId id="281" r:id="rId27"/>
    <p:sldId id="283"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9"/>
    <p:restoredTop sz="94682"/>
  </p:normalViewPr>
  <p:slideViewPr>
    <p:cSldViewPr snapToGrid="0">
      <p:cViewPr varScale="1">
        <p:scale>
          <a:sx n="111" d="100"/>
          <a:sy n="111" d="100"/>
        </p:scale>
        <p:origin x="216"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8062E1-7DD0-3741-8388-7D634BA58A97}" type="datetimeFigureOut">
              <a:rPr lang="en-US" smtClean="0"/>
              <a:t>3/19/26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90160C-FA72-3B49-9545-9AF0499D2888}" type="slidenum">
              <a:rPr lang="en-US" smtClean="0"/>
              <a:t>‹#›</a:t>
            </a:fld>
            <a:endParaRPr lang="en-US"/>
          </a:p>
        </p:txBody>
      </p:sp>
    </p:spTree>
    <p:extLst>
      <p:ext uri="{BB962C8B-B14F-4D97-AF65-F5344CB8AC3E}">
        <p14:creationId xmlns:p14="http://schemas.microsoft.com/office/powerpoint/2010/main" val="1233914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D661-E679-3CAE-9777-36CFA41334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A73804-09BE-644C-05FB-EF8EFC5997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321A2E-C9F2-685D-3986-6FD38A6DD42B}"/>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5" name="Footer Placeholder 4">
            <a:extLst>
              <a:ext uri="{FF2B5EF4-FFF2-40B4-BE49-F238E27FC236}">
                <a16:creationId xmlns:a16="http://schemas.microsoft.com/office/drawing/2014/main" id="{9A4C2301-58F8-B24D-DF33-4DD0742F14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42E3A-F18D-11E1-AB00-87EF1E9C9267}"/>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3512174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0374-EC08-60AA-0949-49E2C80F95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F21FCF-E437-2801-8803-B8D65D69AF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3D7990-3E55-D9C2-C172-C8EFC89189D3}"/>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5" name="Footer Placeholder 4">
            <a:extLst>
              <a:ext uri="{FF2B5EF4-FFF2-40B4-BE49-F238E27FC236}">
                <a16:creationId xmlns:a16="http://schemas.microsoft.com/office/drawing/2014/main" id="{76A70677-57E8-4822-8727-2ED677D66C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202D7-F658-24EC-8B37-09DC68A0BEED}"/>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3768382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D5051-510B-293D-4787-EE992B6B88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F0F9C6-7C29-E22D-EA79-3C4F278CBF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F27B24-BB14-4D89-3A14-F69EA019867B}"/>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5" name="Footer Placeholder 4">
            <a:extLst>
              <a:ext uri="{FF2B5EF4-FFF2-40B4-BE49-F238E27FC236}">
                <a16:creationId xmlns:a16="http://schemas.microsoft.com/office/drawing/2014/main" id="{E2D6EE2B-B256-66B8-D658-EBF0EC4F61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FC36A6-51CE-7186-27FA-F91A2E29A295}"/>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2417473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8D909-637B-75F3-0A7E-8033F60713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30452B-5593-A631-BE68-272869FB19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259611-843F-B435-4A7A-AD831CEDDF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61F92D-C095-1E15-E7BF-B834E3D1EFC3}"/>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6" name="Footer Placeholder 5">
            <a:extLst>
              <a:ext uri="{FF2B5EF4-FFF2-40B4-BE49-F238E27FC236}">
                <a16:creationId xmlns:a16="http://schemas.microsoft.com/office/drawing/2014/main" id="{317648E9-7E40-133A-D165-CFFDE60036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A97F67-5EA4-A63E-147B-995775E2531C}"/>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2291668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02FD-327C-4F7E-B841-94FFCB0164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490B7-3D32-CB6C-40E7-C7D859A51E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1F77FB-7D0F-5340-AEB5-F3FF3E7E72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75EFF6-B29F-3D9B-6835-4E5AA4A6AB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F487B3-4131-26F1-A709-44E5059858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D47C2-304F-EC87-D1A7-EB25A9773A2B}"/>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8" name="Footer Placeholder 7">
            <a:extLst>
              <a:ext uri="{FF2B5EF4-FFF2-40B4-BE49-F238E27FC236}">
                <a16:creationId xmlns:a16="http://schemas.microsoft.com/office/drawing/2014/main" id="{4DC30DEE-D0A4-4D06-50C6-943ED8D5CB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EA480B-4B39-E571-98B8-88964D7A5FB6}"/>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2092463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51607-7436-4A4F-50FE-7F64CF1A1B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D159F4-A32B-5697-66EF-0688E9F77DCE}"/>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4" name="Footer Placeholder 3">
            <a:extLst>
              <a:ext uri="{FF2B5EF4-FFF2-40B4-BE49-F238E27FC236}">
                <a16:creationId xmlns:a16="http://schemas.microsoft.com/office/drawing/2014/main" id="{0902B7B2-DC6F-FB48-95D1-47AA4444AD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619834-70D2-C30F-89B7-0CD83863779D}"/>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2445294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3340F-7B00-3236-0AC5-65A19B41F8FA}"/>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3" name="Footer Placeholder 2">
            <a:extLst>
              <a:ext uri="{FF2B5EF4-FFF2-40B4-BE49-F238E27FC236}">
                <a16:creationId xmlns:a16="http://schemas.microsoft.com/office/drawing/2014/main" id="{D21AF95E-3044-1B54-15B2-882A6217B4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E3A83B9-3998-83E9-752E-F0AD7DC68C6F}"/>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3359763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8D879-AF37-D543-9BCA-19B1337975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C01DB8-A9D2-CD6A-804A-9D11910F3F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4DCD9C-996E-F222-C792-61DDE1A50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F18BC5-24EC-C66F-F16C-C2042F7C386A}"/>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6" name="Footer Placeholder 5">
            <a:extLst>
              <a:ext uri="{FF2B5EF4-FFF2-40B4-BE49-F238E27FC236}">
                <a16:creationId xmlns:a16="http://schemas.microsoft.com/office/drawing/2014/main" id="{4162631F-53E3-8F26-0A39-B518BC6C1F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85D011-38C4-8105-F12E-EA6BA348E7E2}"/>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2776632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E7F6D-2E1F-272B-893E-A283885D42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7C2E18-5507-B31C-396C-F27ED69853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9B04BB-6713-EE61-F990-2D838D3D9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D43123-E15A-767C-F1F4-0C0FB83785FB}"/>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6" name="Footer Placeholder 5">
            <a:extLst>
              <a:ext uri="{FF2B5EF4-FFF2-40B4-BE49-F238E27FC236}">
                <a16:creationId xmlns:a16="http://schemas.microsoft.com/office/drawing/2014/main" id="{9821AE94-857D-5D4B-88BF-3E4AE31D52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CB092A-A80E-3688-3935-11A10D4C77F0}"/>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1447197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9B6A-A10C-526C-1A6C-FF66DCDC88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AB26CD-0D9F-0DFB-AA4B-B50F592A09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1049E-50F4-1785-81E6-8DD172D2BD19}"/>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5" name="Footer Placeholder 4">
            <a:extLst>
              <a:ext uri="{FF2B5EF4-FFF2-40B4-BE49-F238E27FC236}">
                <a16:creationId xmlns:a16="http://schemas.microsoft.com/office/drawing/2014/main" id="{0DDC3153-BF40-936A-F2B2-9BE9C7AA2C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3EF467-61F5-56D1-5174-3931919CD7DD}"/>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3494942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0A48F-F0B4-45B4-BB29-C55007D02D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4EE4AB-782F-E5ED-E9D3-B6B34A83DE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FB5670-9240-E24E-9A52-BCBBD0B70494}"/>
              </a:ext>
            </a:extLst>
          </p:cNvPr>
          <p:cNvSpPr>
            <a:spLocks noGrp="1"/>
          </p:cNvSpPr>
          <p:nvPr>
            <p:ph type="dt" sz="half" idx="10"/>
          </p:nvPr>
        </p:nvSpPr>
        <p:spPr/>
        <p:txBody>
          <a:bodyPr/>
          <a:lstStyle/>
          <a:p>
            <a:fld id="{CB085269-743F-7E41-B7C1-EEA4FAD9674F}" type="datetimeFigureOut">
              <a:rPr lang="en-US" smtClean="0"/>
              <a:t>3/17/26</a:t>
            </a:fld>
            <a:endParaRPr lang="en-US"/>
          </a:p>
        </p:txBody>
      </p:sp>
      <p:sp>
        <p:nvSpPr>
          <p:cNvPr id="5" name="Footer Placeholder 4">
            <a:extLst>
              <a:ext uri="{FF2B5EF4-FFF2-40B4-BE49-F238E27FC236}">
                <a16:creationId xmlns:a16="http://schemas.microsoft.com/office/drawing/2014/main" id="{6FA61369-F2BB-5145-3FA6-5588B8B014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02B044-E2EB-B368-B58E-88B1BFC27C6A}"/>
              </a:ext>
            </a:extLst>
          </p:cNvPr>
          <p:cNvSpPr>
            <a:spLocks noGrp="1"/>
          </p:cNvSpPr>
          <p:nvPr>
            <p:ph type="sldNum" sz="quarter" idx="12"/>
          </p:nvPr>
        </p:nvSpPr>
        <p:spPr/>
        <p:txBody>
          <a:bodyPr/>
          <a:lstStyle/>
          <a:p>
            <a:fld id="{8356CED1-2A81-4A40-A972-A02C51D4B36B}" type="slidenum">
              <a:rPr lang="en-US" smtClean="0"/>
              <a:t>‹#›</a:t>
            </a:fld>
            <a:endParaRPr lang="en-US"/>
          </a:p>
        </p:txBody>
      </p:sp>
    </p:spTree>
    <p:extLst>
      <p:ext uri="{BB962C8B-B14F-4D97-AF65-F5344CB8AC3E}">
        <p14:creationId xmlns:p14="http://schemas.microsoft.com/office/powerpoint/2010/main" val="279100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E380FF-422D-181F-C04E-85DA29BCD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4CE2D9-D84B-89C1-625F-E714BA960F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4279DA-2DA8-DA6C-08BF-218F28BA3B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085269-743F-7E41-B7C1-EEA4FAD9674F}" type="datetimeFigureOut">
              <a:rPr lang="en-US" smtClean="0"/>
              <a:t>3/17/26</a:t>
            </a:fld>
            <a:endParaRPr lang="en-US"/>
          </a:p>
        </p:txBody>
      </p:sp>
      <p:sp>
        <p:nvSpPr>
          <p:cNvPr id="5" name="Footer Placeholder 4">
            <a:extLst>
              <a:ext uri="{FF2B5EF4-FFF2-40B4-BE49-F238E27FC236}">
                <a16:creationId xmlns:a16="http://schemas.microsoft.com/office/drawing/2014/main" id="{61CB44DF-6380-97B6-5AEB-C84FBBEA70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9481367-F2F0-1AE9-A8EA-07407B0AA3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56CED1-2A81-4A40-A972-A02C51D4B36B}" type="slidenum">
              <a:rPr lang="en-US" smtClean="0"/>
              <a:t>‹#›</a:t>
            </a:fld>
            <a:endParaRPr lang="en-US"/>
          </a:p>
        </p:txBody>
      </p:sp>
    </p:spTree>
    <p:extLst>
      <p:ext uri="{BB962C8B-B14F-4D97-AF65-F5344CB8AC3E}">
        <p14:creationId xmlns:p14="http://schemas.microsoft.com/office/powerpoint/2010/main" val="2172017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fiShX2pTz9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sxzGhG_38p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opru6qPsPa4"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Ir1t57ItCpw&amp;t=236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dgTxca0pdac"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A9F71-7EB0-45B6-5BD1-9F3C13011E22}"/>
              </a:ext>
            </a:extLst>
          </p:cNvPr>
          <p:cNvSpPr>
            <a:spLocks noGrp="1"/>
          </p:cNvSpPr>
          <p:nvPr>
            <p:ph type="ctrTitle"/>
          </p:nvPr>
        </p:nvSpPr>
        <p:spPr>
          <a:xfrm>
            <a:off x="1616598" y="589928"/>
            <a:ext cx="9144000" cy="2387600"/>
          </a:xfrm>
        </p:spPr>
        <p:txBody>
          <a:bodyPr/>
          <a:lstStyle/>
          <a:p>
            <a:r>
              <a:rPr lang="en-US" dirty="0"/>
              <a:t>Deep Q-Learning and Atari Games  </a:t>
            </a:r>
          </a:p>
        </p:txBody>
      </p:sp>
      <p:sp>
        <p:nvSpPr>
          <p:cNvPr id="3" name="Subtitle 2">
            <a:extLst>
              <a:ext uri="{FF2B5EF4-FFF2-40B4-BE49-F238E27FC236}">
                <a16:creationId xmlns:a16="http://schemas.microsoft.com/office/drawing/2014/main" id="{DF7E8BE0-4591-B362-3086-F80B3861C03F}"/>
              </a:ext>
            </a:extLst>
          </p:cNvPr>
          <p:cNvSpPr>
            <a:spLocks noGrp="1"/>
          </p:cNvSpPr>
          <p:nvPr>
            <p:ph type="subTitle" idx="1"/>
          </p:nvPr>
        </p:nvSpPr>
        <p:spPr>
          <a:xfrm>
            <a:off x="1616598" y="2977528"/>
            <a:ext cx="8800617" cy="451472"/>
          </a:xfrm>
        </p:spPr>
        <p:txBody>
          <a:bodyPr/>
          <a:lstStyle/>
          <a:p>
            <a:r>
              <a:rPr lang="en-US" dirty="0" err="1"/>
              <a:t>Mnih</a:t>
            </a:r>
            <a:r>
              <a:rPr lang="en-US" dirty="0"/>
              <a:t> et al., 2013</a:t>
            </a:r>
          </a:p>
        </p:txBody>
      </p:sp>
      <p:pic>
        <p:nvPicPr>
          <p:cNvPr id="4" name="Picture 3">
            <a:extLst>
              <a:ext uri="{FF2B5EF4-FFF2-40B4-BE49-F238E27FC236}">
                <a16:creationId xmlns:a16="http://schemas.microsoft.com/office/drawing/2014/main" id="{B7458DEC-35B1-EC8E-C57D-54BC66937150}"/>
              </a:ext>
            </a:extLst>
          </p:cNvPr>
          <p:cNvPicPr>
            <a:picLocks noChangeAspect="1"/>
          </p:cNvPicPr>
          <p:nvPr/>
        </p:nvPicPr>
        <p:blipFill>
          <a:blip r:embed="rId2"/>
          <a:stretch>
            <a:fillRect/>
          </a:stretch>
        </p:blipFill>
        <p:spPr>
          <a:xfrm>
            <a:off x="624068" y="3988093"/>
            <a:ext cx="5660108" cy="1660353"/>
          </a:xfrm>
          <a:prstGeom prst="rect">
            <a:avLst/>
          </a:prstGeom>
        </p:spPr>
      </p:pic>
      <p:sp>
        <p:nvSpPr>
          <p:cNvPr id="5" name="TextBox 4">
            <a:extLst>
              <a:ext uri="{FF2B5EF4-FFF2-40B4-BE49-F238E27FC236}">
                <a16:creationId xmlns:a16="http://schemas.microsoft.com/office/drawing/2014/main" id="{4D4A6CF5-AFA2-F29F-4203-0F0D1CDEF833}"/>
              </a:ext>
            </a:extLst>
          </p:cNvPr>
          <p:cNvSpPr txBox="1"/>
          <p:nvPr/>
        </p:nvSpPr>
        <p:spPr>
          <a:xfrm>
            <a:off x="1111170" y="5903089"/>
            <a:ext cx="3703898" cy="369332"/>
          </a:xfrm>
          <a:prstGeom prst="rect">
            <a:avLst/>
          </a:prstGeom>
          <a:noFill/>
        </p:spPr>
        <p:txBody>
          <a:bodyPr wrap="square" rtlCol="0">
            <a:spAutoFit/>
          </a:bodyPr>
          <a:lstStyle/>
          <a:p>
            <a:r>
              <a:rPr lang="en-US" dirty="0"/>
              <a:t>Cited 40,745 times, 3/19/2026</a:t>
            </a:r>
          </a:p>
        </p:txBody>
      </p:sp>
      <p:pic>
        <p:nvPicPr>
          <p:cNvPr id="6" name="Picture 5">
            <a:extLst>
              <a:ext uri="{FF2B5EF4-FFF2-40B4-BE49-F238E27FC236}">
                <a16:creationId xmlns:a16="http://schemas.microsoft.com/office/drawing/2014/main" id="{0BECD19A-971D-F761-9D60-09432EF66C07}"/>
              </a:ext>
            </a:extLst>
          </p:cNvPr>
          <p:cNvPicPr>
            <a:picLocks noChangeAspect="1"/>
          </p:cNvPicPr>
          <p:nvPr/>
        </p:nvPicPr>
        <p:blipFill>
          <a:blip r:embed="rId3"/>
          <a:stretch>
            <a:fillRect/>
          </a:stretch>
        </p:blipFill>
        <p:spPr>
          <a:xfrm>
            <a:off x="6620549" y="3988093"/>
            <a:ext cx="4947383" cy="1535075"/>
          </a:xfrm>
          <a:prstGeom prst="rect">
            <a:avLst/>
          </a:prstGeom>
        </p:spPr>
      </p:pic>
      <p:sp>
        <p:nvSpPr>
          <p:cNvPr id="7" name="TextBox 6">
            <a:extLst>
              <a:ext uri="{FF2B5EF4-FFF2-40B4-BE49-F238E27FC236}">
                <a16:creationId xmlns:a16="http://schemas.microsoft.com/office/drawing/2014/main" id="{AE7F4ACF-F0AA-769B-F7BD-EF130ABE2779}"/>
              </a:ext>
            </a:extLst>
          </p:cNvPr>
          <p:cNvSpPr txBox="1"/>
          <p:nvPr/>
        </p:nvSpPr>
        <p:spPr>
          <a:xfrm>
            <a:off x="7376932" y="5903089"/>
            <a:ext cx="3703898" cy="369332"/>
          </a:xfrm>
          <a:prstGeom prst="rect">
            <a:avLst/>
          </a:prstGeom>
          <a:noFill/>
        </p:spPr>
        <p:txBody>
          <a:bodyPr wrap="square" rtlCol="0">
            <a:spAutoFit/>
          </a:bodyPr>
          <a:lstStyle/>
          <a:p>
            <a:r>
              <a:rPr lang="en-US" dirty="0"/>
              <a:t>Cited 20,260 times, 3/19/2026</a:t>
            </a:r>
          </a:p>
        </p:txBody>
      </p:sp>
    </p:spTree>
    <p:extLst>
      <p:ext uri="{BB962C8B-B14F-4D97-AF65-F5344CB8AC3E}">
        <p14:creationId xmlns:p14="http://schemas.microsoft.com/office/powerpoint/2010/main" val="1102001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AE8C7-8C87-F448-6BBA-F5B72DF9D5F0}"/>
              </a:ext>
            </a:extLst>
          </p:cNvPr>
          <p:cNvSpPr>
            <a:spLocks noGrp="1"/>
          </p:cNvSpPr>
          <p:nvPr>
            <p:ph type="title"/>
          </p:nvPr>
        </p:nvSpPr>
        <p:spPr/>
        <p:txBody>
          <a:bodyPr/>
          <a:lstStyle/>
          <a:p>
            <a:r>
              <a:rPr lang="en-US" dirty="0"/>
              <a:t>Deep Q-Learning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6A654B1-A6C8-543E-4AD1-D6832E93994E}"/>
                  </a:ext>
                </a:extLst>
              </p:cNvPr>
              <p:cNvSpPr>
                <a:spLocks noGrp="1"/>
              </p:cNvSpPr>
              <p:nvPr>
                <p:ph idx="1"/>
              </p:nvPr>
            </p:nvSpPr>
            <p:spPr/>
            <p:txBody>
              <a:bodyPr>
                <a:normAutofit fontScale="85000" lnSpcReduction="10000"/>
              </a:bodyPr>
              <a:lstStyle/>
              <a:p>
                <a:r>
                  <a:rPr lang="en-US" dirty="0"/>
                  <a:t>This paper discusses a deep learning implementation of Q-learning.</a:t>
                </a:r>
              </a:p>
              <a:p>
                <a:r>
                  <a:rPr lang="en-US" dirty="0"/>
                  <a:t>The paper overcomes shortcomings of approaches to using deep learning in Reinforcement Learning, specifically Q-learning. </a:t>
                </a:r>
              </a:p>
              <a:p>
                <a:r>
                  <a:rPr lang="en-US" dirty="0"/>
                  <a:t>The neural network needed is a “simple” convolutional neural network called the Q-network. </a:t>
                </a:r>
              </a:p>
              <a:p>
                <a:r>
                  <a:rPr lang="en-US" dirty="0"/>
                  <a:t>To achieve stability in learning, it uses a second neural network, called Target Network, which is a “copy” of the Q-network.</a:t>
                </a:r>
              </a:p>
              <a:p>
                <a:r>
                  <a:rPr lang="en-US" dirty="0"/>
                  <a:t>To achieve efficiency in learning, it uses Replay Memory and Batch Reinforcement Learning, whereby it stores prior experience in memory and picks random samples from memory to train as it performs actions using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 </m:t>
                    </m:r>
                  </m:oMath>
                </a14:m>
                <a:r>
                  <a:rPr lang="en-US" dirty="0"/>
                  <a:t>–greedy version the current “policy” as stored in the Q-network.</a:t>
                </a:r>
              </a:p>
              <a:p>
                <a:r>
                  <a:rPr lang="en-US" dirty="0"/>
                  <a:t> The resulting network performs better than humans in 6 out of 7 Atari games. </a:t>
                </a:r>
              </a:p>
            </p:txBody>
          </p:sp>
        </mc:Choice>
        <mc:Fallback>
          <p:sp>
            <p:nvSpPr>
              <p:cNvPr id="3" name="Content Placeholder 2">
                <a:extLst>
                  <a:ext uri="{FF2B5EF4-FFF2-40B4-BE49-F238E27FC236}">
                    <a16:creationId xmlns:a16="http://schemas.microsoft.com/office/drawing/2014/main" id="{76A654B1-A6C8-543E-4AD1-D6832E93994E}"/>
                  </a:ext>
                </a:extLst>
              </p:cNvPr>
              <p:cNvSpPr>
                <a:spLocks noGrp="1" noRot="1" noChangeAspect="1" noMove="1" noResize="1" noEditPoints="1" noAdjustHandles="1" noChangeArrowheads="1" noChangeShapeType="1" noTextEdit="1"/>
              </p:cNvSpPr>
              <p:nvPr>
                <p:ph idx="1"/>
              </p:nvPr>
            </p:nvSpPr>
            <p:spPr>
              <a:blipFill>
                <a:blip r:embed="rId2"/>
                <a:stretch>
                  <a:fillRect l="-844" t="-2616" r="-844" b="-1163"/>
                </a:stretch>
              </a:blipFill>
            </p:spPr>
            <p:txBody>
              <a:bodyPr/>
              <a:lstStyle/>
              <a:p>
                <a:r>
                  <a:rPr lang="en-US">
                    <a:noFill/>
                  </a:rPr>
                  <a:t> </a:t>
                </a:r>
              </a:p>
            </p:txBody>
          </p:sp>
        </mc:Fallback>
      </mc:AlternateContent>
    </p:spTree>
    <p:extLst>
      <p:ext uri="{BB962C8B-B14F-4D97-AF65-F5344CB8AC3E}">
        <p14:creationId xmlns:p14="http://schemas.microsoft.com/office/powerpoint/2010/main" val="2576541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2D841-DC26-0C8B-A56C-280FE820A439}"/>
              </a:ext>
            </a:extLst>
          </p:cNvPr>
          <p:cNvSpPr>
            <a:spLocks noGrp="1"/>
          </p:cNvSpPr>
          <p:nvPr>
            <p:ph type="title"/>
          </p:nvPr>
        </p:nvSpPr>
        <p:spPr/>
        <p:txBody>
          <a:bodyPr/>
          <a:lstStyle/>
          <a:p>
            <a:r>
              <a:rPr lang="en-US" dirty="0"/>
              <a:t>Atari Pong </a:t>
            </a:r>
          </a:p>
        </p:txBody>
      </p:sp>
      <p:sp>
        <p:nvSpPr>
          <p:cNvPr id="3" name="Content Placeholder 2">
            <a:extLst>
              <a:ext uri="{FF2B5EF4-FFF2-40B4-BE49-F238E27FC236}">
                <a16:creationId xmlns:a16="http://schemas.microsoft.com/office/drawing/2014/main" id="{04168B7A-F6FB-1F56-C5A3-6FCAFC4C902E}"/>
              </a:ext>
            </a:extLst>
          </p:cNvPr>
          <p:cNvSpPr>
            <a:spLocks noGrp="1"/>
          </p:cNvSpPr>
          <p:nvPr>
            <p:ph idx="1"/>
          </p:nvPr>
        </p:nvSpPr>
        <p:spPr/>
        <p:txBody>
          <a:bodyPr>
            <a:normAutofit fontScale="85000" lnSpcReduction="20000"/>
          </a:bodyPr>
          <a:lstStyle/>
          <a:p>
            <a:r>
              <a:rPr lang="en-US" b="1" i="1" dirty="0"/>
              <a:t>Pong</a:t>
            </a:r>
            <a:r>
              <a:rPr lang="en-US" dirty="0"/>
              <a:t> is a 1972 sports video game developed and published by Atari, Inc., for arcades.</a:t>
            </a:r>
          </a:p>
          <a:p>
            <a:r>
              <a:rPr lang="en-US" i="1" dirty="0"/>
              <a:t>Pong</a:t>
            </a:r>
            <a:r>
              <a:rPr lang="en-US" dirty="0"/>
              <a:t> was the first commercially successful video game, helping to establish the video game industry.</a:t>
            </a:r>
          </a:p>
          <a:p>
            <a:r>
              <a:rPr lang="en-US" dirty="0"/>
              <a:t>Pong is a two-dimensional sports game that simulates table tennis. </a:t>
            </a:r>
          </a:p>
          <a:p>
            <a:r>
              <a:rPr lang="en-US" dirty="0"/>
              <a:t>The player controls a paddle by moving it vertically across the left or right side of the screen. </a:t>
            </a:r>
          </a:p>
          <a:p>
            <a:r>
              <a:rPr lang="en-US" dirty="0"/>
              <a:t>They can compete against another player controlling a second paddle on the opposing side. Players use the paddles to hit a ball back and forth. </a:t>
            </a:r>
          </a:p>
          <a:p>
            <a:r>
              <a:rPr lang="en-US" dirty="0"/>
              <a:t>The goal is for each player to reach eleven points before the opponent; points are earned when one fails to return the ball to the other.</a:t>
            </a:r>
          </a:p>
          <a:p>
            <a:pPr marL="0" indent="0">
              <a:buNone/>
            </a:pPr>
            <a:endParaRPr lang="en-US" dirty="0"/>
          </a:p>
          <a:p>
            <a:r>
              <a:rPr lang="en-US" dirty="0">
                <a:hlinkClick r:id="rId2"/>
              </a:rPr>
              <a:t>https://www.youtube.com/watch?v=fiShX2pTz9A</a:t>
            </a:r>
            <a:r>
              <a:rPr lang="en-US" dirty="0"/>
              <a:t> </a:t>
            </a:r>
          </a:p>
          <a:p>
            <a:endParaRPr lang="en-US" dirty="0"/>
          </a:p>
        </p:txBody>
      </p:sp>
    </p:spTree>
    <p:extLst>
      <p:ext uri="{BB962C8B-B14F-4D97-AF65-F5344CB8AC3E}">
        <p14:creationId xmlns:p14="http://schemas.microsoft.com/office/powerpoint/2010/main" val="1782579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E94F2-A62E-9A24-7194-8F626BCCE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170DE-E8AE-B54C-A71E-4927DA4F1B5B}"/>
              </a:ext>
            </a:extLst>
          </p:cNvPr>
          <p:cNvSpPr>
            <a:spLocks noGrp="1"/>
          </p:cNvSpPr>
          <p:nvPr>
            <p:ph type="title"/>
          </p:nvPr>
        </p:nvSpPr>
        <p:spPr/>
        <p:txBody>
          <a:bodyPr/>
          <a:lstStyle/>
          <a:p>
            <a:r>
              <a:rPr lang="en-US" dirty="0"/>
              <a:t>Atari Breakout </a:t>
            </a:r>
          </a:p>
        </p:txBody>
      </p:sp>
      <p:sp>
        <p:nvSpPr>
          <p:cNvPr id="3" name="Content Placeholder 2">
            <a:extLst>
              <a:ext uri="{FF2B5EF4-FFF2-40B4-BE49-F238E27FC236}">
                <a16:creationId xmlns:a16="http://schemas.microsoft.com/office/drawing/2014/main" id="{0DC4E7AC-7A49-9C11-F84A-FE9AFF91D0ED}"/>
              </a:ext>
            </a:extLst>
          </p:cNvPr>
          <p:cNvSpPr>
            <a:spLocks noGrp="1"/>
          </p:cNvSpPr>
          <p:nvPr>
            <p:ph idx="1"/>
          </p:nvPr>
        </p:nvSpPr>
        <p:spPr/>
        <p:txBody>
          <a:bodyPr>
            <a:normAutofit/>
          </a:bodyPr>
          <a:lstStyle/>
          <a:p>
            <a:r>
              <a:rPr lang="en-US" b="1" dirty="0"/>
              <a:t>Breakout</a:t>
            </a:r>
            <a:r>
              <a:rPr lang="en-US" dirty="0"/>
              <a:t> is a 1976 action video game developed and published by Atari, Inc. for arcades.</a:t>
            </a:r>
          </a:p>
          <a:p>
            <a:r>
              <a:rPr lang="en-US" dirty="0"/>
              <a:t>Breakout begins with eight rows of bricks, with two rows each of a different color. </a:t>
            </a:r>
          </a:p>
          <a:p>
            <a:r>
              <a:rPr lang="en-US" dirty="0"/>
              <a:t>Using a single ball, the player must knock down as many bricks as possible by using the walls and the paddle below to hit the ball against the bricks and eliminate them</a:t>
            </a:r>
            <a:r>
              <a:rPr lang="en-US" i="1" dirty="0"/>
              <a:t>. </a:t>
            </a:r>
            <a:endParaRPr lang="en-US" dirty="0"/>
          </a:p>
          <a:p>
            <a:r>
              <a:rPr lang="en-US" dirty="0">
                <a:hlinkClick r:id="rId2"/>
              </a:rPr>
              <a:t>https://www.youtube.com/watch?v=sxzGhG_38pc</a:t>
            </a:r>
            <a:r>
              <a:rPr lang="en-US" dirty="0"/>
              <a:t> </a:t>
            </a:r>
          </a:p>
        </p:txBody>
      </p:sp>
    </p:spTree>
    <p:extLst>
      <p:ext uri="{BB962C8B-B14F-4D97-AF65-F5344CB8AC3E}">
        <p14:creationId xmlns:p14="http://schemas.microsoft.com/office/powerpoint/2010/main" val="1288240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8CF27-3999-BBA2-1595-1E2077F78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97473-3E67-8C3C-749C-973458E49B1D}"/>
              </a:ext>
            </a:extLst>
          </p:cNvPr>
          <p:cNvSpPr>
            <a:spLocks noGrp="1"/>
          </p:cNvSpPr>
          <p:nvPr>
            <p:ph type="title"/>
          </p:nvPr>
        </p:nvSpPr>
        <p:spPr/>
        <p:txBody>
          <a:bodyPr/>
          <a:lstStyle/>
          <a:p>
            <a:r>
              <a:rPr lang="en-US" dirty="0"/>
              <a:t>Atari Space Invaders </a:t>
            </a:r>
          </a:p>
        </p:txBody>
      </p:sp>
      <p:sp>
        <p:nvSpPr>
          <p:cNvPr id="3" name="Content Placeholder 2">
            <a:extLst>
              <a:ext uri="{FF2B5EF4-FFF2-40B4-BE49-F238E27FC236}">
                <a16:creationId xmlns:a16="http://schemas.microsoft.com/office/drawing/2014/main" id="{376376F9-F61A-AC68-55C8-DEEB9F87F038}"/>
              </a:ext>
            </a:extLst>
          </p:cNvPr>
          <p:cNvSpPr>
            <a:spLocks noGrp="1"/>
          </p:cNvSpPr>
          <p:nvPr>
            <p:ph idx="1"/>
          </p:nvPr>
        </p:nvSpPr>
        <p:spPr/>
        <p:txBody>
          <a:bodyPr>
            <a:normAutofit fontScale="92500"/>
          </a:bodyPr>
          <a:lstStyle/>
          <a:p>
            <a:r>
              <a:rPr lang="en-US" b="1" dirty="0"/>
              <a:t>Space Invaders </a:t>
            </a:r>
            <a:r>
              <a:rPr lang="en-US" dirty="0"/>
              <a:t>is a 1980 fixed shooter video game developed and published by Atari, Inc. for the Atari 2600 as a port of Taito's 1978 arcade game of the same name.</a:t>
            </a:r>
          </a:p>
          <a:p>
            <a:r>
              <a:rPr lang="en-US" dirty="0"/>
              <a:t>Space Invaders has the player at war with enemies from outer space. </a:t>
            </a:r>
          </a:p>
          <a:p>
            <a:r>
              <a:rPr lang="en-US" dirty="0"/>
              <a:t>The player uses the joystick to move left and right and presses the red button to fire a laser cannon. </a:t>
            </a:r>
          </a:p>
          <a:p>
            <a:r>
              <a:rPr lang="en-US" dirty="0"/>
              <a:t>The goal is to earn as many points as possible by destroying the enemies with a laser cannon and to eliminate them before they reach the bottom of the screen.</a:t>
            </a:r>
          </a:p>
          <a:p>
            <a:r>
              <a:rPr lang="en-US" dirty="0"/>
              <a:t> </a:t>
            </a:r>
            <a:r>
              <a:rPr lang="en-US" dirty="0">
                <a:hlinkClick r:id="rId2"/>
              </a:rPr>
              <a:t>https://www.youtube.com/watch?v=opru6qPsPa4</a:t>
            </a:r>
            <a:r>
              <a:rPr lang="en-US" dirty="0"/>
              <a:t> </a:t>
            </a:r>
          </a:p>
        </p:txBody>
      </p:sp>
    </p:spTree>
    <p:extLst>
      <p:ext uri="{BB962C8B-B14F-4D97-AF65-F5344CB8AC3E}">
        <p14:creationId xmlns:p14="http://schemas.microsoft.com/office/powerpoint/2010/main" val="3737512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D2596-8D84-CFA9-07FD-CE3BD9B0C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143C8-9813-62AB-6030-C5F10E1AA455}"/>
              </a:ext>
            </a:extLst>
          </p:cNvPr>
          <p:cNvSpPr>
            <a:spLocks noGrp="1"/>
          </p:cNvSpPr>
          <p:nvPr>
            <p:ph type="title"/>
          </p:nvPr>
        </p:nvSpPr>
        <p:spPr/>
        <p:txBody>
          <a:bodyPr/>
          <a:lstStyle/>
          <a:p>
            <a:r>
              <a:rPr lang="en-US" dirty="0"/>
              <a:t>Atari </a:t>
            </a:r>
            <a:r>
              <a:rPr lang="en-US" dirty="0" err="1"/>
              <a:t>Seaquest</a:t>
            </a:r>
            <a:endParaRPr lang="en-US" dirty="0"/>
          </a:p>
        </p:txBody>
      </p:sp>
      <p:sp>
        <p:nvSpPr>
          <p:cNvPr id="3" name="Content Placeholder 2">
            <a:extLst>
              <a:ext uri="{FF2B5EF4-FFF2-40B4-BE49-F238E27FC236}">
                <a16:creationId xmlns:a16="http://schemas.microsoft.com/office/drawing/2014/main" id="{74999F0E-6DBC-37BC-5302-597B8D648778}"/>
              </a:ext>
            </a:extLst>
          </p:cNvPr>
          <p:cNvSpPr>
            <a:spLocks noGrp="1"/>
          </p:cNvSpPr>
          <p:nvPr>
            <p:ph idx="1"/>
          </p:nvPr>
        </p:nvSpPr>
        <p:spPr/>
        <p:txBody>
          <a:bodyPr>
            <a:normAutofit fontScale="92500"/>
          </a:bodyPr>
          <a:lstStyle/>
          <a:p>
            <a:r>
              <a:rPr lang="en-US" b="1" dirty="0" err="1"/>
              <a:t>Seaquest</a:t>
            </a:r>
            <a:r>
              <a:rPr lang="en-US" b="1" dirty="0"/>
              <a:t> </a:t>
            </a:r>
            <a:r>
              <a:rPr lang="en-US" dirty="0"/>
              <a:t>is an Atari 2600 video game published by Activision in 1983. </a:t>
            </a:r>
          </a:p>
          <a:p>
            <a:r>
              <a:rPr lang="en-US" dirty="0"/>
              <a:t>The game is an underwater shooter in which the player controls a submarine on a mission to rescue divers.</a:t>
            </a:r>
          </a:p>
          <a:p>
            <a:r>
              <a:rPr lang="en-US" dirty="0"/>
              <a:t>The player uses a submarine to shoot at enemies and rescue divers. Hazards include sharks which attack divers and the player and enemy submarines, which can shoot torpedoes at the player's submarine.</a:t>
            </a:r>
          </a:p>
          <a:p>
            <a:r>
              <a:rPr lang="en-US" dirty="0"/>
              <a:t>The player must ward off the enemies by firing an unlimited supply of torpedoes while trying to rescue divers swimming through the water.</a:t>
            </a:r>
          </a:p>
          <a:p>
            <a:r>
              <a:rPr lang="en-US" dirty="0"/>
              <a:t> </a:t>
            </a:r>
            <a:r>
              <a:rPr lang="en-US" dirty="0">
                <a:hlinkClick r:id="rId2"/>
              </a:rPr>
              <a:t>https://www.youtube.com/watch?v=Ir1t57ItCpw&amp;t=236s</a:t>
            </a:r>
            <a:r>
              <a:rPr lang="en-US" dirty="0"/>
              <a:t> </a:t>
            </a:r>
          </a:p>
        </p:txBody>
      </p:sp>
    </p:spTree>
    <p:extLst>
      <p:ext uri="{BB962C8B-B14F-4D97-AF65-F5344CB8AC3E}">
        <p14:creationId xmlns:p14="http://schemas.microsoft.com/office/powerpoint/2010/main" val="3507638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C389E-4C17-2679-2CC4-8E162D8F2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5C7A0-D962-8741-B283-10A4698B77E6}"/>
              </a:ext>
            </a:extLst>
          </p:cNvPr>
          <p:cNvSpPr>
            <a:spLocks noGrp="1"/>
          </p:cNvSpPr>
          <p:nvPr>
            <p:ph type="title"/>
          </p:nvPr>
        </p:nvSpPr>
        <p:spPr/>
        <p:txBody>
          <a:bodyPr/>
          <a:lstStyle/>
          <a:p>
            <a:r>
              <a:rPr lang="en-US" dirty="0"/>
              <a:t>Atari Beam Rider</a:t>
            </a:r>
          </a:p>
        </p:txBody>
      </p:sp>
      <p:sp>
        <p:nvSpPr>
          <p:cNvPr id="3" name="Content Placeholder 2">
            <a:extLst>
              <a:ext uri="{FF2B5EF4-FFF2-40B4-BE49-F238E27FC236}">
                <a16:creationId xmlns:a16="http://schemas.microsoft.com/office/drawing/2014/main" id="{556A07F2-A3C1-64FC-015D-F404E7740F19}"/>
              </a:ext>
            </a:extLst>
          </p:cNvPr>
          <p:cNvSpPr>
            <a:spLocks noGrp="1"/>
          </p:cNvSpPr>
          <p:nvPr>
            <p:ph idx="1"/>
          </p:nvPr>
        </p:nvSpPr>
        <p:spPr/>
        <p:txBody>
          <a:bodyPr>
            <a:normAutofit fontScale="92500" lnSpcReduction="10000"/>
          </a:bodyPr>
          <a:lstStyle/>
          <a:p>
            <a:r>
              <a:rPr lang="en-US" b="1" dirty="0"/>
              <a:t>Beamrider </a:t>
            </a:r>
            <a:r>
              <a:rPr lang="en-US" dirty="0"/>
              <a:t>is a 1983 fixed shooter video game  published by Intellivision. The game was ported to the Atari 2600 (with a slightly reduced feature set).</a:t>
            </a:r>
          </a:p>
          <a:p>
            <a:r>
              <a:rPr lang="en-US" dirty="0"/>
              <a:t>Beamrider takes place above Earth's atmosphere, where a large alien shield called the Restrictor Shield surrounds the Earth. </a:t>
            </a:r>
          </a:p>
          <a:p>
            <a:r>
              <a:rPr lang="en-US" dirty="0"/>
              <a:t>The player's objective is to clear the Shield's 99 sectors of alien craft while piloting the Beamrider ship. </a:t>
            </a:r>
          </a:p>
          <a:p>
            <a:r>
              <a:rPr lang="en-US" dirty="0"/>
              <a:t>The Beamrider is equipped with a short-range laser lariat and a limited supply of torpedoes. The player is given three at the start of each sector. </a:t>
            </a:r>
          </a:p>
          <a:p>
            <a:r>
              <a:rPr lang="en-US" dirty="0">
                <a:hlinkClick r:id="rId2"/>
              </a:rPr>
              <a:t>https://www.youtube.com/watch?v=dgTxca0pdac</a:t>
            </a:r>
            <a:r>
              <a:rPr lang="en-US" dirty="0"/>
              <a:t> </a:t>
            </a:r>
          </a:p>
        </p:txBody>
      </p:sp>
    </p:spTree>
    <p:extLst>
      <p:ext uri="{BB962C8B-B14F-4D97-AF65-F5344CB8AC3E}">
        <p14:creationId xmlns:p14="http://schemas.microsoft.com/office/powerpoint/2010/main" val="650860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9A16A-7DDB-34A3-A858-195FB91D35D1}"/>
              </a:ext>
            </a:extLst>
          </p:cNvPr>
          <p:cNvSpPr>
            <a:spLocks noGrp="1"/>
          </p:cNvSpPr>
          <p:nvPr>
            <p:ph type="title"/>
          </p:nvPr>
        </p:nvSpPr>
        <p:spPr/>
        <p:txBody>
          <a:bodyPr/>
          <a:lstStyle/>
          <a:p>
            <a:r>
              <a:rPr lang="en-US" dirty="0"/>
              <a:t>Tabular Q-Learning</a:t>
            </a:r>
          </a:p>
        </p:txBody>
      </p:sp>
      <p:pic>
        <p:nvPicPr>
          <p:cNvPr id="4" name="Picture 3">
            <a:extLst>
              <a:ext uri="{FF2B5EF4-FFF2-40B4-BE49-F238E27FC236}">
                <a16:creationId xmlns:a16="http://schemas.microsoft.com/office/drawing/2014/main" id="{7616DFF4-4FB7-DA87-511C-97B78468704A}"/>
              </a:ext>
            </a:extLst>
          </p:cNvPr>
          <p:cNvPicPr>
            <a:picLocks noChangeAspect="1"/>
          </p:cNvPicPr>
          <p:nvPr/>
        </p:nvPicPr>
        <p:blipFill>
          <a:blip r:embed="rId2"/>
          <a:stretch>
            <a:fillRect/>
          </a:stretch>
        </p:blipFill>
        <p:spPr>
          <a:xfrm>
            <a:off x="1332470" y="1749780"/>
            <a:ext cx="7772400" cy="3298929"/>
          </a:xfrm>
          <a:prstGeom prst="rect">
            <a:avLst/>
          </a:prstGeom>
        </p:spPr>
      </p:pic>
      <p:sp>
        <p:nvSpPr>
          <p:cNvPr id="5" name="TextBox 4">
            <a:extLst>
              <a:ext uri="{FF2B5EF4-FFF2-40B4-BE49-F238E27FC236}">
                <a16:creationId xmlns:a16="http://schemas.microsoft.com/office/drawing/2014/main" id="{C8C2BC73-3396-24D1-2F1D-4F04E4B3FEDA}"/>
              </a:ext>
            </a:extLst>
          </p:cNvPr>
          <p:cNvSpPr txBox="1"/>
          <p:nvPr/>
        </p:nvSpPr>
        <p:spPr>
          <a:xfrm>
            <a:off x="1004673" y="5107801"/>
            <a:ext cx="8956932" cy="1200329"/>
          </a:xfrm>
          <a:prstGeom prst="rect">
            <a:avLst/>
          </a:prstGeom>
          <a:noFill/>
        </p:spPr>
        <p:txBody>
          <a:bodyPr wrap="square" rtlCol="0">
            <a:spAutoFit/>
          </a:bodyPr>
          <a:lstStyle/>
          <a:p>
            <a:r>
              <a:rPr lang="en-US" dirty="0"/>
              <a:t>The Q table is used in two places:</a:t>
            </a:r>
          </a:p>
          <a:p>
            <a:r>
              <a:rPr lang="en-US" dirty="0"/>
              <a:t>	To choose an action: </a:t>
            </a:r>
          </a:p>
          <a:p>
            <a:endParaRPr lang="en-US" dirty="0"/>
          </a:p>
          <a:p>
            <a:r>
              <a:rPr lang="en-US" dirty="0"/>
              <a:t>	To update Q table </a:t>
            </a:r>
            <a:r>
              <a:rPr lang="en-US" dirty="0" err="1"/>
              <a:t>ie</a:t>
            </a:r>
            <a:r>
              <a:rPr lang="en-US" dirty="0"/>
              <a:t>.,  learn new values:</a:t>
            </a:r>
          </a:p>
        </p:txBody>
      </p:sp>
      <p:pic>
        <p:nvPicPr>
          <p:cNvPr id="6" name="Picture 5">
            <a:extLst>
              <a:ext uri="{FF2B5EF4-FFF2-40B4-BE49-F238E27FC236}">
                <a16:creationId xmlns:a16="http://schemas.microsoft.com/office/drawing/2014/main" id="{4526BB78-52C4-0F3C-2401-729B65FB577B}"/>
              </a:ext>
            </a:extLst>
          </p:cNvPr>
          <p:cNvPicPr>
            <a:picLocks noChangeAspect="1"/>
          </p:cNvPicPr>
          <p:nvPr/>
        </p:nvPicPr>
        <p:blipFill>
          <a:blip r:embed="rId3"/>
          <a:stretch>
            <a:fillRect/>
          </a:stretch>
        </p:blipFill>
        <p:spPr>
          <a:xfrm>
            <a:off x="4061768" y="5488891"/>
            <a:ext cx="5600700" cy="292100"/>
          </a:xfrm>
          <a:prstGeom prst="rect">
            <a:avLst/>
          </a:prstGeom>
        </p:spPr>
      </p:pic>
      <p:pic>
        <p:nvPicPr>
          <p:cNvPr id="7" name="Picture 6">
            <a:extLst>
              <a:ext uri="{FF2B5EF4-FFF2-40B4-BE49-F238E27FC236}">
                <a16:creationId xmlns:a16="http://schemas.microsoft.com/office/drawing/2014/main" id="{546AEADB-540D-47AA-74DB-7C2E0A58DB2C}"/>
              </a:ext>
            </a:extLst>
          </p:cNvPr>
          <p:cNvPicPr>
            <a:picLocks noChangeAspect="1"/>
          </p:cNvPicPr>
          <p:nvPr/>
        </p:nvPicPr>
        <p:blipFill>
          <a:blip r:embed="rId4"/>
          <a:stretch>
            <a:fillRect/>
          </a:stretch>
        </p:blipFill>
        <p:spPr>
          <a:xfrm>
            <a:off x="4148266" y="6244029"/>
            <a:ext cx="5600700" cy="292100"/>
          </a:xfrm>
          <a:prstGeom prst="rect">
            <a:avLst/>
          </a:prstGeom>
        </p:spPr>
      </p:pic>
    </p:spTree>
    <p:extLst>
      <p:ext uri="{BB962C8B-B14F-4D97-AF65-F5344CB8AC3E}">
        <p14:creationId xmlns:p14="http://schemas.microsoft.com/office/powerpoint/2010/main" val="3704172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2C36-ABF0-B7C3-154B-E6622BEDC1C7}"/>
              </a:ext>
            </a:extLst>
          </p:cNvPr>
          <p:cNvSpPr>
            <a:spLocks noGrp="1"/>
          </p:cNvSpPr>
          <p:nvPr>
            <p:ph type="title"/>
          </p:nvPr>
        </p:nvSpPr>
        <p:spPr>
          <a:xfrm>
            <a:off x="838199" y="105633"/>
            <a:ext cx="10515600" cy="1325563"/>
          </a:xfrm>
        </p:spPr>
        <p:txBody>
          <a:bodyPr/>
          <a:lstStyle/>
          <a:p>
            <a:r>
              <a:rPr lang="en-US" dirty="0"/>
              <a:t>Deep Q-learning</a:t>
            </a:r>
          </a:p>
        </p:txBody>
      </p:sp>
      <p:pic>
        <p:nvPicPr>
          <p:cNvPr id="4" name="Picture 3">
            <a:extLst>
              <a:ext uri="{FF2B5EF4-FFF2-40B4-BE49-F238E27FC236}">
                <a16:creationId xmlns:a16="http://schemas.microsoft.com/office/drawing/2014/main" id="{A516D5F5-57A1-0145-13C4-3D7867418470}"/>
              </a:ext>
            </a:extLst>
          </p:cNvPr>
          <p:cNvPicPr>
            <a:picLocks noChangeAspect="1"/>
          </p:cNvPicPr>
          <p:nvPr/>
        </p:nvPicPr>
        <p:blipFill>
          <a:blip r:embed="rId2"/>
          <a:stretch>
            <a:fillRect/>
          </a:stretch>
        </p:blipFill>
        <p:spPr>
          <a:xfrm>
            <a:off x="1690816" y="1187418"/>
            <a:ext cx="7772400" cy="4483164"/>
          </a:xfrm>
          <a:prstGeom prst="rect">
            <a:avLst/>
          </a:prstGeom>
        </p:spPr>
      </p:pic>
      <p:sp>
        <p:nvSpPr>
          <p:cNvPr id="5" name="TextBox 4">
            <a:extLst>
              <a:ext uri="{FF2B5EF4-FFF2-40B4-BE49-F238E27FC236}">
                <a16:creationId xmlns:a16="http://schemas.microsoft.com/office/drawing/2014/main" id="{D3B4DF59-BED3-91DE-E6CC-15800DEF7D14}"/>
              </a:ext>
            </a:extLst>
          </p:cNvPr>
          <p:cNvSpPr txBox="1"/>
          <p:nvPr/>
        </p:nvSpPr>
        <p:spPr>
          <a:xfrm>
            <a:off x="1894702" y="5955956"/>
            <a:ext cx="8402595" cy="646331"/>
          </a:xfrm>
          <a:prstGeom prst="rect">
            <a:avLst/>
          </a:prstGeom>
          <a:noFill/>
        </p:spPr>
        <p:txBody>
          <a:bodyPr wrap="square" rtlCol="0">
            <a:spAutoFit/>
          </a:bodyPr>
          <a:lstStyle/>
          <a:p>
            <a:r>
              <a:rPr lang="en-US" dirty="0"/>
              <a:t>The Q-table is replaced by a neural network in the same two places582q	w34567p;’;p[;’.</a:t>
            </a:r>
          </a:p>
        </p:txBody>
      </p:sp>
    </p:spTree>
    <p:extLst>
      <p:ext uri="{BB962C8B-B14F-4D97-AF65-F5344CB8AC3E}">
        <p14:creationId xmlns:p14="http://schemas.microsoft.com/office/powerpoint/2010/main" val="471859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CFFF4-78A4-CB18-F80E-205953791378}"/>
              </a:ext>
            </a:extLst>
          </p:cNvPr>
          <p:cNvSpPr>
            <a:spLocks noGrp="1"/>
          </p:cNvSpPr>
          <p:nvPr>
            <p:ph type="title"/>
          </p:nvPr>
        </p:nvSpPr>
        <p:spPr/>
        <p:txBody>
          <a:bodyPr/>
          <a:lstStyle/>
          <a:p>
            <a:r>
              <a:rPr lang="en-US" dirty="0"/>
              <a:t>Tabular Q-learning Vs. DQN</a:t>
            </a:r>
          </a:p>
        </p:txBody>
      </p:sp>
      <p:pic>
        <p:nvPicPr>
          <p:cNvPr id="4" name="Picture 3">
            <a:extLst>
              <a:ext uri="{FF2B5EF4-FFF2-40B4-BE49-F238E27FC236}">
                <a16:creationId xmlns:a16="http://schemas.microsoft.com/office/drawing/2014/main" id="{AF2D0670-5838-7098-7190-BCCEEEAB1D63}"/>
              </a:ext>
            </a:extLst>
          </p:cNvPr>
          <p:cNvPicPr>
            <a:picLocks noChangeAspect="1"/>
          </p:cNvPicPr>
          <p:nvPr/>
        </p:nvPicPr>
        <p:blipFill>
          <a:blip r:embed="rId2"/>
          <a:stretch>
            <a:fillRect/>
          </a:stretch>
        </p:blipFill>
        <p:spPr>
          <a:xfrm>
            <a:off x="2214462" y="1498519"/>
            <a:ext cx="6883400" cy="4254500"/>
          </a:xfrm>
          <a:prstGeom prst="rect">
            <a:avLst/>
          </a:prstGeom>
        </p:spPr>
      </p:pic>
      <p:sp>
        <p:nvSpPr>
          <p:cNvPr id="5" name="TextBox 4">
            <a:extLst>
              <a:ext uri="{FF2B5EF4-FFF2-40B4-BE49-F238E27FC236}">
                <a16:creationId xmlns:a16="http://schemas.microsoft.com/office/drawing/2014/main" id="{00EAE961-171D-2CA8-F120-17533ABD583A}"/>
              </a:ext>
            </a:extLst>
          </p:cNvPr>
          <p:cNvSpPr txBox="1"/>
          <p:nvPr/>
        </p:nvSpPr>
        <p:spPr>
          <a:xfrm>
            <a:off x="2326511" y="5984111"/>
            <a:ext cx="7037408" cy="369332"/>
          </a:xfrm>
          <a:prstGeom prst="rect">
            <a:avLst/>
          </a:prstGeom>
          <a:noFill/>
        </p:spPr>
        <p:txBody>
          <a:bodyPr wrap="square" rtlCol="0">
            <a:spAutoFit/>
          </a:bodyPr>
          <a:lstStyle/>
          <a:p>
            <a:r>
              <a:rPr lang="en-US" dirty="0"/>
              <a:t>https://</a:t>
            </a:r>
            <a:r>
              <a:rPr lang="en-US" dirty="0" err="1"/>
              <a:t>thesequence.substack.com</a:t>
            </a:r>
            <a:r>
              <a:rPr lang="en-US" dirty="0"/>
              <a:t>/p/edge95</a:t>
            </a:r>
          </a:p>
        </p:txBody>
      </p:sp>
    </p:spTree>
    <p:extLst>
      <p:ext uri="{BB962C8B-B14F-4D97-AF65-F5344CB8AC3E}">
        <p14:creationId xmlns:p14="http://schemas.microsoft.com/office/powerpoint/2010/main" val="591624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34B95-5EB0-847C-E0E0-C30B6A0555E1}"/>
              </a:ext>
            </a:extLst>
          </p:cNvPr>
          <p:cNvSpPr>
            <a:spLocks noGrp="1"/>
          </p:cNvSpPr>
          <p:nvPr>
            <p:ph type="title"/>
          </p:nvPr>
        </p:nvSpPr>
        <p:spPr/>
        <p:txBody>
          <a:bodyPr/>
          <a:lstStyle/>
          <a:p>
            <a:r>
              <a:rPr lang="en-US" dirty="0"/>
              <a:t>DQN Architecture</a:t>
            </a:r>
          </a:p>
        </p:txBody>
      </p:sp>
      <p:pic>
        <p:nvPicPr>
          <p:cNvPr id="4" name="Picture 3">
            <a:extLst>
              <a:ext uri="{FF2B5EF4-FFF2-40B4-BE49-F238E27FC236}">
                <a16:creationId xmlns:a16="http://schemas.microsoft.com/office/drawing/2014/main" id="{FB49F8FF-31D4-8833-7264-997EFAEBABAA}"/>
              </a:ext>
            </a:extLst>
          </p:cNvPr>
          <p:cNvPicPr>
            <a:picLocks noChangeAspect="1"/>
          </p:cNvPicPr>
          <p:nvPr/>
        </p:nvPicPr>
        <p:blipFill>
          <a:blip r:embed="rId2"/>
          <a:stretch>
            <a:fillRect/>
          </a:stretch>
        </p:blipFill>
        <p:spPr>
          <a:xfrm>
            <a:off x="2036180" y="1690688"/>
            <a:ext cx="7772400" cy="4179185"/>
          </a:xfrm>
          <a:prstGeom prst="rect">
            <a:avLst/>
          </a:prstGeom>
        </p:spPr>
      </p:pic>
      <p:sp>
        <p:nvSpPr>
          <p:cNvPr id="6" name="TextBox 5">
            <a:extLst>
              <a:ext uri="{FF2B5EF4-FFF2-40B4-BE49-F238E27FC236}">
                <a16:creationId xmlns:a16="http://schemas.microsoft.com/office/drawing/2014/main" id="{E0811ED1-2D54-EC55-6C95-E7FA56968CEF}"/>
              </a:ext>
            </a:extLst>
          </p:cNvPr>
          <p:cNvSpPr txBox="1"/>
          <p:nvPr/>
        </p:nvSpPr>
        <p:spPr>
          <a:xfrm>
            <a:off x="312516" y="5671595"/>
            <a:ext cx="11879484" cy="307777"/>
          </a:xfrm>
          <a:prstGeom prst="rect">
            <a:avLst/>
          </a:prstGeom>
          <a:noFill/>
        </p:spPr>
        <p:txBody>
          <a:bodyPr wrap="square" rtlCol="0">
            <a:spAutoFit/>
          </a:bodyPr>
          <a:lstStyle/>
          <a:p>
            <a:r>
              <a:rPr lang="en-US" sz="1400" dirty="0"/>
              <a:t>https://</a:t>
            </a:r>
            <a:r>
              <a:rPr lang="en-US" sz="1400" dirty="0" err="1"/>
              <a:t>www.researchgate.net</a:t>
            </a:r>
            <a:r>
              <a:rPr lang="en-US" sz="1400" dirty="0"/>
              <a:t>/figure/A-standard-DQN-architecture-with-convolutional-layers-allows-comparisons-between-buffer_fig4_321962850</a:t>
            </a:r>
          </a:p>
        </p:txBody>
      </p:sp>
    </p:spTree>
    <p:extLst>
      <p:ext uri="{BB962C8B-B14F-4D97-AF65-F5344CB8AC3E}">
        <p14:creationId xmlns:p14="http://schemas.microsoft.com/office/powerpoint/2010/main" val="1066653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5F0C1-1A7E-8B30-5AEA-0B9C96E48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61907-21DB-1337-C538-F28E113E5EBC}"/>
              </a:ext>
            </a:extLst>
          </p:cNvPr>
          <p:cNvSpPr>
            <a:spLocks noGrp="1"/>
          </p:cNvSpPr>
          <p:nvPr>
            <p:ph type="title"/>
          </p:nvPr>
        </p:nvSpPr>
        <p:spPr/>
        <p:txBody>
          <a:bodyPr/>
          <a:lstStyle/>
          <a:p>
            <a:r>
              <a:rPr lang="en-US" dirty="0"/>
              <a:t>Challenges that DQN  addressed and “solved” </a:t>
            </a:r>
          </a:p>
        </p:txBody>
      </p:sp>
      <p:sp>
        <p:nvSpPr>
          <p:cNvPr id="3" name="Content Placeholder 2">
            <a:extLst>
              <a:ext uri="{FF2B5EF4-FFF2-40B4-BE49-F238E27FC236}">
                <a16:creationId xmlns:a16="http://schemas.microsoft.com/office/drawing/2014/main" id="{D5BDC17C-DC1F-FF06-60AD-1FBE35C9B8DA}"/>
              </a:ext>
            </a:extLst>
          </p:cNvPr>
          <p:cNvSpPr>
            <a:spLocks noGrp="1"/>
          </p:cNvSpPr>
          <p:nvPr>
            <p:ph idx="1"/>
          </p:nvPr>
        </p:nvSpPr>
        <p:spPr/>
        <p:txBody>
          <a:bodyPr>
            <a:normAutofit fontScale="77500" lnSpcReduction="20000"/>
          </a:bodyPr>
          <a:lstStyle/>
          <a:p>
            <a:r>
              <a:rPr lang="en-US" i="1" dirty="0"/>
              <a:t>Handle Complex State Descriptions</a:t>
            </a:r>
            <a:r>
              <a:rPr lang="en-US" dirty="0"/>
              <a:t>: The state descriptions are not simple integer indices any longer. The states are complex descriptions of the input-–may be unfiltered input like a game’s frames, or embeddings obtained from the inputs. Generally, the state descriptions are high dimensional. </a:t>
            </a:r>
          </a:p>
          <a:p>
            <a:r>
              <a:rPr lang="en-US" i="1" dirty="0"/>
              <a:t>Generalize to Large Numbers of States</a:t>
            </a:r>
            <a:r>
              <a:rPr lang="en-US" dirty="0"/>
              <a:t>: The Q-table in tabular formulation can store only a limited number of states, indexed by integer indices. However, in a complex problem where the input is described by an image or an embedding, the number of states is potentially “infinite.” The deep learning approach generalizes the input to previously unseen states on which the Q-learning approach has not been trained; this is because neural networks can provide an output based on a “similar” state that may have been seen in actual learning.  Tabular Q-learning requires “infinitely often” visits of states and state-action pairs. </a:t>
            </a:r>
          </a:p>
          <a:p>
            <a:r>
              <a:rPr lang="en-US" i="1" dirty="0"/>
              <a:t>Perform End-to-end Learning</a:t>
            </a:r>
            <a:r>
              <a:rPr lang="en-US" dirty="0"/>
              <a:t>: Neural networks are end-to-end learners. DQN was able to solve the problem of true hand-eye coordination in an end-to-end fashion from pixel to joystick. This had not been achieved by any computer program before. </a:t>
            </a:r>
          </a:p>
          <a:p>
            <a:endParaRPr lang="en-US" dirty="0"/>
          </a:p>
        </p:txBody>
      </p:sp>
    </p:spTree>
    <p:extLst>
      <p:ext uri="{BB962C8B-B14F-4D97-AF65-F5344CB8AC3E}">
        <p14:creationId xmlns:p14="http://schemas.microsoft.com/office/powerpoint/2010/main" val="93663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728E6-46F9-CD7C-53CD-F0B5705A6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8C1A8-E4D7-A4C2-EDE0-5363F4E0D1FC}"/>
              </a:ext>
            </a:extLst>
          </p:cNvPr>
          <p:cNvSpPr>
            <a:spLocks noGrp="1"/>
          </p:cNvSpPr>
          <p:nvPr>
            <p:ph type="title"/>
          </p:nvPr>
        </p:nvSpPr>
        <p:spPr/>
        <p:txBody>
          <a:bodyPr/>
          <a:lstStyle/>
          <a:p>
            <a:r>
              <a:rPr lang="en-US" dirty="0"/>
              <a:t>Challenges that DQN  addressed and “solved” </a:t>
            </a:r>
          </a:p>
        </p:txBody>
      </p:sp>
      <p:sp>
        <p:nvSpPr>
          <p:cNvPr id="3" name="Content Placeholder 2">
            <a:extLst>
              <a:ext uri="{FF2B5EF4-FFF2-40B4-BE49-F238E27FC236}">
                <a16:creationId xmlns:a16="http://schemas.microsoft.com/office/drawing/2014/main" id="{B98BCB93-73A4-7AA2-EBCF-0D14A960AD55}"/>
              </a:ext>
            </a:extLst>
          </p:cNvPr>
          <p:cNvSpPr>
            <a:spLocks noGrp="1"/>
          </p:cNvSpPr>
          <p:nvPr>
            <p:ph idx="1"/>
          </p:nvPr>
        </p:nvSpPr>
        <p:spPr/>
        <p:txBody>
          <a:bodyPr>
            <a:normAutofit/>
          </a:bodyPr>
          <a:lstStyle/>
          <a:p>
            <a:r>
              <a:rPr lang="en-US" i="1" dirty="0"/>
              <a:t>Correlations among Consecutive States in an Episode</a:t>
            </a:r>
            <a:r>
              <a:rPr lang="en-US" dirty="0"/>
              <a:t>: In a complex state space, the states (e.g., frames of a video game) change in a simple way from one to the next. Thus, learning from consecutive states is inefficient. </a:t>
            </a:r>
          </a:p>
          <a:p>
            <a:r>
              <a:rPr lang="en-US" i="1" dirty="0"/>
              <a:t>Solution to Slow Learning</a:t>
            </a:r>
            <a:r>
              <a:rPr lang="en-US" dirty="0"/>
              <a:t>: Learn from random training experiences , with smaller samples or batches of samples. Save agent experiences from episodes in a limited sized memory database. Randomly sample mini-experiences and train the neural network on these experiences. This breaks the problem of correlations. </a:t>
            </a:r>
          </a:p>
        </p:txBody>
      </p:sp>
    </p:spTree>
    <p:extLst>
      <p:ext uri="{BB962C8B-B14F-4D97-AF65-F5344CB8AC3E}">
        <p14:creationId xmlns:p14="http://schemas.microsoft.com/office/powerpoint/2010/main" val="2884017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D23A-552A-C046-ED1F-95CCCB36DCD6}"/>
              </a:ext>
            </a:extLst>
          </p:cNvPr>
          <p:cNvSpPr>
            <a:spLocks noGrp="1"/>
          </p:cNvSpPr>
          <p:nvPr>
            <p:ph type="title"/>
          </p:nvPr>
        </p:nvSpPr>
        <p:spPr/>
        <p:txBody>
          <a:bodyPr/>
          <a:lstStyle/>
          <a:p>
            <a:r>
              <a:rPr lang="en-US" dirty="0"/>
              <a:t>Challenges that DQN  addressed and “solved” </a:t>
            </a:r>
          </a:p>
        </p:txBody>
      </p:sp>
      <p:sp>
        <p:nvSpPr>
          <p:cNvPr id="3" name="Content Placeholder 2">
            <a:extLst>
              <a:ext uri="{FF2B5EF4-FFF2-40B4-BE49-F238E27FC236}">
                <a16:creationId xmlns:a16="http://schemas.microsoft.com/office/drawing/2014/main" id="{5158EC15-3D99-3753-882E-D64AE697959D}"/>
              </a:ext>
            </a:extLst>
          </p:cNvPr>
          <p:cNvSpPr>
            <a:spLocks noGrp="1"/>
          </p:cNvSpPr>
          <p:nvPr>
            <p:ph idx="1"/>
          </p:nvPr>
        </p:nvSpPr>
        <p:spPr/>
        <p:txBody>
          <a:bodyPr>
            <a:normAutofit fontScale="92500" lnSpcReduction="10000"/>
          </a:bodyPr>
          <a:lstStyle/>
          <a:p>
            <a:r>
              <a:rPr lang="en-US" i="1" dirty="0"/>
              <a:t>Address Instability in Deep RL</a:t>
            </a:r>
            <a:r>
              <a:rPr lang="en-US" dirty="0"/>
              <a:t>: When DQN was published, there were theoretical papers that showed the Deep RL is unstable, and the instability problem cannot be overcome. The instability comes because the Q-network’s values (target values) keep on changing when loss is computed. </a:t>
            </a:r>
          </a:p>
          <a:p>
            <a:r>
              <a:rPr lang="en-US" i="1" dirty="0"/>
              <a:t>Reason for Instability: Distinction from Supervised Learning</a:t>
            </a:r>
            <a:r>
              <a:rPr lang="en-US" dirty="0"/>
              <a:t>: This is unlike supervised learning, where the target value is fixed. For example, the class an example belongs to (in classification problems), and the value that should a regression problem should try to achieve, remain constant. </a:t>
            </a:r>
          </a:p>
          <a:p>
            <a:r>
              <a:rPr lang="en-US" i="1" dirty="0"/>
              <a:t>Solution to Address Instability</a:t>
            </a:r>
            <a:r>
              <a:rPr lang="en-US" dirty="0"/>
              <a:t>: Use replay buffer and perform batch reinforcement learning. </a:t>
            </a:r>
          </a:p>
        </p:txBody>
      </p:sp>
    </p:spTree>
    <p:extLst>
      <p:ext uri="{BB962C8B-B14F-4D97-AF65-F5344CB8AC3E}">
        <p14:creationId xmlns:p14="http://schemas.microsoft.com/office/powerpoint/2010/main" val="422801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CB63E-0A32-6320-00F2-78CCDC630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93C8A-85BF-6AD3-F958-3B134D18F986}"/>
              </a:ext>
            </a:extLst>
          </p:cNvPr>
          <p:cNvSpPr>
            <a:spLocks noGrp="1"/>
          </p:cNvSpPr>
          <p:nvPr>
            <p:ph type="title"/>
          </p:nvPr>
        </p:nvSpPr>
        <p:spPr/>
        <p:txBody>
          <a:bodyPr/>
          <a:lstStyle/>
          <a:p>
            <a:r>
              <a:rPr lang="en-US" dirty="0"/>
              <a:t>Replay Memory</a:t>
            </a:r>
          </a:p>
        </p:txBody>
      </p:sp>
      <p:sp>
        <p:nvSpPr>
          <p:cNvPr id="3" name="Content Placeholder 2">
            <a:extLst>
              <a:ext uri="{FF2B5EF4-FFF2-40B4-BE49-F238E27FC236}">
                <a16:creationId xmlns:a16="http://schemas.microsoft.com/office/drawing/2014/main" id="{4B0CA80A-528B-EF0B-36BF-0E259D138C72}"/>
              </a:ext>
            </a:extLst>
          </p:cNvPr>
          <p:cNvSpPr>
            <a:spLocks noGrp="1"/>
          </p:cNvSpPr>
          <p:nvPr>
            <p:ph idx="1"/>
          </p:nvPr>
        </p:nvSpPr>
        <p:spPr/>
        <p:txBody>
          <a:bodyPr>
            <a:normAutofit/>
          </a:bodyPr>
          <a:lstStyle/>
          <a:p>
            <a:r>
              <a:rPr lang="en-US" i="1" dirty="0"/>
              <a:t>Replay Memory </a:t>
            </a:r>
            <a:r>
              <a:rPr lang="en-US" dirty="0"/>
              <a:t>saves prior SARS tuples in a small-sized memory and learns from it, instead of learning from actions based on the agent’s current policy. </a:t>
            </a:r>
          </a:p>
          <a:p>
            <a:r>
              <a:rPr lang="en-US" i="1" dirty="0"/>
              <a:t>Picking random SARS samples </a:t>
            </a:r>
            <a:r>
              <a:rPr lang="en-US" dirty="0"/>
              <a:t>from Replay Buffer seems to break the correlation problem adequately. </a:t>
            </a:r>
          </a:p>
          <a:p>
            <a:r>
              <a:rPr lang="en-US" dirty="0"/>
              <a:t>The use of Replay Memory </a:t>
            </a:r>
            <a:r>
              <a:rPr lang="en-US" i="1" dirty="0"/>
              <a:t>decouples</a:t>
            </a:r>
            <a:r>
              <a:rPr lang="en-US" dirty="0"/>
              <a:t> learning from immediate prior acting, and jumbles learning and acting. </a:t>
            </a:r>
          </a:p>
          <a:p>
            <a:r>
              <a:rPr lang="en-US" dirty="0"/>
              <a:t>In addition, each SARS sample can be used multiple times during training, making learning possibly more resource/episode </a:t>
            </a:r>
            <a:r>
              <a:rPr lang="en-US" i="1" dirty="0"/>
              <a:t>efficient</a:t>
            </a:r>
            <a:r>
              <a:rPr lang="en-US" dirty="0"/>
              <a:t>. </a:t>
            </a:r>
          </a:p>
        </p:txBody>
      </p:sp>
    </p:spTree>
    <p:extLst>
      <p:ext uri="{BB962C8B-B14F-4D97-AF65-F5344CB8AC3E}">
        <p14:creationId xmlns:p14="http://schemas.microsoft.com/office/powerpoint/2010/main" val="2904317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776A5-66AB-A8B5-BA4E-D4C654643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22669-8590-38C9-E688-1AEA96B2261D}"/>
              </a:ext>
            </a:extLst>
          </p:cNvPr>
          <p:cNvSpPr>
            <a:spLocks noGrp="1"/>
          </p:cNvSpPr>
          <p:nvPr>
            <p:ph type="title"/>
          </p:nvPr>
        </p:nvSpPr>
        <p:spPr/>
        <p:txBody>
          <a:bodyPr/>
          <a:lstStyle/>
          <a:p>
            <a:r>
              <a:rPr lang="en-US" dirty="0"/>
              <a:t>Replay Memory</a:t>
            </a:r>
          </a:p>
        </p:txBody>
      </p:sp>
      <p:sp>
        <p:nvSpPr>
          <p:cNvPr id="3" name="Content Placeholder 2">
            <a:extLst>
              <a:ext uri="{FF2B5EF4-FFF2-40B4-BE49-F238E27FC236}">
                <a16:creationId xmlns:a16="http://schemas.microsoft.com/office/drawing/2014/main" id="{51DE58B2-6D12-BF46-7A36-D5790DAA27FD}"/>
              </a:ext>
            </a:extLst>
          </p:cNvPr>
          <p:cNvSpPr>
            <a:spLocks noGrp="1"/>
          </p:cNvSpPr>
          <p:nvPr>
            <p:ph idx="1"/>
          </p:nvPr>
        </p:nvSpPr>
        <p:spPr/>
        <p:txBody>
          <a:bodyPr>
            <a:normAutofit/>
          </a:bodyPr>
          <a:lstStyle/>
          <a:p>
            <a:r>
              <a:rPr lang="en-US" i="1" dirty="0"/>
              <a:t>Replay Memory </a:t>
            </a:r>
            <a:r>
              <a:rPr lang="en-US" dirty="0"/>
              <a:t>size used in DQN is limited, and prior SARS samples are overwritten by newer samples. </a:t>
            </a:r>
          </a:p>
          <a:p>
            <a:r>
              <a:rPr lang="en-US" dirty="0"/>
              <a:t>DQN picks samples from Replay Memory uniformly. Some samples may be more important from a learning perspective than others; DQN does not know how to handle this situation.</a:t>
            </a:r>
          </a:p>
          <a:p>
            <a:r>
              <a:rPr lang="en-US" dirty="0"/>
              <a:t>Other papers have discussed picking samples by some notion of “importance.” </a:t>
            </a:r>
          </a:p>
        </p:txBody>
      </p:sp>
    </p:spTree>
    <p:extLst>
      <p:ext uri="{BB962C8B-B14F-4D97-AF65-F5344CB8AC3E}">
        <p14:creationId xmlns:p14="http://schemas.microsoft.com/office/powerpoint/2010/main" val="1708451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11A17-C822-DFF6-3E77-5195A40E3831}"/>
              </a:ext>
            </a:extLst>
          </p:cNvPr>
          <p:cNvSpPr>
            <a:spLocks noGrp="1"/>
          </p:cNvSpPr>
          <p:nvPr>
            <p:ph type="title"/>
          </p:nvPr>
        </p:nvSpPr>
        <p:spPr/>
        <p:txBody>
          <a:bodyPr/>
          <a:lstStyle/>
          <a:p>
            <a:r>
              <a:rPr lang="en-US" dirty="0"/>
              <a:t>Use of Target Network: Another solution to Instability of Learning</a:t>
            </a:r>
          </a:p>
        </p:txBody>
      </p:sp>
      <p:pic>
        <p:nvPicPr>
          <p:cNvPr id="4" name="Picture 3">
            <a:extLst>
              <a:ext uri="{FF2B5EF4-FFF2-40B4-BE49-F238E27FC236}">
                <a16:creationId xmlns:a16="http://schemas.microsoft.com/office/drawing/2014/main" id="{62D5F2D3-3072-48FA-20ED-9DB54A23E918}"/>
              </a:ext>
            </a:extLst>
          </p:cNvPr>
          <p:cNvPicPr>
            <a:picLocks noChangeAspect="1"/>
          </p:cNvPicPr>
          <p:nvPr/>
        </p:nvPicPr>
        <p:blipFill>
          <a:blip r:embed="rId2"/>
          <a:stretch>
            <a:fillRect/>
          </a:stretch>
        </p:blipFill>
        <p:spPr>
          <a:xfrm>
            <a:off x="435359" y="1908043"/>
            <a:ext cx="6949753" cy="3543633"/>
          </a:xfrm>
          <a:prstGeom prst="rect">
            <a:avLst/>
          </a:prstGeom>
        </p:spPr>
      </p:pic>
      <p:sp>
        <p:nvSpPr>
          <p:cNvPr id="5" name="TextBox 4">
            <a:extLst>
              <a:ext uri="{FF2B5EF4-FFF2-40B4-BE49-F238E27FC236}">
                <a16:creationId xmlns:a16="http://schemas.microsoft.com/office/drawing/2014/main" id="{3C59C3BB-8990-441D-4C4F-9645F880AB0E}"/>
              </a:ext>
            </a:extLst>
          </p:cNvPr>
          <p:cNvSpPr txBox="1"/>
          <p:nvPr/>
        </p:nvSpPr>
        <p:spPr>
          <a:xfrm>
            <a:off x="162046" y="5846544"/>
            <a:ext cx="7604567" cy="523220"/>
          </a:xfrm>
          <a:prstGeom prst="rect">
            <a:avLst/>
          </a:prstGeom>
          <a:noFill/>
        </p:spPr>
        <p:txBody>
          <a:bodyPr wrap="square" rtlCol="0">
            <a:spAutoFit/>
          </a:bodyPr>
          <a:lstStyle/>
          <a:p>
            <a:r>
              <a:rPr lang="en-US" sz="1400" dirty="0"/>
              <a:t>https://</a:t>
            </a:r>
            <a:r>
              <a:rPr lang="en-US" sz="1400" dirty="0" err="1"/>
              <a:t>medium.com</a:t>
            </a:r>
            <a:r>
              <a:rPr lang="en-US" sz="1400" dirty="0"/>
              <a:t>/@</a:t>
            </a:r>
            <a:r>
              <a:rPr lang="en-US" sz="1400" dirty="0" err="1"/>
              <a:t>mcomeshernandez</a:t>
            </a:r>
            <a:r>
              <a:rPr lang="en-US" sz="1400" dirty="0"/>
              <a:t>/reinforcement-learning-diving-into-deep-q-networks-dqn-92f237f448ec</a:t>
            </a:r>
          </a:p>
        </p:txBody>
      </p:sp>
      <p:sp>
        <p:nvSpPr>
          <p:cNvPr id="6" name="TextBox 5">
            <a:extLst>
              <a:ext uri="{FF2B5EF4-FFF2-40B4-BE49-F238E27FC236}">
                <a16:creationId xmlns:a16="http://schemas.microsoft.com/office/drawing/2014/main" id="{663AA158-E0A6-400E-7BB2-7AD63EDE025E}"/>
              </a:ext>
            </a:extLst>
          </p:cNvPr>
          <p:cNvSpPr txBox="1"/>
          <p:nvPr/>
        </p:nvSpPr>
        <p:spPr>
          <a:xfrm>
            <a:off x="7616142" y="1027906"/>
            <a:ext cx="3900668" cy="5909310"/>
          </a:xfrm>
          <a:prstGeom prst="rect">
            <a:avLst/>
          </a:prstGeom>
          <a:noFill/>
        </p:spPr>
        <p:txBody>
          <a:bodyPr wrap="square" rtlCol="0">
            <a:spAutoFit/>
          </a:bodyPr>
          <a:lstStyle/>
          <a:p>
            <a:r>
              <a:rPr lang="en-US" dirty="0"/>
              <a:t>Theoretically, a single Q-network is enough for DQN.</a:t>
            </a:r>
          </a:p>
          <a:p>
            <a:endParaRPr lang="en-US" dirty="0"/>
          </a:p>
          <a:p>
            <a:r>
              <a:rPr lang="en-US" dirty="0"/>
              <a:t>However, in practice it it was found that the use of one network to act and to learn caused instability in learning because the target value to learn for loss computation was changing too quickly.</a:t>
            </a:r>
          </a:p>
          <a:p>
            <a:endParaRPr lang="en-US" dirty="0"/>
          </a:p>
          <a:p>
            <a:r>
              <a:rPr lang="en-US" dirty="0"/>
              <a:t>An innovation in Q-learning is to use to two networks: Q-network and Target network. </a:t>
            </a:r>
          </a:p>
          <a:p>
            <a:endParaRPr lang="en-US" dirty="0"/>
          </a:p>
          <a:p>
            <a:r>
              <a:rPr lang="en-US" dirty="0"/>
              <a:t>The Target network is the same as the Q-network, but the Q-network’s parameter values are copied over  to the Target network after a few cycles. Thus, the Target network’s values were more stable/less changing that the values in the Q-network. </a:t>
            </a:r>
          </a:p>
        </p:txBody>
      </p:sp>
    </p:spTree>
    <p:extLst>
      <p:ext uri="{BB962C8B-B14F-4D97-AF65-F5344CB8AC3E}">
        <p14:creationId xmlns:p14="http://schemas.microsoft.com/office/powerpoint/2010/main" val="3614846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4AD22-49B8-6049-831D-81F72BA63672}"/>
              </a:ext>
            </a:extLst>
          </p:cNvPr>
          <p:cNvSpPr>
            <a:spLocks noGrp="1"/>
          </p:cNvSpPr>
          <p:nvPr>
            <p:ph type="title"/>
          </p:nvPr>
        </p:nvSpPr>
        <p:spPr/>
        <p:txBody>
          <a:bodyPr/>
          <a:lstStyle/>
          <a:p>
            <a:r>
              <a:rPr lang="en-US" dirty="0"/>
              <a:t>Results of DQN Experiments</a:t>
            </a:r>
          </a:p>
        </p:txBody>
      </p:sp>
      <p:pic>
        <p:nvPicPr>
          <p:cNvPr id="4" name="Picture 3">
            <a:extLst>
              <a:ext uri="{FF2B5EF4-FFF2-40B4-BE49-F238E27FC236}">
                <a16:creationId xmlns:a16="http://schemas.microsoft.com/office/drawing/2014/main" id="{FC83748F-BAD9-6227-CBD6-66EC5F5DA6C3}"/>
              </a:ext>
            </a:extLst>
          </p:cNvPr>
          <p:cNvPicPr>
            <a:picLocks noChangeAspect="1"/>
          </p:cNvPicPr>
          <p:nvPr/>
        </p:nvPicPr>
        <p:blipFill>
          <a:blip r:embed="rId2"/>
          <a:stretch>
            <a:fillRect/>
          </a:stretch>
        </p:blipFill>
        <p:spPr>
          <a:xfrm>
            <a:off x="647218" y="1735015"/>
            <a:ext cx="7772400" cy="3387969"/>
          </a:xfrm>
          <a:prstGeom prst="rect">
            <a:avLst/>
          </a:prstGeom>
        </p:spPr>
      </p:pic>
      <p:sp>
        <p:nvSpPr>
          <p:cNvPr id="5" name="TextBox 4">
            <a:extLst>
              <a:ext uri="{FF2B5EF4-FFF2-40B4-BE49-F238E27FC236}">
                <a16:creationId xmlns:a16="http://schemas.microsoft.com/office/drawing/2014/main" id="{3110537C-9A16-CCB9-CB71-1986AC06B08A}"/>
              </a:ext>
            </a:extLst>
          </p:cNvPr>
          <p:cNvSpPr txBox="1"/>
          <p:nvPr/>
        </p:nvSpPr>
        <p:spPr>
          <a:xfrm>
            <a:off x="8750461" y="1886673"/>
            <a:ext cx="2407534" cy="2585323"/>
          </a:xfrm>
          <a:prstGeom prst="rect">
            <a:avLst/>
          </a:prstGeom>
          <a:noFill/>
        </p:spPr>
        <p:txBody>
          <a:bodyPr wrap="square" rtlCol="0">
            <a:spAutoFit/>
          </a:bodyPr>
          <a:lstStyle/>
          <a:p>
            <a:r>
              <a:rPr lang="en-US" dirty="0"/>
              <a:t>DQN performed better than all other SOTA approaches at the time.</a:t>
            </a:r>
          </a:p>
          <a:p>
            <a:endParaRPr lang="en-US" dirty="0"/>
          </a:p>
          <a:p>
            <a:r>
              <a:rPr lang="en-US" dirty="0"/>
              <a:t>DQN performed better than human best players at the time in 6 of 7 Atari games. </a:t>
            </a:r>
          </a:p>
        </p:txBody>
      </p:sp>
      <p:sp>
        <p:nvSpPr>
          <p:cNvPr id="6" name="TextBox 5">
            <a:extLst>
              <a:ext uri="{FF2B5EF4-FFF2-40B4-BE49-F238E27FC236}">
                <a16:creationId xmlns:a16="http://schemas.microsoft.com/office/drawing/2014/main" id="{8DD43991-AE1B-F7E9-E331-C8BB092897CC}"/>
              </a:ext>
            </a:extLst>
          </p:cNvPr>
          <p:cNvSpPr txBox="1"/>
          <p:nvPr/>
        </p:nvSpPr>
        <p:spPr>
          <a:xfrm>
            <a:off x="838200" y="5301205"/>
            <a:ext cx="7194630" cy="369332"/>
          </a:xfrm>
          <a:prstGeom prst="rect">
            <a:avLst/>
          </a:prstGeom>
          <a:noFill/>
        </p:spPr>
        <p:txBody>
          <a:bodyPr wrap="square" rtlCol="0">
            <a:spAutoFit/>
          </a:bodyPr>
          <a:lstStyle/>
          <a:p>
            <a:r>
              <a:rPr lang="en-US" dirty="0" err="1"/>
              <a:t>Mnih</a:t>
            </a:r>
            <a:r>
              <a:rPr lang="en-US" dirty="0"/>
              <a:t> et al., Playing Atari with Deep Reinforcement Learning, 2013</a:t>
            </a:r>
          </a:p>
        </p:txBody>
      </p:sp>
    </p:spTree>
    <p:extLst>
      <p:ext uri="{BB962C8B-B14F-4D97-AF65-F5344CB8AC3E}">
        <p14:creationId xmlns:p14="http://schemas.microsoft.com/office/powerpoint/2010/main" val="190622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AA472-9863-8349-189A-3B1336AA57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C0969-C849-0537-17DB-4113166C5A55}"/>
              </a:ext>
            </a:extLst>
          </p:cNvPr>
          <p:cNvSpPr>
            <a:spLocks noGrp="1"/>
          </p:cNvSpPr>
          <p:nvPr>
            <p:ph type="ctrTitle"/>
          </p:nvPr>
        </p:nvSpPr>
        <p:spPr/>
        <p:txBody>
          <a:bodyPr/>
          <a:lstStyle/>
          <a:p>
            <a:r>
              <a:rPr lang="en-US" dirty="0"/>
              <a:t>Double Deep Q-Learning</a:t>
            </a:r>
          </a:p>
        </p:txBody>
      </p:sp>
      <p:pic>
        <p:nvPicPr>
          <p:cNvPr id="4" name="Picture 3">
            <a:extLst>
              <a:ext uri="{FF2B5EF4-FFF2-40B4-BE49-F238E27FC236}">
                <a16:creationId xmlns:a16="http://schemas.microsoft.com/office/drawing/2014/main" id="{54B47D8B-B3BA-4691-C256-99ECB9B583DF}"/>
              </a:ext>
            </a:extLst>
          </p:cNvPr>
          <p:cNvPicPr>
            <a:picLocks noChangeAspect="1"/>
          </p:cNvPicPr>
          <p:nvPr/>
        </p:nvPicPr>
        <p:blipFill>
          <a:blip r:embed="rId2"/>
          <a:stretch>
            <a:fillRect/>
          </a:stretch>
        </p:blipFill>
        <p:spPr>
          <a:xfrm>
            <a:off x="2517494" y="3509963"/>
            <a:ext cx="6684380" cy="2384096"/>
          </a:xfrm>
          <a:prstGeom prst="rect">
            <a:avLst/>
          </a:prstGeom>
        </p:spPr>
      </p:pic>
      <p:sp>
        <p:nvSpPr>
          <p:cNvPr id="6" name="TextBox 5">
            <a:extLst>
              <a:ext uri="{FF2B5EF4-FFF2-40B4-BE49-F238E27FC236}">
                <a16:creationId xmlns:a16="http://schemas.microsoft.com/office/drawing/2014/main" id="{5B41D9F4-49E4-9F7D-6FF5-0F8F1159FD7C}"/>
              </a:ext>
            </a:extLst>
          </p:cNvPr>
          <p:cNvSpPr txBox="1"/>
          <p:nvPr/>
        </p:nvSpPr>
        <p:spPr>
          <a:xfrm>
            <a:off x="4007735" y="6066375"/>
            <a:ext cx="3703898" cy="369332"/>
          </a:xfrm>
          <a:prstGeom prst="rect">
            <a:avLst/>
          </a:prstGeom>
          <a:noFill/>
        </p:spPr>
        <p:txBody>
          <a:bodyPr wrap="square" rtlCol="0">
            <a:spAutoFit/>
          </a:bodyPr>
          <a:lstStyle/>
          <a:p>
            <a:r>
              <a:rPr lang="en-US" dirty="0"/>
              <a:t>Cited 12,972 times, 3/19/2026</a:t>
            </a:r>
          </a:p>
        </p:txBody>
      </p:sp>
    </p:spTree>
    <p:extLst>
      <p:ext uri="{BB962C8B-B14F-4D97-AF65-F5344CB8AC3E}">
        <p14:creationId xmlns:p14="http://schemas.microsoft.com/office/powerpoint/2010/main" val="666778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7671B-DB44-E604-00CB-2FEDEC926297}"/>
              </a:ext>
            </a:extLst>
          </p:cNvPr>
          <p:cNvSpPr>
            <a:spLocks noGrp="1"/>
          </p:cNvSpPr>
          <p:nvPr>
            <p:ph type="title"/>
          </p:nvPr>
        </p:nvSpPr>
        <p:spPr/>
        <p:txBody>
          <a:bodyPr/>
          <a:lstStyle/>
          <a:p>
            <a:r>
              <a:rPr lang="en-US" dirty="0"/>
              <a:t>Summary of DDQN</a:t>
            </a:r>
          </a:p>
        </p:txBody>
      </p:sp>
      <p:sp>
        <p:nvSpPr>
          <p:cNvPr id="3" name="Content Placeholder 2">
            <a:extLst>
              <a:ext uri="{FF2B5EF4-FFF2-40B4-BE49-F238E27FC236}">
                <a16:creationId xmlns:a16="http://schemas.microsoft.com/office/drawing/2014/main" id="{B59F13BF-AC64-EA03-C022-CB4E75FB1773}"/>
              </a:ext>
            </a:extLst>
          </p:cNvPr>
          <p:cNvSpPr>
            <a:spLocks noGrp="1"/>
          </p:cNvSpPr>
          <p:nvPr>
            <p:ph idx="1"/>
          </p:nvPr>
        </p:nvSpPr>
        <p:spPr/>
        <p:txBody>
          <a:bodyPr>
            <a:normAutofit fontScale="92500" lnSpcReduction="10000"/>
          </a:bodyPr>
          <a:lstStyle/>
          <a:p>
            <a:r>
              <a:rPr lang="en-US" dirty="0"/>
              <a:t>Q-learning algorithm is known to overestimate action values. </a:t>
            </a:r>
          </a:p>
          <a:p>
            <a:r>
              <a:rPr lang="en-US" dirty="0"/>
              <a:t>It was not previously known whether, such overestimations are common, whether they harm performance, and whether they can generally be prevented. </a:t>
            </a:r>
          </a:p>
          <a:p>
            <a:r>
              <a:rPr lang="en-US" dirty="0"/>
              <a:t>In this paper, the authors answer all these questions affirmatively. </a:t>
            </a:r>
          </a:p>
          <a:p>
            <a:r>
              <a:rPr lang="en-US" dirty="0"/>
              <a:t>In particular, the authors first show that the DQN algorithm, suffers from substantial overestimations in some games in the Atari 2600 domain. </a:t>
            </a:r>
          </a:p>
          <a:p>
            <a:r>
              <a:rPr lang="en-US" dirty="0"/>
              <a:t>The paper proposes an adaptation to the DQN algorithm with two Q-networks and shows that the resulting algorithm reduces overestimations, and performs much better in several games. </a:t>
            </a:r>
          </a:p>
          <a:p>
            <a:endParaRPr lang="en-US" dirty="0"/>
          </a:p>
        </p:txBody>
      </p:sp>
    </p:spTree>
    <p:extLst>
      <p:ext uri="{BB962C8B-B14F-4D97-AF65-F5344CB8AC3E}">
        <p14:creationId xmlns:p14="http://schemas.microsoft.com/office/powerpoint/2010/main" val="1300850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4B62-BEA7-A850-CA3F-C3C87AD0DD77}"/>
              </a:ext>
            </a:extLst>
          </p:cNvPr>
          <p:cNvSpPr>
            <a:spLocks noGrp="1"/>
          </p:cNvSpPr>
          <p:nvPr>
            <p:ph type="title"/>
          </p:nvPr>
        </p:nvSpPr>
        <p:spPr/>
        <p:txBody>
          <a:bodyPr/>
          <a:lstStyle/>
          <a:p>
            <a:r>
              <a:rPr lang="en-US" dirty="0"/>
              <a:t>Overestimation by DQN</a:t>
            </a:r>
          </a:p>
        </p:txBody>
      </p:sp>
      <p:pic>
        <p:nvPicPr>
          <p:cNvPr id="5" name="Picture 4">
            <a:extLst>
              <a:ext uri="{FF2B5EF4-FFF2-40B4-BE49-F238E27FC236}">
                <a16:creationId xmlns:a16="http://schemas.microsoft.com/office/drawing/2014/main" id="{507755B2-FE75-DB20-8786-8F576C4759C5}"/>
              </a:ext>
            </a:extLst>
          </p:cNvPr>
          <p:cNvPicPr>
            <a:picLocks noChangeAspect="1"/>
          </p:cNvPicPr>
          <p:nvPr/>
        </p:nvPicPr>
        <p:blipFill>
          <a:blip r:embed="rId2"/>
          <a:stretch>
            <a:fillRect/>
          </a:stretch>
        </p:blipFill>
        <p:spPr>
          <a:xfrm>
            <a:off x="595132" y="1435261"/>
            <a:ext cx="7212909" cy="5251584"/>
          </a:xfrm>
          <a:prstGeom prst="rect">
            <a:avLst/>
          </a:prstGeom>
        </p:spPr>
      </p:pic>
      <p:sp>
        <p:nvSpPr>
          <p:cNvPr id="6" name="TextBox 5">
            <a:extLst>
              <a:ext uri="{FF2B5EF4-FFF2-40B4-BE49-F238E27FC236}">
                <a16:creationId xmlns:a16="http://schemas.microsoft.com/office/drawing/2014/main" id="{9C10CBBA-3357-E817-193A-098BDB065FA8}"/>
              </a:ext>
            </a:extLst>
          </p:cNvPr>
          <p:cNvSpPr txBox="1"/>
          <p:nvPr/>
        </p:nvSpPr>
        <p:spPr>
          <a:xfrm>
            <a:off x="8576841" y="1377387"/>
            <a:ext cx="3044141" cy="4524315"/>
          </a:xfrm>
          <a:prstGeom prst="rect">
            <a:avLst/>
          </a:prstGeom>
          <a:noFill/>
        </p:spPr>
        <p:txBody>
          <a:bodyPr wrap="square" rtlCol="0">
            <a:spAutoFit/>
          </a:bodyPr>
          <a:lstStyle/>
          <a:p>
            <a:r>
              <a:rPr lang="en-US" i="1" dirty="0"/>
              <a:t>Top Row</a:t>
            </a:r>
            <a:r>
              <a:rPr lang="en-US" dirty="0"/>
              <a:t>: Orange graph shows range of Q-values obtained by DQN in several game plays. Blue shows Q-values obtained by DDQN</a:t>
            </a:r>
          </a:p>
          <a:p>
            <a:endParaRPr lang="en-US" dirty="0"/>
          </a:p>
          <a:p>
            <a:r>
              <a:rPr lang="en-US" i="1" dirty="0"/>
              <a:t>Middle Row</a:t>
            </a:r>
            <a:r>
              <a:rPr lang="en-US" dirty="0"/>
              <a:t>: The same as top row. Moreover, DQN’s Q-values are unstable often. </a:t>
            </a:r>
          </a:p>
          <a:p>
            <a:endParaRPr lang="en-US" dirty="0"/>
          </a:p>
          <a:p>
            <a:r>
              <a:rPr lang="en-US" i="1" dirty="0"/>
              <a:t>Bottom Row</a:t>
            </a:r>
            <a:r>
              <a:rPr lang="en-US" dirty="0"/>
              <a:t>: Shows that the actual game scores fall when overestimation of Q-values happen. </a:t>
            </a:r>
          </a:p>
          <a:p>
            <a:endParaRPr lang="en-US" dirty="0"/>
          </a:p>
          <a:p>
            <a:endParaRPr lang="en-US" dirty="0"/>
          </a:p>
        </p:txBody>
      </p:sp>
    </p:spTree>
    <p:extLst>
      <p:ext uri="{BB962C8B-B14F-4D97-AF65-F5344CB8AC3E}">
        <p14:creationId xmlns:p14="http://schemas.microsoft.com/office/powerpoint/2010/main" val="529651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E732A-C862-2D59-6D8D-D153E92DEADD}"/>
              </a:ext>
            </a:extLst>
          </p:cNvPr>
          <p:cNvSpPr>
            <a:spLocks noGrp="1"/>
          </p:cNvSpPr>
          <p:nvPr>
            <p:ph type="title"/>
          </p:nvPr>
        </p:nvSpPr>
        <p:spPr/>
        <p:txBody>
          <a:bodyPr/>
          <a:lstStyle/>
          <a:p>
            <a:r>
              <a:rPr lang="en-US" dirty="0"/>
              <a:t>DDQN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742F076-982D-3357-BA82-F24FF1318CBC}"/>
                  </a:ext>
                </a:extLst>
              </p:cNvPr>
              <p:cNvSpPr>
                <a:spLocks noGrp="1"/>
              </p:cNvSpPr>
              <p:nvPr>
                <p:ph idx="1"/>
              </p:nvPr>
            </p:nvSpPr>
            <p:spPr>
              <a:xfrm>
                <a:off x="838200" y="1455235"/>
                <a:ext cx="10331370" cy="4922416"/>
              </a:xfrm>
            </p:spPr>
            <p:txBody>
              <a:bodyPr>
                <a:normAutofit fontScale="85000" lnSpcReduction="20000"/>
              </a:bodyPr>
              <a:lstStyle/>
              <a:p>
                <a:r>
                  <a:rPr lang="en-US" dirty="0"/>
                  <a:t>In Double Deep Q-learning, just like Double Q-learning, two value functions are learned by assigning experiences randomly to up- date one of the two value functions, resulting in two sets of weights,  </a:t>
                </a:r>
                <a14:m>
                  <m:oMath xmlns:m="http://schemas.openxmlformats.org/officeDocument/2006/math">
                    <m:r>
                      <a:rPr lang="en-US" b="0" i="1" smtClean="0">
                        <a:latin typeface="Cambria Math" panose="02040503050406030204" pitchFamily="18" charset="0"/>
                      </a:rPr>
                      <m:t>𝜃</m:t>
                    </m:r>
                  </m:oMath>
                </a14:m>
                <a:r>
                  <a:rPr lang="el-GR" dirty="0"/>
                  <a:t> </a:t>
                </a:r>
                <a:r>
                  <a:rPr lang="en-US" dirty="0"/>
                  <a:t>and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oMath>
                </a14:m>
                <a:r>
                  <a:rPr lang="el-GR" dirty="0"/>
                  <a:t>. </a:t>
                </a:r>
                <a:endParaRPr lang="en-US" dirty="0"/>
              </a:p>
              <a:p>
                <a:r>
                  <a:rPr lang="en-US" dirty="0"/>
                  <a:t>In other words, we have two neural networks, one to learn Q-values from a random half of the experiences, and the other to learn Q-values from the other half of the experiences.</a:t>
                </a:r>
              </a:p>
              <a:p>
                <a:r>
                  <a:rPr lang="en-US" dirty="0"/>
                  <a:t>Use Q-values from one network to perform actions, and the other network to learn Q-values. </a:t>
                </a:r>
              </a:p>
              <a:p>
                <a:pPr lvl="1"/>
                <a:r>
                  <a:rPr lang="en-US" dirty="0"/>
                  <a:t>a) Use </a:t>
                </a:r>
                <a14:m>
                  <m:oMath xmlns:m="http://schemas.openxmlformats.org/officeDocument/2006/math">
                    <m:r>
                      <a:rPr lang="en-US" b="0" i="1" smtClean="0">
                        <a:latin typeface="Cambria Math" panose="02040503050406030204" pitchFamily="18" charset="0"/>
                      </a:rPr>
                      <m:t>𝜃</m:t>
                    </m:r>
                  </m:oMath>
                </a14:m>
                <a:r>
                  <a:rPr lang="en-US" dirty="0"/>
                  <a:t> to perform greedy actions by finding Q-values and action with maximum Q-value in a state, and b) use Q-values obtained from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𝜃</m:t>
                        </m:r>
                      </m:e>
                      <m:sup>
                        <m:r>
                          <a:rPr lang="en-US" b="0" i="1" smtClean="0">
                            <a:latin typeface="Cambria Math" panose="02040503050406030204" pitchFamily="18" charset="0"/>
                          </a:rPr>
                          <m:t>′</m:t>
                        </m:r>
                      </m:sup>
                    </m:sSup>
                  </m:oMath>
                </a14:m>
                <a:r>
                  <a:rPr lang="en-US" dirty="0"/>
                  <a:t> to update parameters in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 </m:t>
                    </m:r>
                  </m:oMath>
                </a14:m>
                <a:r>
                  <a:rPr lang="en-US" dirty="0"/>
                  <a:t>by computing loss. </a:t>
                </a:r>
              </a:p>
              <a:p>
                <a:pPr lvl="1"/>
                <a:r>
                  <a:rPr lang="en-US" dirty="0"/>
                  <a:t>a) Use</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𝜃</m:t>
                        </m:r>
                      </m:e>
                      <m:sup>
                        <m:r>
                          <a:rPr lang="en-US" b="0" i="1" smtClean="0">
                            <a:latin typeface="Cambria Math" panose="02040503050406030204" pitchFamily="18" charset="0"/>
                          </a:rPr>
                          <m:t>′</m:t>
                        </m:r>
                      </m:sup>
                    </m:sSup>
                  </m:oMath>
                </a14:m>
                <a:r>
                  <a:rPr lang="en-US" dirty="0"/>
                  <a:t> to perform greedy actions by finding Q-values and action with maximum Q-value in a state, and b) use Q-values obtained from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 </m:t>
                    </m:r>
                  </m:oMath>
                </a14:m>
                <a:r>
                  <a:rPr lang="en-US" dirty="0"/>
                  <a:t>to update parameters in</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𝜃</m:t>
                        </m:r>
                      </m:e>
                      <m:sup>
                        <m:r>
                          <a:rPr lang="en-US" b="0" i="1" smtClean="0">
                            <a:latin typeface="Cambria Math" panose="02040503050406030204" pitchFamily="18" charset="0"/>
                          </a:rPr>
                          <m:t>′</m:t>
                        </m:r>
                      </m:sup>
                    </m:sSup>
                    <m:r>
                      <a:rPr lang="en-US" b="0" i="1" smtClean="0">
                        <a:latin typeface="Cambria Math" panose="02040503050406030204" pitchFamily="18" charset="0"/>
                      </a:rPr>
                      <m:t> </m:t>
                    </m:r>
                  </m:oMath>
                </a14:m>
                <a:r>
                  <a:rPr lang="en-US" dirty="0"/>
                  <a:t>by computing loss. </a:t>
                </a:r>
              </a:p>
              <a:p>
                <a:r>
                  <a:rPr lang="en-US" dirty="0"/>
                  <a:t>For each of the two networks, </a:t>
                </a:r>
                <a14:m>
                  <m:oMath xmlns:m="http://schemas.openxmlformats.org/officeDocument/2006/math">
                    <m:r>
                      <a:rPr lang="en-US" b="0" i="1" smtClean="0">
                        <a:latin typeface="Cambria Math" panose="02040503050406030204" pitchFamily="18" charset="0"/>
                      </a:rPr>
                      <m:t>𝜃</m:t>
                    </m:r>
                  </m:oMath>
                </a14:m>
                <a:r>
                  <a:rPr lang="en-US" dirty="0"/>
                  <a:t>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𝜃</m:t>
                        </m:r>
                      </m:e>
                      <m:sup>
                        <m:r>
                          <a:rPr lang="en-US" b="0" i="1" smtClean="0">
                            <a:latin typeface="Cambria Math" panose="02040503050406030204" pitchFamily="18" charset="0"/>
                          </a:rPr>
                          <m:t>′</m:t>
                        </m:r>
                      </m:sup>
                    </m:sSup>
                    <m:r>
                      <a:rPr lang="en-US" b="0" i="0" smtClean="0">
                        <a:latin typeface="Cambria Math" panose="02040503050406030204" pitchFamily="18" charset="0"/>
                      </a:rPr>
                      <m:t>,</m:t>
                    </m:r>
                  </m:oMath>
                </a14:m>
                <a:r>
                  <a:rPr lang="en-US" dirty="0"/>
                  <a:t> in practice, keep an additional network for stability, as discussed before. This means 4 networks are actually used. </a:t>
                </a:r>
              </a:p>
              <a:p>
                <a:pPr lvl="1"/>
                <a:endParaRPr lang="el-GR" dirty="0"/>
              </a:p>
              <a:p>
                <a:endParaRPr lang="en-US" dirty="0"/>
              </a:p>
            </p:txBody>
          </p:sp>
        </mc:Choice>
        <mc:Fallback>
          <p:sp>
            <p:nvSpPr>
              <p:cNvPr id="3" name="Content Placeholder 2">
                <a:extLst>
                  <a:ext uri="{FF2B5EF4-FFF2-40B4-BE49-F238E27FC236}">
                    <a16:creationId xmlns:a16="http://schemas.microsoft.com/office/drawing/2014/main" id="{4742F076-982D-3357-BA82-F24FF1318CBC}"/>
                  </a:ext>
                </a:extLst>
              </p:cNvPr>
              <p:cNvSpPr>
                <a:spLocks noGrp="1" noRot="1" noChangeAspect="1" noMove="1" noResize="1" noEditPoints="1" noAdjustHandles="1" noChangeArrowheads="1" noChangeShapeType="1" noTextEdit="1"/>
              </p:cNvSpPr>
              <p:nvPr>
                <p:ph idx="1"/>
              </p:nvPr>
            </p:nvSpPr>
            <p:spPr>
              <a:xfrm>
                <a:off x="838200" y="1455235"/>
                <a:ext cx="10331370" cy="4922416"/>
              </a:xfrm>
              <a:blipFill>
                <a:blip r:embed="rId2"/>
                <a:stretch>
                  <a:fillRect l="-860" t="-2828" r="-491"/>
                </a:stretch>
              </a:blipFill>
            </p:spPr>
            <p:txBody>
              <a:bodyPr/>
              <a:lstStyle/>
              <a:p>
                <a:r>
                  <a:rPr lang="en-US">
                    <a:noFill/>
                  </a:rPr>
                  <a:t> </a:t>
                </a:r>
              </a:p>
            </p:txBody>
          </p:sp>
        </mc:Fallback>
      </mc:AlternateContent>
    </p:spTree>
    <p:extLst>
      <p:ext uri="{BB962C8B-B14F-4D97-AF65-F5344CB8AC3E}">
        <p14:creationId xmlns:p14="http://schemas.microsoft.com/office/powerpoint/2010/main" val="492144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4809D-3C82-2298-9773-844826604F71}"/>
              </a:ext>
            </a:extLst>
          </p:cNvPr>
          <p:cNvSpPr>
            <a:spLocks noGrp="1"/>
          </p:cNvSpPr>
          <p:nvPr>
            <p:ph type="title"/>
          </p:nvPr>
        </p:nvSpPr>
        <p:spPr/>
        <p:txBody>
          <a:bodyPr/>
          <a:lstStyle/>
          <a:p>
            <a:r>
              <a:rPr lang="en-US" dirty="0"/>
              <a:t>DDQN Results</a:t>
            </a:r>
          </a:p>
        </p:txBody>
      </p:sp>
      <p:pic>
        <p:nvPicPr>
          <p:cNvPr id="4" name="Picture 3">
            <a:extLst>
              <a:ext uri="{FF2B5EF4-FFF2-40B4-BE49-F238E27FC236}">
                <a16:creationId xmlns:a16="http://schemas.microsoft.com/office/drawing/2014/main" id="{63B35DAA-3A58-E282-AAB7-4C082EBB8E2B}"/>
              </a:ext>
            </a:extLst>
          </p:cNvPr>
          <p:cNvPicPr>
            <a:picLocks noChangeAspect="1"/>
          </p:cNvPicPr>
          <p:nvPr/>
        </p:nvPicPr>
        <p:blipFill>
          <a:blip r:embed="rId2"/>
          <a:stretch>
            <a:fillRect/>
          </a:stretch>
        </p:blipFill>
        <p:spPr>
          <a:xfrm rot="16200000">
            <a:off x="2274910" y="-700030"/>
            <a:ext cx="4714203" cy="8822077"/>
          </a:xfrm>
          <a:prstGeom prst="rect">
            <a:avLst/>
          </a:prstGeom>
        </p:spPr>
      </p:pic>
      <p:sp>
        <p:nvSpPr>
          <p:cNvPr id="6" name="TextBox 5">
            <a:extLst>
              <a:ext uri="{FF2B5EF4-FFF2-40B4-BE49-F238E27FC236}">
                <a16:creationId xmlns:a16="http://schemas.microsoft.com/office/drawing/2014/main" id="{F1741139-DE51-56D4-0FDA-0C922A763B8C}"/>
              </a:ext>
            </a:extLst>
          </p:cNvPr>
          <p:cNvSpPr txBox="1"/>
          <p:nvPr/>
        </p:nvSpPr>
        <p:spPr>
          <a:xfrm>
            <a:off x="9200909" y="1447263"/>
            <a:ext cx="2152891" cy="34163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4: Normalized scores on 57 Atari games, tested for 100 episodes per game with human starts. Compared to </a:t>
            </a:r>
            <a:r>
              <a:rPr lang="en-US" dirty="0" err="1">
                <a:latin typeface="Times New Roman" panose="02020603050405020304" pitchFamily="18" charset="0"/>
                <a:cs typeface="Times New Roman" panose="02020603050405020304" pitchFamily="18" charset="0"/>
              </a:rPr>
              <a:t>Mnih</a:t>
            </a:r>
            <a:r>
              <a:rPr lang="en-US" dirty="0">
                <a:latin typeface="Times New Roman" panose="02020603050405020304" pitchFamily="18" charset="0"/>
                <a:cs typeface="Times New Roman" panose="02020603050405020304" pitchFamily="18" charset="0"/>
              </a:rPr>
              <a:t> et al. (2015), eight additional games were tested. These are indicated with stars and a bold font. </a:t>
            </a:r>
          </a:p>
          <a:p>
            <a:endParaRPr lang="en-US" dirty="0"/>
          </a:p>
        </p:txBody>
      </p:sp>
      <p:sp>
        <p:nvSpPr>
          <p:cNvPr id="8" name="TextBox 7">
            <a:extLst>
              <a:ext uri="{FF2B5EF4-FFF2-40B4-BE49-F238E27FC236}">
                <a16:creationId xmlns:a16="http://schemas.microsoft.com/office/drawing/2014/main" id="{71FD6F51-CF7C-5033-AC50-BD52792D2E57}"/>
              </a:ext>
            </a:extLst>
          </p:cNvPr>
          <p:cNvSpPr txBox="1"/>
          <p:nvPr/>
        </p:nvSpPr>
        <p:spPr>
          <a:xfrm>
            <a:off x="8819909" y="5451676"/>
            <a:ext cx="2430683" cy="923330"/>
          </a:xfrm>
          <a:prstGeom prst="rect">
            <a:avLst/>
          </a:prstGeom>
          <a:noFill/>
        </p:spPr>
        <p:txBody>
          <a:bodyPr wrap="square" rtlCol="0">
            <a:spAutoFit/>
          </a:bodyPr>
          <a:lstStyle/>
          <a:p>
            <a:r>
              <a:rPr lang="en-US" dirty="0"/>
              <a:t>DDQN obtains better scores than DQN for almost every game. </a:t>
            </a:r>
          </a:p>
        </p:txBody>
      </p:sp>
    </p:spTree>
    <p:extLst>
      <p:ext uri="{BB962C8B-B14F-4D97-AF65-F5344CB8AC3E}">
        <p14:creationId xmlns:p14="http://schemas.microsoft.com/office/powerpoint/2010/main" val="1911015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B83674-8C21-906D-2C86-09AC99B7379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DF07D5-B1F9-47BF-5F72-6592F970D4B9}"/>
              </a:ext>
            </a:extLst>
          </p:cNvPr>
          <p:cNvSpPr>
            <a:spLocks noGrp="1"/>
          </p:cNvSpPr>
          <p:nvPr>
            <p:ph type="ctrTitle"/>
          </p:nvPr>
        </p:nvSpPr>
        <p:spPr>
          <a:xfrm>
            <a:off x="775469" y="1409578"/>
            <a:ext cx="10640754" cy="775845"/>
          </a:xfrm>
        </p:spPr>
        <p:txBody>
          <a:bodyPr vert="horz" lIns="91440" tIns="45720" rIns="91440" bIns="45720" rtlCol="0" anchor="b">
            <a:noAutofit/>
          </a:bodyPr>
          <a:lstStyle/>
          <a:p>
            <a:r>
              <a:rPr lang="en-US" kern="1200" dirty="0">
                <a:solidFill>
                  <a:schemeClr val="tx2"/>
                </a:solidFill>
                <a:latin typeface="+mj-lt"/>
                <a:ea typeface="+mj-ea"/>
                <a:cs typeface="+mj-cs"/>
              </a:rPr>
              <a:t>Dueling Deep Q-Learning</a:t>
            </a:r>
          </a:p>
        </p:txBody>
      </p:sp>
      <p:sp>
        <p:nvSpPr>
          <p:cNvPr id="6" name="TextBox 5">
            <a:extLst>
              <a:ext uri="{FF2B5EF4-FFF2-40B4-BE49-F238E27FC236}">
                <a16:creationId xmlns:a16="http://schemas.microsoft.com/office/drawing/2014/main" id="{BBFBC86F-BC37-C4A5-B961-7ABAE4CD6AF6}"/>
              </a:ext>
            </a:extLst>
          </p:cNvPr>
          <p:cNvSpPr txBox="1"/>
          <p:nvPr/>
        </p:nvSpPr>
        <p:spPr>
          <a:xfrm>
            <a:off x="1513968" y="6196810"/>
            <a:ext cx="9163757" cy="450447"/>
          </a:xfrm>
          <a:prstGeom prst="rect">
            <a:avLst/>
          </a:prstGeom>
        </p:spPr>
        <p:txBody>
          <a:bodyPr vert="horz" lIns="91440" tIns="45720" rIns="91440" bIns="45720" rtlCol="0" anchor="ctr">
            <a:normAutofit/>
          </a:bodyPr>
          <a:lstStyle/>
          <a:p>
            <a:pPr algn="ctr">
              <a:lnSpc>
                <a:spcPct val="90000"/>
              </a:lnSpc>
              <a:spcBef>
                <a:spcPts val="1000"/>
              </a:spcBef>
            </a:pPr>
            <a:r>
              <a:rPr lang="en-US" sz="2000" kern="1200" dirty="0">
                <a:solidFill>
                  <a:schemeClr val="tx2"/>
                </a:solidFill>
                <a:latin typeface="+mn-lt"/>
                <a:ea typeface="+mn-ea"/>
                <a:cs typeface="+mn-cs"/>
              </a:rPr>
              <a:t>Published 2016, Cited </a:t>
            </a:r>
            <a:r>
              <a:rPr lang="en-US" sz="2000" dirty="0">
                <a:solidFill>
                  <a:schemeClr val="tx2"/>
                </a:solidFill>
              </a:rPr>
              <a:t>6</a:t>
            </a:r>
            <a:r>
              <a:rPr lang="en-US" sz="2000" kern="1200" dirty="0">
                <a:solidFill>
                  <a:schemeClr val="tx2"/>
                </a:solidFill>
                <a:latin typeface="+mn-lt"/>
                <a:ea typeface="+mn-ea"/>
                <a:cs typeface="+mn-cs"/>
              </a:rPr>
              <a:t>,732 times, 3/19/2026</a:t>
            </a:r>
          </a:p>
        </p:txBody>
      </p:sp>
      <p:grpSp>
        <p:nvGrpSpPr>
          <p:cNvPr id="15" name="Group 14">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6" name="Freeform: Shape 15">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9" name="Freeform: Shape 18">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77ED8775-968B-F82F-B982-7C888F260508}"/>
              </a:ext>
            </a:extLst>
          </p:cNvPr>
          <p:cNvPicPr>
            <a:picLocks noChangeAspect="1"/>
          </p:cNvPicPr>
          <p:nvPr/>
        </p:nvPicPr>
        <p:blipFill>
          <a:blip r:embed="rId2"/>
          <a:stretch>
            <a:fillRect/>
          </a:stretch>
        </p:blipFill>
        <p:spPr>
          <a:xfrm>
            <a:off x="1949821" y="3012462"/>
            <a:ext cx="8727904" cy="2836567"/>
          </a:xfrm>
          <a:prstGeom prst="rect">
            <a:avLst/>
          </a:prstGeom>
        </p:spPr>
      </p:pic>
      <p:grpSp>
        <p:nvGrpSpPr>
          <p:cNvPr id="21" name="Group 20">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2" name="Freeform: Shape 21">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54512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57F1C-3CB8-2C91-162F-EFA9C6CBD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32969-7689-A20D-A5A5-8429C678D618}"/>
              </a:ext>
            </a:extLst>
          </p:cNvPr>
          <p:cNvSpPr>
            <a:spLocks noGrp="1"/>
          </p:cNvSpPr>
          <p:nvPr>
            <p:ph type="title"/>
          </p:nvPr>
        </p:nvSpPr>
        <p:spPr/>
        <p:txBody>
          <a:bodyPr/>
          <a:lstStyle/>
          <a:p>
            <a:r>
              <a:rPr lang="en-US" dirty="0"/>
              <a:t>Summary of Dueling DQN</a:t>
            </a:r>
          </a:p>
        </p:txBody>
      </p:sp>
      <p:sp>
        <p:nvSpPr>
          <p:cNvPr id="3" name="Content Placeholder 2">
            <a:extLst>
              <a:ext uri="{FF2B5EF4-FFF2-40B4-BE49-F238E27FC236}">
                <a16:creationId xmlns:a16="http://schemas.microsoft.com/office/drawing/2014/main" id="{079831FF-483B-E29B-5570-AC8EBF1B9749}"/>
              </a:ext>
            </a:extLst>
          </p:cNvPr>
          <p:cNvSpPr>
            <a:spLocks noGrp="1"/>
          </p:cNvSpPr>
          <p:nvPr>
            <p:ph idx="1"/>
          </p:nvPr>
        </p:nvSpPr>
        <p:spPr/>
        <p:txBody>
          <a:bodyPr>
            <a:normAutofit/>
          </a:bodyPr>
          <a:lstStyle/>
          <a:p>
            <a:r>
              <a:rPr lang="en-US" dirty="0"/>
              <a:t>The dueling network contains two separate estimators: one for the state value function and one for the </a:t>
            </a:r>
            <a:r>
              <a:rPr lang="en-US" b="1" dirty="0"/>
              <a:t>state-dependent action </a:t>
            </a:r>
            <a:r>
              <a:rPr lang="en-US" b="1" i="1" dirty="0"/>
              <a:t>advantage</a:t>
            </a:r>
            <a:r>
              <a:rPr lang="en-US" b="1" dirty="0"/>
              <a:t> function. </a:t>
            </a:r>
          </a:p>
          <a:p>
            <a:r>
              <a:rPr lang="en-US" dirty="0"/>
              <a:t>This factoring generalizes learning across actions without imposing any change to the underlying reinforcement learning algorithm. </a:t>
            </a:r>
          </a:p>
          <a:p>
            <a:r>
              <a:rPr lang="en-US" dirty="0"/>
              <a:t>Results showed that the architecture leads to better policy evaluation in the presence of many similar-valued actions.</a:t>
            </a:r>
          </a:p>
          <a:p>
            <a:r>
              <a:rPr lang="en-US" dirty="0"/>
              <a:t>The dueling architecture enables our RL agent to outperform the state-of-the-art on the Atari 2600 domain. </a:t>
            </a:r>
          </a:p>
          <a:p>
            <a:endParaRPr lang="en-US" dirty="0"/>
          </a:p>
        </p:txBody>
      </p:sp>
    </p:spTree>
    <p:extLst>
      <p:ext uri="{BB962C8B-B14F-4D97-AF65-F5344CB8AC3E}">
        <p14:creationId xmlns:p14="http://schemas.microsoft.com/office/powerpoint/2010/main" val="1166803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C49A4-81B4-9CEE-A8E1-A52C188B0EC2}"/>
              </a:ext>
            </a:extLst>
          </p:cNvPr>
          <p:cNvSpPr>
            <a:spLocks noGrp="1"/>
          </p:cNvSpPr>
          <p:nvPr>
            <p:ph type="title"/>
          </p:nvPr>
        </p:nvSpPr>
        <p:spPr/>
        <p:txBody>
          <a:bodyPr/>
          <a:lstStyle/>
          <a:p>
            <a:r>
              <a:rPr lang="en-US" dirty="0"/>
              <a:t>DQN vs. Dueling DQN</a:t>
            </a:r>
          </a:p>
        </p:txBody>
      </p:sp>
      <p:pic>
        <p:nvPicPr>
          <p:cNvPr id="4" name="Picture 3">
            <a:extLst>
              <a:ext uri="{FF2B5EF4-FFF2-40B4-BE49-F238E27FC236}">
                <a16:creationId xmlns:a16="http://schemas.microsoft.com/office/drawing/2014/main" id="{F86BE14F-23BA-0ED9-271D-6EE9F2A80817}"/>
              </a:ext>
            </a:extLst>
          </p:cNvPr>
          <p:cNvPicPr>
            <a:picLocks noChangeAspect="1"/>
          </p:cNvPicPr>
          <p:nvPr/>
        </p:nvPicPr>
        <p:blipFill>
          <a:blip r:embed="rId2"/>
          <a:stretch>
            <a:fillRect/>
          </a:stretch>
        </p:blipFill>
        <p:spPr>
          <a:xfrm>
            <a:off x="267955" y="1690688"/>
            <a:ext cx="5451041" cy="5167312"/>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EC116F4-5450-B7DC-F30C-83B9B6B7D4E6}"/>
                  </a:ext>
                </a:extLst>
              </p:cNvPr>
              <p:cNvSpPr txBox="1"/>
              <p:nvPr/>
            </p:nvSpPr>
            <p:spPr>
              <a:xfrm>
                <a:off x="6289241" y="1327697"/>
                <a:ext cx="5308592" cy="4524315"/>
              </a:xfrm>
              <a:prstGeom prst="rect">
                <a:avLst/>
              </a:prstGeom>
              <a:noFill/>
            </p:spPr>
            <p:txBody>
              <a:bodyPr wrap="square" rtlCol="0">
                <a:spAutoFit/>
              </a:bodyPr>
              <a:lstStyle/>
              <a:p>
                <a:r>
                  <a:rPr lang="en-US" dirty="0"/>
                  <a:t>Dueling DQN has a CNN that takes the same input as DQN, but once features have been extracted, it passes the output to two neural networks, each predicting a value, and then combing the two values.</a:t>
                </a:r>
              </a:p>
              <a:p>
                <a:endParaRPr lang="en-US" dirty="0"/>
              </a:p>
              <a:p>
                <a:r>
                  <a:rPr lang="en-US" dirty="0"/>
                  <a:t>The innovation lies in predicting what is called </a:t>
                </a:r>
                <a:r>
                  <a:rPr lang="en-US" i="1" dirty="0"/>
                  <a:t>Advantage</a:t>
                </a:r>
                <a:r>
                  <a:rPr lang="en-US" dirty="0"/>
                  <a:t> in one of the networks at the very end. </a:t>
                </a:r>
              </a:p>
              <a:p>
                <a:endParaRPr lang="en-US" dirty="0"/>
              </a:p>
              <a:p>
                <a:r>
                  <a:rPr lang="en-US" dirty="0"/>
                  <a:t>The overall network should be thought of as having two streams instead of one stream in DQN. </a:t>
                </a:r>
              </a:p>
              <a:p>
                <a:endParaRPr lang="en-US" dirty="0"/>
              </a:p>
              <a:p>
                <a:r>
                  <a:rPr lang="en-US" dirty="0"/>
                  <a:t>One stream of Dueling DQN estimates/predicts State Values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t> and the other Advantage </a:t>
                </a:r>
                <a14:m>
                  <m:oMath xmlns:m="http://schemas.openxmlformats.org/officeDocument/2006/math">
                    <m:r>
                      <a:rPr lang="en-US" b="0" i="1" smtClean="0">
                        <a:latin typeface="Cambria Math" panose="02040503050406030204" pitchFamily="18" charset="0"/>
                      </a:rPr>
                      <m:t>𝐴</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t> at first before the aggregation (summation) layer combines them to produce </a:t>
                </a:r>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 </m:t>
                    </m:r>
                  </m:oMath>
                </a14:m>
                <a:endParaRPr lang="en-US" dirty="0"/>
              </a:p>
            </p:txBody>
          </p:sp>
        </mc:Choice>
        <mc:Fallback>
          <p:sp>
            <p:nvSpPr>
              <p:cNvPr id="5" name="TextBox 4">
                <a:extLst>
                  <a:ext uri="{FF2B5EF4-FFF2-40B4-BE49-F238E27FC236}">
                    <a16:creationId xmlns:a16="http://schemas.microsoft.com/office/drawing/2014/main" id="{FEC116F4-5450-B7DC-F30C-83B9B6B7D4E6}"/>
                  </a:ext>
                </a:extLst>
              </p:cNvPr>
              <p:cNvSpPr txBox="1">
                <a:spLocks noRot="1" noChangeAspect="1" noMove="1" noResize="1" noEditPoints="1" noAdjustHandles="1" noChangeArrowheads="1" noChangeShapeType="1" noTextEdit="1"/>
              </p:cNvSpPr>
              <p:nvPr/>
            </p:nvSpPr>
            <p:spPr>
              <a:xfrm>
                <a:off x="6289241" y="1327697"/>
                <a:ext cx="5308592" cy="4524315"/>
              </a:xfrm>
              <a:prstGeom prst="rect">
                <a:avLst/>
              </a:prstGeom>
              <a:blipFill>
                <a:blip r:embed="rId3"/>
                <a:stretch>
                  <a:fillRect l="-955" t="-560" b="-1401"/>
                </a:stretch>
              </a:blipFill>
            </p:spPr>
            <p:txBody>
              <a:bodyPr/>
              <a:lstStyle/>
              <a:p>
                <a:r>
                  <a:rPr lang="en-US">
                    <a:noFill/>
                  </a:rPr>
                  <a:t> </a:t>
                </a:r>
              </a:p>
            </p:txBody>
          </p:sp>
        </mc:Fallback>
      </mc:AlternateContent>
    </p:spTree>
    <p:extLst>
      <p:ext uri="{BB962C8B-B14F-4D97-AF65-F5344CB8AC3E}">
        <p14:creationId xmlns:p14="http://schemas.microsoft.com/office/powerpoint/2010/main" val="7254806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AAB35-B237-3DA9-B9FA-599A7D5A885D}"/>
              </a:ext>
            </a:extLst>
          </p:cNvPr>
          <p:cNvSpPr>
            <a:spLocks noGrp="1"/>
          </p:cNvSpPr>
          <p:nvPr>
            <p:ph type="title"/>
          </p:nvPr>
        </p:nvSpPr>
        <p:spPr/>
        <p:txBody>
          <a:bodyPr/>
          <a:lstStyle/>
          <a:p>
            <a:r>
              <a:rPr lang="en-US" dirty="0"/>
              <a:t>Dueling DQN produces better game players</a:t>
            </a:r>
          </a:p>
        </p:txBody>
      </p:sp>
      <p:pic>
        <p:nvPicPr>
          <p:cNvPr id="6" name="Picture 5">
            <a:extLst>
              <a:ext uri="{FF2B5EF4-FFF2-40B4-BE49-F238E27FC236}">
                <a16:creationId xmlns:a16="http://schemas.microsoft.com/office/drawing/2014/main" id="{F08AF7EB-530C-286C-45EF-AA0F481515BE}"/>
              </a:ext>
            </a:extLst>
          </p:cNvPr>
          <p:cNvPicPr>
            <a:picLocks noChangeAspect="1"/>
          </p:cNvPicPr>
          <p:nvPr/>
        </p:nvPicPr>
        <p:blipFill>
          <a:blip r:embed="rId2"/>
          <a:stretch>
            <a:fillRect/>
          </a:stretch>
        </p:blipFill>
        <p:spPr>
          <a:xfrm rot="16200000">
            <a:off x="525683" y="1376424"/>
            <a:ext cx="5365830" cy="5365830"/>
          </a:xfrm>
          <a:prstGeom prst="rect">
            <a:avLst/>
          </a:prstGeom>
        </p:spPr>
      </p:pic>
      <p:sp>
        <p:nvSpPr>
          <p:cNvPr id="11" name="TextBox 10">
            <a:extLst>
              <a:ext uri="{FF2B5EF4-FFF2-40B4-BE49-F238E27FC236}">
                <a16:creationId xmlns:a16="http://schemas.microsoft.com/office/drawing/2014/main" id="{732AA3D6-171A-9A5D-C787-B15E85CD6966}"/>
              </a:ext>
            </a:extLst>
          </p:cNvPr>
          <p:cNvSpPr txBox="1"/>
          <p:nvPr/>
        </p:nvSpPr>
        <p:spPr>
          <a:xfrm>
            <a:off x="6805914" y="2754775"/>
            <a:ext cx="4745620" cy="203132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4. Improvements of dueling architecture over the baseline Single network of van Hasselt et al. (2015), using the metric de- scribed in Equation (10). Bars to the right indicate by how much the dueling network outperforms the single-stream network</a:t>
            </a:r>
            <a:r>
              <a:rPr lang="en-US" dirty="0"/>
              <a:t>. </a:t>
            </a:r>
          </a:p>
          <a:p>
            <a:endParaRPr lang="en-US" dirty="0"/>
          </a:p>
        </p:txBody>
      </p:sp>
    </p:spTree>
    <p:extLst>
      <p:ext uri="{BB962C8B-B14F-4D97-AF65-F5344CB8AC3E}">
        <p14:creationId xmlns:p14="http://schemas.microsoft.com/office/powerpoint/2010/main" val="35978609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0226A888-8A53-C785-3E8C-91F5B5E7BF5B}"/>
                  </a:ext>
                </a:extLst>
              </p:cNvPr>
              <p:cNvSpPr>
                <a:spLocks noGrp="1"/>
              </p:cNvSpPr>
              <p:nvPr>
                <p:ph type="title"/>
              </p:nvPr>
            </p:nvSpPr>
            <p:spPr/>
            <p:txBody>
              <a:bodyPr/>
              <a:lstStyle/>
              <a:p>
                <a:r>
                  <a:rPr lang="en-US" dirty="0"/>
                  <a:t>Advantage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of an Action over the State</a:t>
                </a:r>
              </a:p>
            </p:txBody>
          </p:sp>
        </mc:Choice>
        <mc:Fallback>
          <p:sp>
            <p:nvSpPr>
              <p:cNvPr id="2" name="Title 1">
                <a:extLst>
                  <a:ext uri="{FF2B5EF4-FFF2-40B4-BE49-F238E27FC236}">
                    <a16:creationId xmlns:a16="http://schemas.microsoft.com/office/drawing/2014/main" id="{0226A888-8A53-C785-3E8C-91F5B5E7BF5B}"/>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7DBFE92-B06B-E0EF-44AA-EE84291D6303}"/>
                  </a:ext>
                </a:extLst>
              </p:cNvPr>
              <p:cNvSpPr>
                <a:spLocks noGrp="1"/>
              </p:cNvSpPr>
              <p:nvPr>
                <p:ph idx="1"/>
              </p:nvPr>
            </p:nvSpPr>
            <p:spPr/>
            <p:txBody>
              <a:bodyPr>
                <a:normAutofit/>
              </a:bodyPr>
              <a:lstStyle/>
              <a:p>
                <a:r>
                  <a:rPr lang="en-US" dirty="0"/>
                  <a:t>The </a:t>
                </a:r>
                <a:r>
                  <a:rPr lang="en-US" i="1" dirty="0"/>
                  <a:t>advantage function </a:t>
                </a:r>
                <a:r>
                  <a:rPr lang="en-US" dirty="0"/>
                  <a:t>quantifies how much better a specific action is compared to the average action in a given state. </a:t>
                </a:r>
              </a:p>
              <a:p>
                <a:r>
                  <a:rPr lang="en-US" dirty="0"/>
                  <a:t>It is defined as the difference between the action-value function </a:t>
                </a:r>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 </m:t>
                    </m:r>
                  </m:oMath>
                </a14:m>
                <a:r>
                  <a:rPr lang="en-US" dirty="0"/>
                  <a:t>(the expected return from taking action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 </m:t>
                    </m:r>
                  </m:oMath>
                </a14:m>
                <a:r>
                  <a:rPr lang="en-US" dirty="0"/>
                  <a:t>in state </a:t>
                </a:r>
                <a14:m>
                  <m:oMath xmlns:m="http://schemas.openxmlformats.org/officeDocument/2006/math">
                    <m:r>
                      <a:rPr lang="en-US" b="0" i="1" smtClean="0">
                        <a:latin typeface="Cambria Math" panose="02040503050406030204" pitchFamily="18" charset="0"/>
                      </a:rPr>
                      <m:t>𝑠</m:t>
                    </m:r>
                    <m:r>
                      <a:rPr lang="en-US" b="0" i="0" smtClean="0">
                        <a:latin typeface="Cambria Math" panose="02040503050406030204" pitchFamily="18" charset="0"/>
                      </a:rPr>
                      <m:t>, </m:t>
                    </m:r>
                  </m:oMath>
                </a14:m>
                <a:r>
                  <a:rPr lang="en-US" dirty="0"/>
                  <a:t>and the state-value function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oMath>
                </a14:m>
                <a:r>
                  <a:rPr lang="en-US" dirty="0"/>
                  <a:t> the average expected return from state </a:t>
                </a:r>
                <a14:m>
                  <m:oMath xmlns:m="http://schemas.openxmlformats.org/officeDocument/2006/math">
                    <m:r>
                      <a:rPr lang="en-US" b="0" i="1" smtClean="0">
                        <a:latin typeface="Cambria Math" panose="02040503050406030204" pitchFamily="18" charset="0"/>
                      </a:rPr>
                      <m:t>𝑠</m:t>
                    </m:r>
                    <m:r>
                      <a:rPr lang="en-US" b="0" i="0" smtClean="0">
                        <a:latin typeface="Cambria Math" panose="02040503050406030204" pitchFamily="18" charset="0"/>
                      </a:rPr>
                      <m:t>:</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m:oMathPara>
                </a14:m>
                <a:endParaRPr lang="en-US" dirty="0"/>
              </a:p>
            </p:txBody>
          </p:sp>
        </mc:Choice>
        <mc:Fallback>
          <p:sp>
            <p:nvSpPr>
              <p:cNvPr id="3" name="Content Placeholder 2">
                <a:extLst>
                  <a:ext uri="{FF2B5EF4-FFF2-40B4-BE49-F238E27FC236}">
                    <a16:creationId xmlns:a16="http://schemas.microsoft.com/office/drawing/2014/main" id="{57DBFE92-B06B-E0EF-44AA-EE84291D6303}"/>
                  </a:ext>
                </a:extLst>
              </p:cNvPr>
              <p:cNvSpPr>
                <a:spLocks noGrp="1" noRot="1" noChangeAspect="1" noMove="1" noResize="1" noEditPoints="1" noAdjustHandles="1" noChangeArrowheads="1" noChangeShapeType="1" noTextEdit="1"/>
              </p:cNvSpPr>
              <p:nvPr>
                <p:ph idx="1"/>
              </p:nvPr>
            </p:nvSpPr>
            <p:spPr>
              <a:blipFill>
                <a:blip r:embed="rId3"/>
                <a:stretch>
                  <a:fillRect l="-1086" t="-2326" r="-1689"/>
                </a:stretch>
              </a:blipFill>
            </p:spPr>
            <p:txBody>
              <a:bodyPr/>
              <a:lstStyle/>
              <a:p>
                <a:r>
                  <a:rPr lang="en-US">
                    <a:noFill/>
                  </a:rPr>
                  <a:t> </a:t>
                </a:r>
              </a:p>
            </p:txBody>
          </p:sp>
        </mc:Fallback>
      </mc:AlternateContent>
    </p:spTree>
    <p:extLst>
      <p:ext uri="{BB962C8B-B14F-4D97-AF65-F5344CB8AC3E}">
        <p14:creationId xmlns:p14="http://schemas.microsoft.com/office/powerpoint/2010/main" val="380020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2914</TotalTime>
  <Words>2333</Words>
  <Application>Microsoft Macintosh PowerPoint</Application>
  <PresentationFormat>Widescreen</PresentationFormat>
  <Paragraphs>133</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Cambria Math</vt:lpstr>
      <vt:lpstr>Times New Roman</vt:lpstr>
      <vt:lpstr>Office Theme</vt:lpstr>
      <vt:lpstr>Deep Q-Learning and Atari Games  </vt:lpstr>
      <vt:lpstr>Deep Q-Learning</vt:lpstr>
      <vt:lpstr>Atari Pong </vt:lpstr>
      <vt:lpstr>Atari Breakout </vt:lpstr>
      <vt:lpstr>Atari Space Invaders </vt:lpstr>
      <vt:lpstr>Atari Seaquest</vt:lpstr>
      <vt:lpstr>Atari Beam Rider</vt:lpstr>
      <vt:lpstr>Tabular Q-Learning</vt:lpstr>
      <vt:lpstr>Deep Q-learning</vt:lpstr>
      <vt:lpstr>Tabular Q-learning Vs. DQN</vt:lpstr>
      <vt:lpstr>DQN Architecture</vt:lpstr>
      <vt:lpstr>Challenges that DQN  addressed and “solved” </vt:lpstr>
      <vt:lpstr>Challenges that DQN  addressed and “solved” </vt:lpstr>
      <vt:lpstr>Challenges that DQN  addressed and “solved” </vt:lpstr>
      <vt:lpstr>Replay Memory</vt:lpstr>
      <vt:lpstr>Replay Memory</vt:lpstr>
      <vt:lpstr>Use of Target Network: Another solution to Instability of Learning</vt:lpstr>
      <vt:lpstr>Results of DQN Experiments</vt:lpstr>
      <vt:lpstr>Double Deep Q-Learning</vt:lpstr>
      <vt:lpstr>Summary of DDQN</vt:lpstr>
      <vt:lpstr>Overestimation by DQN</vt:lpstr>
      <vt:lpstr>DDQN</vt:lpstr>
      <vt:lpstr>DDQN Results</vt:lpstr>
      <vt:lpstr>Dueling Deep Q-Learning</vt:lpstr>
      <vt:lpstr>Summary of Dueling DQN</vt:lpstr>
      <vt:lpstr>DQN vs. Dueling DQN</vt:lpstr>
      <vt:lpstr>Dueling DQN produces better game players</vt:lpstr>
      <vt:lpstr>Advantage A(s,a) of an Action over the State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Jugal Kalita</dc:creator>
  <cp:lastModifiedBy>Jugal Kalita</cp:lastModifiedBy>
  <cp:revision>46</cp:revision>
  <dcterms:created xsi:type="dcterms:W3CDTF">2026-03-17T21:59:42Z</dcterms:created>
  <dcterms:modified xsi:type="dcterms:W3CDTF">2026-03-19T22:34:21Z</dcterms:modified>
</cp:coreProperties>
</file>